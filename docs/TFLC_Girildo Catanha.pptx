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9" r:id="rId7"/>
    <p:sldId id="261" r:id="rId8"/>
    <p:sldId id="280" r:id="rId9"/>
    <p:sldId id="264" r:id="rId10"/>
    <p:sldId id="265" r:id="rId11"/>
    <p:sldId id="266" r:id="rId12"/>
    <p:sldId id="267" r:id="rId13"/>
    <p:sldId id="270" r:id="rId14"/>
    <p:sldId id="271" r:id="rId15"/>
    <p:sldId id="272" r:id="rId16"/>
    <p:sldId id="273" r:id="rId17"/>
    <p:sldId id="278" r:id="rId18"/>
    <p:sldId id="275" r:id="rId19"/>
    <p:sldId id="276" r:id="rId20"/>
    <p:sldId id="277" r:id="rId21"/>
  </p:sldIdLst>
  <p:sldSz cx="18288000" cy="10287000"/>
  <p:notesSz cx="6858000" cy="9144000"/>
  <p:embeddedFontLst>
    <p:embeddedFont>
      <p:font typeface="Archivo Black" panose="020B0604020202020204" charset="0"/>
      <p:regular r:id="rId22"/>
    </p:embeddedFont>
    <p:embeddedFont>
      <p:font typeface="Arial Bold" panose="020B0604020202020204" charset="0"/>
      <p:regular r:id="rId23"/>
    </p:embeddedFont>
    <p:embeddedFont>
      <p:font typeface="Bookman Old Style" panose="02050604050505020204" pitchFamily="18" charset="0"/>
      <p:regular r:id="rId24"/>
      <p:bold r:id="rId25"/>
      <p:italic r:id="rId26"/>
      <p:boldItalic r:id="rId27"/>
    </p:embeddedFont>
    <p:embeddedFont>
      <p:font typeface="Cambria Math" panose="02040503050406030204" pitchFamily="18" charset="0"/>
      <p:regular r:id="rId28"/>
    </p:embeddedFont>
    <p:embeddedFont>
      <p:font typeface="Open Sans" panose="020B0606030504020204" pitchFamily="3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55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6.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7.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svg"/><Relationship Id="rId7" Type="http://schemas.openxmlformats.org/officeDocument/2006/relationships/image" Target="../media/image18.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0.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7.sv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23.gif"/></Relationships>
</file>

<file path=ppt/slides/_rels/slide15.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3.png"/><Relationship Id="rId18" Type="http://schemas.openxmlformats.org/officeDocument/2006/relationships/image" Target="../media/image26.jpg"/><Relationship Id="rId3" Type="http://schemas.openxmlformats.org/officeDocument/2006/relationships/image" Target="../media/image7.svg"/><Relationship Id="rId7" Type="http://schemas.openxmlformats.org/officeDocument/2006/relationships/image" Target="../media/image24.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image" Target="../media/image6.png"/><Relationship Id="rId16"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10.jpeg"/><Relationship Id="rId11" Type="http://schemas.openxmlformats.org/officeDocument/2006/relationships/image" Target="../media/image31.png"/><Relationship Id="rId5" Type="http://schemas.openxmlformats.org/officeDocument/2006/relationships/image" Target="../media/image9.svg"/><Relationship Id="rId15" Type="http://schemas.openxmlformats.org/officeDocument/2006/relationships/image" Target="../media/image26.png"/><Relationship Id="rId10" Type="http://schemas.openxmlformats.org/officeDocument/2006/relationships/image" Target="../media/image30.png"/><Relationship Id="rId4" Type="http://schemas.openxmlformats.org/officeDocument/2006/relationships/image" Target="../media/image8.png"/><Relationship Id="rId9" Type="http://schemas.openxmlformats.org/officeDocument/2006/relationships/image" Target="../media/image29.png"/><Relationship Id="rId1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28.jpeg"/><Relationship Id="rId13" Type="http://schemas.openxmlformats.org/officeDocument/2006/relationships/image" Target="../media/image33.jpeg"/><Relationship Id="rId3" Type="http://schemas.openxmlformats.org/officeDocument/2006/relationships/image" Target="../media/image7.svg"/><Relationship Id="rId7" Type="http://schemas.openxmlformats.org/officeDocument/2006/relationships/image" Target="../media/image27.jpeg"/><Relationship Id="rId12" Type="http://schemas.openxmlformats.org/officeDocument/2006/relationships/image" Target="../media/image32.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11" Type="http://schemas.openxmlformats.org/officeDocument/2006/relationships/image" Target="../media/image31.jpeg"/><Relationship Id="rId5" Type="http://schemas.openxmlformats.org/officeDocument/2006/relationships/image" Target="../media/image9.svg"/><Relationship Id="rId10" Type="http://schemas.openxmlformats.org/officeDocument/2006/relationships/image" Target="../media/image30.jpeg"/><Relationship Id="rId4" Type="http://schemas.openxmlformats.org/officeDocument/2006/relationships/image" Target="../media/image8.png"/><Relationship Id="rId9"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63503"/>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4422715" y="236915"/>
            <a:ext cx="9077325" cy="1819275"/>
          </a:xfrm>
          <a:custGeom>
            <a:avLst/>
            <a:gdLst/>
            <a:ahLst/>
            <a:cxnLst/>
            <a:rect l="l" t="t" r="r" b="b"/>
            <a:pathLst>
              <a:path w="9077325" h="1819275">
                <a:moveTo>
                  <a:pt x="0" y="0"/>
                </a:moveTo>
                <a:lnTo>
                  <a:pt x="9077325" y="0"/>
                </a:lnTo>
                <a:lnTo>
                  <a:pt x="9077325" y="1819275"/>
                </a:lnTo>
                <a:lnTo>
                  <a:pt x="0" y="1819275"/>
                </a:lnTo>
                <a:lnTo>
                  <a:pt x="0" y="0"/>
                </a:lnTo>
                <a:close/>
              </a:path>
            </a:pathLst>
          </a:custGeom>
          <a:blipFill>
            <a:blip r:embed="rId4"/>
            <a:stretch>
              <a:fillRect/>
            </a:stretch>
          </a:blipFill>
        </p:spPr>
      </p:sp>
      <p:grpSp>
        <p:nvGrpSpPr>
          <p:cNvPr id="4" name="Group 4"/>
          <p:cNvGrpSpPr>
            <a:grpSpLocks noChangeAspect="1"/>
          </p:cNvGrpSpPr>
          <p:nvPr/>
        </p:nvGrpSpPr>
        <p:grpSpPr>
          <a:xfrm>
            <a:off x="-63503" y="-63503"/>
            <a:ext cx="18414997" cy="10413997"/>
            <a:chOff x="0" y="0"/>
            <a:chExt cx="18415000" cy="10414000"/>
          </a:xfrm>
        </p:grpSpPr>
        <p:sp>
          <p:nvSpPr>
            <p:cNvPr id="5" name="Freeform 5"/>
            <p:cNvSpPr/>
            <p:nvPr/>
          </p:nvSpPr>
          <p:spPr>
            <a:xfrm>
              <a:off x="63500" y="63500"/>
              <a:ext cx="18288000" cy="10287000"/>
            </a:xfrm>
            <a:custGeom>
              <a:avLst/>
              <a:gdLst/>
              <a:ahLst/>
              <a:cxnLst/>
              <a:rect l="l" t="t" r="r" b="b"/>
              <a:pathLst>
                <a:path w="18288000" h="10287000">
                  <a:moveTo>
                    <a:pt x="0" y="0"/>
                  </a:moveTo>
                  <a:lnTo>
                    <a:pt x="0" y="10287000"/>
                  </a:lnTo>
                  <a:lnTo>
                    <a:pt x="18288000" y="10287000"/>
                  </a:lnTo>
                  <a:lnTo>
                    <a:pt x="18288000" y="0"/>
                  </a:lnTo>
                  <a:close/>
                </a:path>
              </a:pathLst>
            </a:custGeom>
            <a:solidFill>
              <a:srgbClr val="000000">
                <a:alpha val="0"/>
              </a:srgbClr>
            </a:solidFill>
          </p:spPr>
        </p:sp>
        <p:sp>
          <p:nvSpPr>
            <p:cNvPr id="6" name="Freeform 6"/>
            <p:cNvSpPr/>
            <p:nvPr/>
          </p:nvSpPr>
          <p:spPr>
            <a:xfrm>
              <a:off x="63500" y="63500"/>
              <a:ext cx="728472" cy="1752727"/>
            </a:xfrm>
            <a:custGeom>
              <a:avLst/>
              <a:gdLst/>
              <a:ahLst/>
              <a:cxnLst/>
              <a:rect l="l" t="t" r="r" b="b"/>
              <a:pathLst>
                <a:path w="728472" h="1752727">
                  <a:moveTo>
                    <a:pt x="0" y="0"/>
                  </a:moveTo>
                  <a:lnTo>
                    <a:pt x="0" y="1752727"/>
                  </a:lnTo>
                  <a:lnTo>
                    <a:pt x="728472" y="1752727"/>
                  </a:lnTo>
                  <a:lnTo>
                    <a:pt x="728472" y="0"/>
                  </a:lnTo>
                  <a:close/>
                </a:path>
              </a:pathLst>
            </a:custGeom>
            <a:solidFill>
              <a:srgbClr val="000000">
                <a:alpha val="0"/>
              </a:srgbClr>
            </a:solidFill>
          </p:spPr>
        </p:sp>
        <p:sp>
          <p:nvSpPr>
            <p:cNvPr id="7" name="Freeform 7"/>
            <p:cNvSpPr/>
            <p:nvPr/>
          </p:nvSpPr>
          <p:spPr>
            <a:xfrm>
              <a:off x="7131939" y="7768717"/>
              <a:ext cx="1891030" cy="667003"/>
            </a:xfrm>
            <a:custGeom>
              <a:avLst/>
              <a:gdLst/>
              <a:ahLst/>
              <a:cxnLst/>
              <a:rect l="l" t="t" r="r" b="b"/>
              <a:pathLst>
                <a:path w="1891030" h="667003">
                  <a:moveTo>
                    <a:pt x="0" y="667004"/>
                  </a:moveTo>
                  <a:lnTo>
                    <a:pt x="1891030" y="667004"/>
                  </a:lnTo>
                  <a:lnTo>
                    <a:pt x="1891030" y="0"/>
                  </a:lnTo>
                  <a:lnTo>
                    <a:pt x="0" y="0"/>
                  </a:lnTo>
                  <a:close/>
                </a:path>
              </a:pathLst>
            </a:custGeom>
            <a:solidFill>
              <a:srgbClr val="000000">
                <a:alpha val="0"/>
              </a:srgbClr>
            </a:solidFill>
          </p:spPr>
        </p:sp>
        <p:sp>
          <p:nvSpPr>
            <p:cNvPr id="8" name="Freeform 8"/>
            <p:cNvSpPr/>
            <p:nvPr/>
          </p:nvSpPr>
          <p:spPr>
            <a:xfrm>
              <a:off x="15393415" y="9578975"/>
              <a:ext cx="2958085" cy="771525"/>
            </a:xfrm>
            <a:custGeom>
              <a:avLst/>
              <a:gdLst/>
              <a:ahLst/>
              <a:cxnLst/>
              <a:rect l="l" t="t" r="r" b="b"/>
              <a:pathLst>
                <a:path w="2958085" h="771525">
                  <a:moveTo>
                    <a:pt x="0" y="0"/>
                  </a:moveTo>
                  <a:lnTo>
                    <a:pt x="0" y="771525"/>
                  </a:lnTo>
                  <a:lnTo>
                    <a:pt x="2958085" y="771525"/>
                  </a:lnTo>
                  <a:lnTo>
                    <a:pt x="2958085" y="0"/>
                  </a:lnTo>
                  <a:close/>
                </a:path>
              </a:pathLst>
            </a:custGeom>
            <a:solidFill>
              <a:srgbClr val="000000">
                <a:alpha val="0"/>
              </a:srgbClr>
            </a:solidFill>
          </p:spPr>
        </p:sp>
      </p:grpSp>
      <p:sp>
        <p:nvSpPr>
          <p:cNvPr id="9" name="TextBox 9"/>
          <p:cNvSpPr txBox="1"/>
          <p:nvPr/>
        </p:nvSpPr>
        <p:spPr>
          <a:xfrm>
            <a:off x="2208961" y="3336122"/>
            <a:ext cx="12906499" cy="1621662"/>
          </a:xfrm>
          <a:prstGeom prst="rect">
            <a:avLst/>
          </a:prstGeom>
        </p:spPr>
        <p:txBody>
          <a:bodyPr wrap="square" lIns="0" tIns="0" rIns="0" bIns="0" rtlCol="0" anchor="t">
            <a:spAutoFit/>
          </a:bodyPr>
          <a:lstStyle/>
          <a:p>
            <a:pPr algn="ctr">
              <a:lnSpc>
                <a:spcPts val="4199"/>
              </a:lnSpc>
            </a:pPr>
            <a:r>
              <a:rPr lang="en-US" sz="3999" b="1" dirty="0">
                <a:solidFill>
                  <a:srgbClr val="000000"/>
                </a:solidFill>
                <a:latin typeface="Arial" panose="020B0604020202020204" pitchFamily="34" charset="0"/>
                <a:ea typeface="Arial Bold"/>
                <a:cs typeface="Arial" panose="020B0604020202020204" pitchFamily="34" charset="0"/>
                <a:sym typeface="Arial Bold"/>
              </a:rPr>
              <a:t>PROPOSTA DE MONITORAMENTO AMBIENTAL DO PARQUE DA QUIÇAMA POR MEIO DE UMA REDE DE SENSORES SEM FIO</a:t>
            </a:r>
          </a:p>
        </p:txBody>
      </p:sp>
      <p:sp>
        <p:nvSpPr>
          <p:cNvPr id="10" name="TextBox 10"/>
          <p:cNvSpPr txBox="1"/>
          <p:nvPr/>
        </p:nvSpPr>
        <p:spPr>
          <a:xfrm>
            <a:off x="7064891" y="9527031"/>
            <a:ext cx="2524649" cy="456792"/>
          </a:xfrm>
          <a:prstGeom prst="rect">
            <a:avLst/>
          </a:prstGeom>
        </p:spPr>
        <p:txBody>
          <a:bodyPr wrap="square" lIns="0" tIns="0" rIns="0" bIns="0" rtlCol="0" anchor="t">
            <a:spAutoFit/>
          </a:bodyPr>
          <a:lstStyle/>
          <a:p>
            <a:pPr algn="l">
              <a:lnSpc>
                <a:spcPts val="3919"/>
              </a:lnSpc>
            </a:pPr>
            <a:r>
              <a:rPr lang="en-US" sz="2799" b="1" spc="114" dirty="0">
                <a:solidFill>
                  <a:srgbClr val="000000"/>
                </a:solidFill>
                <a:latin typeface="Arial"/>
                <a:ea typeface="Arial"/>
                <a:cs typeface="Arial"/>
                <a:sym typeface="Arial"/>
              </a:rPr>
              <a:t>Luanda, 2025</a:t>
            </a:r>
          </a:p>
        </p:txBody>
      </p:sp>
      <p:sp>
        <p:nvSpPr>
          <p:cNvPr id="11" name="TextBox 11"/>
          <p:cNvSpPr txBox="1"/>
          <p:nvPr/>
        </p:nvSpPr>
        <p:spPr>
          <a:xfrm>
            <a:off x="863798" y="5839041"/>
            <a:ext cx="16560394" cy="473463"/>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Arial" panose="020B0604020202020204" pitchFamily="34" charset="0"/>
                <a:ea typeface="Arial Bold"/>
                <a:cs typeface="Arial" panose="020B0604020202020204" pitchFamily="34" charset="0"/>
                <a:sym typeface="Arial Bold"/>
              </a:rPr>
              <a:t>TRABALHO DE FIM DE CURSO DE LICENCIATURA EM ENGENHARIA DE TELECOMUNICAÇÕES</a:t>
            </a:r>
          </a:p>
        </p:txBody>
      </p:sp>
      <p:sp>
        <p:nvSpPr>
          <p:cNvPr id="12" name="TextBox 12"/>
          <p:cNvSpPr txBox="1"/>
          <p:nvPr/>
        </p:nvSpPr>
        <p:spPr>
          <a:xfrm>
            <a:off x="9143995" y="7467320"/>
            <a:ext cx="8445094" cy="1192634"/>
          </a:xfrm>
          <a:prstGeom prst="rect">
            <a:avLst/>
          </a:prstGeom>
        </p:spPr>
        <p:txBody>
          <a:bodyPr lIns="0" tIns="0" rIns="0" bIns="0" rtlCol="0" anchor="t">
            <a:spAutoFit/>
          </a:bodyPr>
          <a:lstStyle/>
          <a:p>
            <a:pPr algn="l">
              <a:lnSpc>
                <a:spcPts val="3074"/>
              </a:lnSpc>
            </a:pPr>
            <a:r>
              <a:rPr lang="en-US" sz="2799" b="1" spc="114" dirty="0">
                <a:solidFill>
                  <a:srgbClr val="000000"/>
                </a:solidFill>
                <a:latin typeface="Arial" panose="020B0604020202020204" pitchFamily="34" charset="0"/>
                <a:ea typeface="Arial Bold"/>
                <a:cs typeface="Arial" panose="020B0604020202020204" pitchFamily="34" charset="0"/>
                <a:sym typeface="Arial Bold"/>
              </a:rPr>
              <a:t>Autor:</a:t>
            </a:r>
            <a:r>
              <a:rPr lang="en-US" sz="2799" spc="114" dirty="0">
                <a:solidFill>
                  <a:srgbClr val="000000"/>
                </a:solidFill>
                <a:latin typeface="Arial" panose="020B0604020202020204" pitchFamily="34" charset="0"/>
                <a:ea typeface="Arial"/>
                <a:cs typeface="Arial" panose="020B0604020202020204" pitchFamily="34" charset="0"/>
                <a:sym typeface="Arial"/>
              </a:rPr>
              <a:t> Girildo Kolbe </a:t>
            </a:r>
            <a:r>
              <a:rPr lang="en-US" sz="2799" spc="114" dirty="0" err="1">
                <a:solidFill>
                  <a:srgbClr val="000000"/>
                </a:solidFill>
                <a:latin typeface="Arial" panose="020B0604020202020204" pitchFamily="34" charset="0"/>
                <a:ea typeface="Arial"/>
                <a:cs typeface="Arial" panose="020B0604020202020204" pitchFamily="34" charset="0"/>
                <a:sym typeface="Arial"/>
              </a:rPr>
              <a:t>Kiponde</a:t>
            </a:r>
            <a:r>
              <a:rPr lang="en-US" sz="2799" spc="114" dirty="0">
                <a:solidFill>
                  <a:srgbClr val="000000"/>
                </a:solidFill>
                <a:latin typeface="Arial" panose="020B0604020202020204" pitchFamily="34" charset="0"/>
                <a:ea typeface="Arial"/>
                <a:cs typeface="Arial" panose="020B0604020202020204" pitchFamily="34" charset="0"/>
                <a:sym typeface="Arial"/>
              </a:rPr>
              <a:t> Catanha </a:t>
            </a:r>
            <a:r>
              <a:rPr lang="en-US" sz="2799" b="1" spc="114" dirty="0" err="1">
                <a:solidFill>
                  <a:srgbClr val="000000"/>
                </a:solidFill>
                <a:latin typeface="Arial" panose="020B0604020202020204" pitchFamily="34" charset="0"/>
                <a:ea typeface="Arial Bold"/>
                <a:cs typeface="Arial" panose="020B0604020202020204" pitchFamily="34" charset="0"/>
                <a:sym typeface="Arial Bold"/>
              </a:rPr>
              <a:t>Orientador</a:t>
            </a:r>
            <a:r>
              <a:rPr lang="en-US" sz="2799" b="1" spc="114" dirty="0">
                <a:solidFill>
                  <a:srgbClr val="000000"/>
                </a:solidFill>
                <a:latin typeface="Arial" panose="020B0604020202020204" pitchFamily="34" charset="0"/>
                <a:ea typeface="Arial Bold"/>
                <a:cs typeface="Arial" panose="020B0604020202020204" pitchFamily="34" charset="0"/>
                <a:sym typeface="Arial Bold"/>
              </a:rPr>
              <a:t>:</a:t>
            </a:r>
            <a:r>
              <a:rPr lang="en-US" sz="2799" spc="114" dirty="0">
                <a:solidFill>
                  <a:srgbClr val="000000"/>
                </a:solidFill>
                <a:latin typeface="Arial" panose="020B0604020202020204" pitchFamily="34" charset="0"/>
                <a:ea typeface="Arial"/>
                <a:cs typeface="Arial" panose="020B0604020202020204" pitchFamily="34" charset="0"/>
                <a:sym typeface="Arial"/>
              </a:rPr>
              <a:t> Mateus Afonso </a:t>
            </a:r>
            <a:r>
              <a:rPr lang="en-US" sz="2799" spc="114" dirty="0" err="1">
                <a:solidFill>
                  <a:srgbClr val="000000"/>
                </a:solidFill>
                <a:latin typeface="Arial" panose="020B0604020202020204" pitchFamily="34" charset="0"/>
                <a:ea typeface="Arial"/>
                <a:cs typeface="Arial" panose="020B0604020202020204" pitchFamily="34" charset="0"/>
                <a:sym typeface="Arial"/>
              </a:rPr>
              <a:t>Bengui</a:t>
            </a:r>
            <a:r>
              <a:rPr lang="en-US" sz="2799" spc="114" dirty="0">
                <a:solidFill>
                  <a:srgbClr val="000000"/>
                </a:solidFill>
                <a:latin typeface="Arial" panose="020B0604020202020204" pitchFamily="34" charset="0"/>
                <a:ea typeface="Arial"/>
                <a:cs typeface="Arial" panose="020B0604020202020204" pitchFamily="34" charset="0"/>
                <a:sym typeface="Arial"/>
              </a:rPr>
              <a:t> </a:t>
            </a:r>
            <a:r>
              <a:rPr lang="en-US" sz="2799" spc="114" dirty="0" err="1">
                <a:solidFill>
                  <a:srgbClr val="000000"/>
                </a:solidFill>
                <a:latin typeface="Arial" panose="020B0604020202020204" pitchFamily="34" charset="0"/>
                <a:ea typeface="Arial"/>
                <a:cs typeface="Arial" panose="020B0604020202020204" pitchFamily="34" charset="0"/>
                <a:sym typeface="Arial"/>
              </a:rPr>
              <a:t>Tauana</a:t>
            </a:r>
            <a:r>
              <a:rPr lang="en-US" sz="2799" spc="114" dirty="0">
                <a:solidFill>
                  <a:srgbClr val="000000"/>
                </a:solidFill>
                <a:latin typeface="Arial" panose="020B0604020202020204" pitchFamily="34" charset="0"/>
                <a:ea typeface="Arial"/>
                <a:cs typeface="Arial" panose="020B0604020202020204" pitchFamily="34" charset="0"/>
                <a:sym typeface="Arial"/>
              </a:rPr>
              <a:t>, </a:t>
            </a:r>
            <a:r>
              <a:rPr lang="en-US" sz="2799" spc="114" dirty="0" err="1">
                <a:solidFill>
                  <a:srgbClr val="000000"/>
                </a:solidFill>
                <a:latin typeface="Arial" panose="020B0604020202020204" pitchFamily="34" charset="0"/>
                <a:ea typeface="Arial"/>
                <a:cs typeface="Arial" panose="020B0604020202020204" pitchFamily="34" charset="0"/>
                <a:sym typeface="Arial"/>
              </a:rPr>
              <a:t>Msc</a:t>
            </a:r>
            <a:endParaRPr lang="en-US" sz="2799" spc="114" dirty="0">
              <a:solidFill>
                <a:srgbClr val="000000"/>
              </a:solidFill>
              <a:latin typeface="Arial" panose="020B0604020202020204" pitchFamily="34" charset="0"/>
              <a:ea typeface="Arial"/>
              <a:cs typeface="Arial" panose="020B0604020202020204" pitchFamily="34" charset="0"/>
              <a:sym typeface="Arial"/>
            </a:endParaRPr>
          </a:p>
          <a:p>
            <a:pPr algn="l">
              <a:lnSpc>
                <a:spcPts val="3074"/>
              </a:lnSpc>
            </a:pPr>
            <a:r>
              <a:rPr lang="en-US" sz="2799" b="1" spc="114" dirty="0">
                <a:solidFill>
                  <a:srgbClr val="000000"/>
                </a:solidFill>
                <a:latin typeface="Arial" panose="020B0604020202020204" pitchFamily="34" charset="0"/>
                <a:ea typeface="Arial"/>
                <a:cs typeface="Arial" panose="020B0604020202020204" pitchFamily="34" charset="0"/>
                <a:sym typeface="Arial"/>
              </a:rPr>
              <a:t>Co-</a:t>
            </a:r>
            <a:r>
              <a:rPr lang="en-US" sz="2799" b="1" spc="114" dirty="0" err="1">
                <a:solidFill>
                  <a:srgbClr val="000000"/>
                </a:solidFill>
                <a:latin typeface="Arial" panose="020B0604020202020204" pitchFamily="34" charset="0"/>
                <a:ea typeface="Arial"/>
                <a:cs typeface="Arial" panose="020B0604020202020204" pitchFamily="34" charset="0"/>
                <a:sym typeface="Arial"/>
              </a:rPr>
              <a:t>Orientador</a:t>
            </a:r>
            <a:r>
              <a:rPr lang="en-US" sz="2799" b="1" spc="114" dirty="0">
                <a:solidFill>
                  <a:srgbClr val="000000"/>
                </a:solidFill>
                <a:latin typeface="Arial" panose="020B0604020202020204" pitchFamily="34" charset="0"/>
                <a:ea typeface="Arial"/>
                <a:cs typeface="Arial" panose="020B0604020202020204" pitchFamily="34" charset="0"/>
                <a:sym typeface="Arial"/>
              </a:rPr>
              <a:t>: </a:t>
            </a:r>
            <a:r>
              <a:rPr lang="en-US" sz="2799" spc="114" dirty="0">
                <a:solidFill>
                  <a:srgbClr val="000000"/>
                </a:solidFill>
                <a:latin typeface="Arial" panose="020B0604020202020204" pitchFamily="34" charset="0"/>
                <a:ea typeface="Arial"/>
                <a:cs typeface="Arial" panose="020B0604020202020204" pitchFamily="34" charset="0"/>
                <a:sym typeface="Arial"/>
              </a:rPr>
              <a:t>José </a:t>
            </a:r>
            <a:r>
              <a:rPr lang="en-US" sz="2799" spc="114" dirty="0" err="1">
                <a:solidFill>
                  <a:srgbClr val="000000"/>
                </a:solidFill>
                <a:latin typeface="Arial" panose="020B0604020202020204" pitchFamily="34" charset="0"/>
                <a:ea typeface="Arial"/>
                <a:cs typeface="Arial" panose="020B0604020202020204" pitchFamily="34" charset="0"/>
                <a:sym typeface="Arial"/>
              </a:rPr>
              <a:t>Talakaka</a:t>
            </a:r>
            <a:r>
              <a:rPr lang="en-US" sz="2799" spc="114" dirty="0">
                <a:solidFill>
                  <a:srgbClr val="000000"/>
                </a:solidFill>
                <a:latin typeface="Arial" panose="020B0604020202020204" pitchFamily="34" charset="0"/>
                <a:ea typeface="Arial"/>
                <a:cs typeface="Arial" panose="020B0604020202020204" pitchFamily="34" charset="0"/>
                <a:sym typeface="Arial"/>
              </a:rPr>
              <a:t>, </a:t>
            </a:r>
            <a:r>
              <a:rPr lang="en-US" sz="2799" spc="114" dirty="0" err="1">
                <a:solidFill>
                  <a:srgbClr val="000000"/>
                </a:solidFill>
                <a:latin typeface="Arial" panose="020B0604020202020204" pitchFamily="34" charset="0"/>
                <a:ea typeface="Arial"/>
                <a:cs typeface="Arial" panose="020B0604020202020204" pitchFamily="34" charset="0"/>
                <a:sym typeface="Arial"/>
              </a:rPr>
              <a:t>Lic</a:t>
            </a:r>
            <a:endParaRPr lang="en-US" sz="2799" spc="114" dirty="0">
              <a:solidFill>
                <a:srgbClr val="000000"/>
              </a:solidFill>
              <a:latin typeface="Arial" panose="020B0604020202020204" pitchFamily="34" charset="0"/>
              <a:ea typeface="Arial"/>
              <a:cs typeface="Arial" panose="020B0604020202020204" pitchFamily="34" charset="0"/>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63503" y="-63503"/>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4981270" y="4625854"/>
            <a:ext cx="72009" cy="339652"/>
          </a:xfrm>
          <a:prstGeom prst="rect">
            <a:avLst/>
          </a:prstGeom>
        </p:spPr>
        <p:txBody>
          <a:bodyPr lIns="0" tIns="0" rIns="0" bIns="0" rtlCol="0" anchor="t">
            <a:spAutoFit/>
          </a:bodyPr>
          <a:lstStyle/>
          <a:p>
            <a:pPr algn="l">
              <a:lnSpc>
                <a:spcPts val="2491"/>
              </a:lnSpc>
            </a:pPr>
            <a:r>
              <a:rPr lang="en-US" sz="1999" b="1">
                <a:solidFill>
                  <a:srgbClr val="FFFFFF"/>
                </a:solidFill>
                <a:latin typeface="Arial Bold"/>
                <a:ea typeface="Arial Bold"/>
                <a:cs typeface="Arial Bold"/>
                <a:sym typeface="Arial Bold"/>
              </a:rPr>
              <a:t> </a:t>
            </a:r>
          </a:p>
        </p:txBody>
      </p:sp>
      <p:sp>
        <p:nvSpPr>
          <p:cNvPr id="20" name="TextBox 6">
            <a:extLst>
              <a:ext uri="{FF2B5EF4-FFF2-40B4-BE49-F238E27FC236}">
                <a16:creationId xmlns:a16="http://schemas.microsoft.com/office/drawing/2014/main" id="{7B7D1D46-2EF5-3B60-C6C3-BDBC0BF903CA}"/>
              </a:ext>
            </a:extLst>
          </p:cNvPr>
          <p:cNvSpPr txBox="1"/>
          <p:nvPr/>
        </p:nvSpPr>
        <p:spPr>
          <a:xfrm>
            <a:off x="1133475" y="3651385"/>
            <a:ext cx="1571625" cy="647125"/>
          </a:xfrm>
          <a:prstGeom prst="rect">
            <a:avLst/>
          </a:prstGeom>
        </p:spPr>
        <p:txBody>
          <a:bodyPr lIns="0" tIns="0" rIns="0" bIns="0" rtlCol="0" anchor="t">
            <a:spAutoFit/>
          </a:bodyPr>
          <a:lstStyle/>
          <a:p>
            <a:pPr marL="0" lvl="0" indent="0" algn="r">
              <a:lnSpc>
                <a:spcPts val="4759"/>
              </a:lnSpc>
              <a:spcBef>
                <a:spcPct val="0"/>
              </a:spcBef>
            </a:pPr>
            <a:r>
              <a:rPr lang="en-US" sz="3399" b="1" spc="-186">
                <a:solidFill>
                  <a:srgbClr val="E0C76E"/>
                </a:solidFill>
                <a:latin typeface="Arial Bold"/>
                <a:ea typeface="Arial Bold"/>
                <a:cs typeface="Arial Bold"/>
                <a:sym typeface="Arial Bold"/>
              </a:rPr>
              <a:t>02</a:t>
            </a:r>
          </a:p>
        </p:txBody>
      </p:sp>
      <p:sp>
        <p:nvSpPr>
          <p:cNvPr id="21" name="TextBox 7">
            <a:extLst>
              <a:ext uri="{FF2B5EF4-FFF2-40B4-BE49-F238E27FC236}">
                <a16:creationId xmlns:a16="http://schemas.microsoft.com/office/drawing/2014/main" id="{01279929-2791-3A11-449B-57D9456901A2}"/>
              </a:ext>
            </a:extLst>
          </p:cNvPr>
          <p:cNvSpPr txBox="1"/>
          <p:nvPr/>
        </p:nvSpPr>
        <p:spPr>
          <a:xfrm>
            <a:off x="1144108" y="5757451"/>
            <a:ext cx="1571625" cy="647125"/>
          </a:xfrm>
          <a:prstGeom prst="rect">
            <a:avLst/>
          </a:prstGeom>
        </p:spPr>
        <p:txBody>
          <a:bodyPr lIns="0" tIns="0" rIns="0" bIns="0" rtlCol="0" anchor="t">
            <a:spAutoFit/>
          </a:bodyPr>
          <a:lstStyle/>
          <a:p>
            <a:pPr marL="0" lvl="0" indent="0" algn="r">
              <a:lnSpc>
                <a:spcPts val="4759"/>
              </a:lnSpc>
              <a:spcBef>
                <a:spcPct val="0"/>
              </a:spcBef>
            </a:pPr>
            <a:r>
              <a:rPr lang="en-US" sz="3399" b="1" spc="-186" dirty="0">
                <a:solidFill>
                  <a:srgbClr val="E0C76E"/>
                </a:solidFill>
                <a:latin typeface="Arial Bold"/>
                <a:ea typeface="Arial Bold"/>
                <a:cs typeface="Arial Bold"/>
                <a:sym typeface="Arial Bold"/>
              </a:rPr>
              <a:t>03</a:t>
            </a:r>
          </a:p>
        </p:txBody>
      </p:sp>
      <p:sp>
        <p:nvSpPr>
          <p:cNvPr id="22" name="TextBox 8">
            <a:extLst>
              <a:ext uri="{FF2B5EF4-FFF2-40B4-BE49-F238E27FC236}">
                <a16:creationId xmlns:a16="http://schemas.microsoft.com/office/drawing/2014/main" id="{D5C186B9-8917-7EB3-9B8E-384FEF71156F}"/>
              </a:ext>
            </a:extLst>
          </p:cNvPr>
          <p:cNvSpPr txBox="1"/>
          <p:nvPr/>
        </p:nvSpPr>
        <p:spPr>
          <a:xfrm>
            <a:off x="1133475" y="2926135"/>
            <a:ext cx="1571625" cy="647125"/>
          </a:xfrm>
          <a:prstGeom prst="rect">
            <a:avLst/>
          </a:prstGeom>
        </p:spPr>
        <p:txBody>
          <a:bodyPr lIns="0" tIns="0" rIns="0" bIns="0" rtlCol="0" anchor="t">
            <a:spAutoFit/>
          </a:bodyPr>
          <a:lstStyle/>
          <a:p>
            <a:pPr marL="0" lvl="0" indent="0" algn="r">
              <a:lnSpc>
                <a:spcPts val="4759"/>
              </a:lnSpc>
            </a:pPr>
            <a:r>
              <a:rPr lang="en-US" sz="3399" b="1" u="none" strike="noStrike" spc="-186">
                <a:solidFill>
                  <a:srgbClr val="E0C76E"/>
                </a:solidFill>
                <a:latin typeface="Arial Bold"/>
                <a:ea typeface="Arial Bold"/>
                <a:cs typeface="Arial Bold"/>
                <a:sym typeface="Arial Bold"/>
              </a:rPr>
              <a:t>01</a:t>
            </a:r>
          </a:p>
        </p:txBody>
      </p:sp>
      <p:sp>
        <p:nvSpPr>
          <p:cNvPr id="23" name="TextBox 9">
            <a:extLst>
              <a:ext uri="{FF2B5EF4-FFF2-40B4-BE49-F238E27FC236}">
                <a16:creationId xmlns:a16="http://schemas.microsoft.com/office/drawing/2014/main" id="{BE42D6E2-492F-8DB9-298F-E3A079E7B5E2}"/>
              </a:ext>
            </a:extLst>
          </p:cNvPr>
          <p:cNvSpPr txBox="1"/>
          <p:nvPr/>
        </p:nvSpPr>
        <p:spPr>
          <a:xfrm>
            <a:off x="2474134" y="1296489"/>
            <a:ext cx="5633967" cy="645754"/>
          </a:xfrm>
          <a:prstGeom prst="rect">
            <a:avLst/>
          </a:prstGeom>
        </p:spPr>
        <p:txBody>
          <a:bodyPr lIns="0" tIns="0" rIns="0" bIns="0" rtlCol="0" anchor="t">
            <a:spAutoFit/>
          </a:bodyPr>
          <a:lstStyle/>
          <a:p>
            <a:pPr marL="0" lvl="0" indent="0" algn="l">
              <a:lnSpc>
                <a:spcPts val="5511"/>
              </a:lnSpc>
              <a:spcBef>
                <a:spcPct val="0"/>
              </a:spcBef>
            </a:pPr>
            <a:r>
              <a:rPr lang="en-US" sz="4000" b="1" u="none" strike="noStrike" spc="-285" dirty="0">
                <a:solidFill>
                  <a:srgbClr val="FFFFFF"/>
                </a:solidFill>
                <a:latin typeface="Arial" panose="020B0604020202020204" pitchFamily="34" charset="0"/>
                <a:ea typeface="Archivo Black"/>
                <a:cs typeface="Arial" panose="020B0604020202020204" pitchFamily="34" charset="0"/>
                <a:sym typeface="Archivo Black"/>
              </a:rPr>
              <a:t>ÍNDICE</a:t>
            </a:r>
          </a:p>
        </p:txBody>
      </p:sp>
      <p:sp>
        <p:nvSpPr>
          <p:cNvPr id="24" name="TextBox 10">
            <a:extLst>
              <a:ext uri="{FF2B5EF4-FFF2-40B4-BE49-F238E27FC236}">
                <a16:creationId xmlns:a16="http://schemas.microsoft.com/office/drawing/2014/main" id="{FEAE9FE3-5B9B-DDF6-D5EB-78CAA4D65062}"/>
              </a:ext>
            </a:extLst>
          </p:cNvPr>
          <p:cNvSpPr txBox="1"/>
          <p:nvPr/>
        </p:nvSpPr>
        <p:spPr>
          <a:xfrm>
            <a:off x="2935559" y="3178522"/>
            <a:ext cx="4711117" cy="421141"/>
          </a:xfrm>
          <a:prstGeom prst="rect">
            <a:avLst/>
          </a:prstGeom>
        </p:spPr>
        <p:txBody>
          <a:bodyPr lIns="0" tIns="0" rIns="0" bIns="0" rtlCol="0" anchor="t">
            <a:spAutoFit/>
          </a:bodyPr>
          <a:lstStyle/>
          <a:p>
            <a:pPr marL="0" lvl="0" indent="0" algn="l">
              <a:lnSpc>
                <a:spcPts val="3149"/>
              </a:lnSpc>
            </a:pPr>
            <a:r>
              <a:rPr lang="en-US" sz="3500" b="1" dirty="0" err="1">
                <a:solidFill>
                  <a:srgbClr val="FFFFFF"/>
                </a:solidFill>
                <a:latin typeface="Arial Bold"/>
                <a:ea typeface="Arial Bold"/>
                <a:cs typeface="Arial Bold"/>
                <a:sym typeface="Arial Bold"/>
              </a:rPr>
              <a:t>Introdução</a:t>
            </a:r>
            <a:endParaRPr lang="en-US" sz="3500" b="1" dirty="0">
              <a:solidFill>
                <a:srgbClr val="FFFFFF"/>
              </a:solidFill>
              <a:latin typeface="Arial Bold"/>
              <a:ea typeface="Arial Bold"/>
              <a:cs typeface="Arial Bold"/>
              <a:sym typeface="Arial Bold"/>
            </a:endParaRPr>
          </a:p>
        </p:txBody>
      </p:sp>
      <p:sp>
        <p:nvSpPr>
          <p:cNvPr id="25" name="TextBox 11">
            <a:extLst>
              <a:ext uri="{FF2B5EF4-FFF2-40B4-BE49-F238E27FC236}">
                <a16:creationId xmlns:a16="http://schemas.microsoft.com/office/drawing/2014/main" id="{76BEBD50-87B1-1677-FCD2-706754A306AA}"/>
              </a:ext>
            </a:extLst>
          </p:cNvPr>
          <p:cNvSpPr txBox="1"/>
          <p:nvPr/>
        </p:nvSpPr>
        <p:spPr>
          <a:xfrm>
            <a:off x="2935559" y="4032097"/>
            <a:ext cx="4711117" cy="421141"/>
          </a:xfrm>
          <a:prstGeom prst="rect">
            <a:avLst/>
          </a:prstGeom>
        </p:spPr>
        <p:txBody>
          <a:bodyPr lIns="0" tIns="0" rIns="0" bIns="0" rtlCol="0" anchor="t">
            <a:spAutoFit/>
          </a:bodyPr>
          <a:lstStyle/>
          <a:p>
            <a:pPr marL="0" lvl="0" indent="0" algn="l">
              <a:lnSpc>
                <a:spcPts val="3149"/>
              </a:lnSpc>
              <a:spcBef>
                <a:spcPct val="0"/>
              </a:spcBef>
            </a:pPr>
            <a:r>
              <a:rPr lang="en-US" sz="3500" b="1" dirty="0" err="1">
                <a:solidFill>
                  <a:srgbClr val="FFFFFF"/>
                </a:solidFill>
                <a:latin typeface="Arial Bold"/>
                <a:ea typeface="Arial Bold"/>
                <a:cs typeface="Arial Bold"/>
                <a:sym typeface="Arial Bold"/>
              </a:rPr>
              <a:t>Capítulo</a:t>
            </a:r>
            <a:r>
              <a:rPr lang="en-US" sz="3500" b="1" dirty="0">
                <a:solidFill>
                  <a:srgbClr val="FFFFFF"/>
                </a:solidFill>
                <a:latin typeface="Arial Bold"/>
                <a:ea typeface="Arial Bold"/>
                <a:cs typeface="Arial Bold"/>
                <a:sym typeface="Arial Bold"/>
              </a:rPr>
              <a:t> I</a:t>
            </a:r>
          </a:p>
        </p:txBody>
      </p:sp>
      <p:sp>
        <p:nvSpPr>
          <p:cNvPr id="26" name="TextBox 12">
            <a:extLst>
              <a:ext uri="{FF2B5EF4-FFF2-40B4-BE49-F238E27FC236}">
                <a16:creationId xmlns:a16="http://schemas.microsoft.com/office/drawing/2014/main" id="{34BBC0A8-0CBC-6292-FFF8-615BCE8C65DA}"/>
              </a:ext>
            </a:extLst>
          </p:cNvPr>
          <p:cNvSpPr txBox="1"/>
          <p:nvPr/>
        </p:nvSpPr>
        <p:spPr>
          <a:xfrm>
            <a:off x="2935559" y="6127149"/>
            <a:ext cx="4711117" cy="421141"/>
          </a:xfrm>
          <a:prstGeom prst="rect">
            <a:avLst/>
          </a:prstGeom>
        </p:spPr>
        <p:txBody>
          <a:bodyPr lIns="0" tIns="0" rIns="0" bIns="0" rtlCol="0" anchor="t">
            <a:spAutoFit/>
          </a:bodyPr>
          <a:lstStyle/>
          <a:p>
            <a:pPr marL="0" lvl="0" indent="0" algn="l">
              <a:lnSpc>
                <a:spcPts val="3149"/>
              </a:lnSpc>
              <a:spcBef>
                <a:spcPct val="0"/>
              </a:spcBef>
            </a:pPr>
            <a:r>
              <a:rPr lang="en-US" sz="3500" b="1" dirty="0" err="1">
                <a:solidFill>
                  <a:srgbClr val="FFFFFF"/>
                </a:solidFill>
                <a:latin typeface="Arial Bold"/>
                <a:ea typeface="Arial Bold"/>
                <a:cs typeface="Arial Bold"/>
                <a:sym typeface="Arial Bold"/>
              </a:rPr>
              <a:t>Capítulo</a:t>
            </a:r>
            <a:r>
              <a:rPr lang="en-US" sz="3149" b="1" dirty="0">
                <a:solidFill>
                  <a:srgbClr val="FFFFFF"/>
                </a:solidFill>
                <a:latin typeface="Arial Bold"/>
                <a:ea typeface="Arial Bold"/>
                <a:cs typeface="Arial Bold"/>
                <a:sym typeface="Arial Bold"/>
              </a:rPr>
              <a:t> II</a:t>
            </a:r>
          </a:p>
        </p:txBody>
      </p:sp>
      <p:sp>
        <p:nvSpPr>
          <p:cNvPr id="27" name="TextBox 13">
            <a:extLst>
              <a:ext uri="{FF2B5EF4-FFF2-40B4-BE49-F238E27FC236}">
                <a16:creationId xmlns:a16="http://schemas.microsoft.com/office/drawing/2014/main" id="{08C29741-BF30-852C-931C-C0B7A83EF66D}"/>
              </a:ext>
            </a:extLst>
          </p:cNvPr>
          <p:cNvSpPr txBox="1"/>
          <p:nvPr/>
        </p:nvSpPr>
        <p:spPr>
          <a:xfrm>
            <a:off x="7858726" y="2926135"/>
            <a:ext cx="1571625" cy="647125"/>
          </a:xfrm>
          <a:prstGeom prst="rect">
            <a:avLst/>
          </a:prstGeom>
        </p:spPr>
        <p:txBody>
          <a:bodyPr lIns="0" tIns="0" rIns="0" bIns="0" rtlCol="0" anchor="t">
            <a:spAutoFit/>
          </a:bodyPr>
          <a:lstStyle/>
          <a:p>
            <a:pPr marL="0" lvl="0" indent="0" algn="r">
              <a:lnSpc>
                <a:spcPts val="4759"/>
              </a:lnSpc>
              <a:spcBef>
                <a:spcPct val="0"/>
              </a:spcBef>
            </a:pPr>
            <a:r>
              <a:rPr lang="en-US" sz="3399" b="1" spc="-186">
                <a:solidFill>
                  <a:srgbClr val="E0C76E"/>
                </a:solidFill>
                <a:latin typeface="Arial Bold"/>
                <a:ea typeface="Arial Bold"/>
                <a:cs typeface="Arial Bold"/>
                <a:sym typeface="Arial Bold"/>
              </a:rPr>
              <a:t>04</a:t>
            </a:r>
          </a:p>
        </p:txBody>
      </p:sp>
      <p:sp>
        <p:nvSpPr>
          <p:cNvPr id="28" name="TextBox 14">
            <a:extLst>
              <a:ext uri="{FF2B5EF4-FFF2-40B4-BE49-F238E27FC236}">
                <a16:creationId xmlns:a16="http://schemas.microsoft.com/office/drawing/2014/main" id="{448D1D9A-68C0-E81F-94DD-F17A87ACFD26}"/>
              </a:ext>
            </a:extLst>
          </p:cNvPr>
          <p:cNvSpPr txBox="1"/>
          <p:nvPr/>
        </p:nvSpPr>
        <p:spPr>
          <a:xfrm>
            <a:off x="9658951" y="3178522"/>
            <a:ext cx="4711117" cy="421141"/>
          </a:xfrm>
          <a:prstGeom prst="rect">
            <a:avLst/>
          </a:prstGeom>
        </p:spPr>
        <p:txBody>
          <a:bodyPr lIns="0" tIns="0" rIns="0" bIns="0" rtlCol="0" anchor="t">
            <a:spAutoFit/>
          </a:bodyPr>
          <a:lstStyle/>
          <a:p>
            <a:pPr marL="0" lvl="0" indent="0" algn="l">
              <a:lnSpc>
                <a:spcPts val="3149"/>
              </a:lnSpc>
              <a:spcBef>
                <a:spcPct val="0"/>
              </a:spcBef>
            </a:pPr>
            <a:r>
              <a:rPr lang="en-US" sz="3500" b="1" dirty="0" err="1">
                <a:solidFill>
                  <a:srgbClr val="FFFFFF"/>
                </a:solidFill>
                <a:latin typeface="Arial Bold"/>
                <a:ea typeface="Arial Bold"/>
                <a:cs typeface="Arial Bold"/>
                <a:sym typeface="Arial Bold"/>
              </a:rPr>
              <a:t>Capítulo</a:t>
            </a:r>
            <a:r>
              <a:rPr lang="en-US" sz="3149" b="1" dirty="0">
                <a:solidFill>
                  <a:srgbClr val="FFFFFF"/>
                </a:solidFill>
                <a:latin typeface="Arial Bold"/>
                <a:ea typeface="Arial Bold"/>
                <a:cs typeface="Arial Bold"/>
                <a:sym typeface="Arial Bold"/>
              </a:rPr>
              <a:t> III</a:t>
            </a:r>
          </a:p>
        </p:txBody>
      </p:sp>
      <p:sp>
        <p:nvSpPr>
          <p:cNvPr id="29" name="TextBox 15">
            <a:extLst>
              <a:ext uri="{FF2B5EF4-FFF2-40B4-BE49-F238E27FC236}">
                <a16:creationId xmlns:a16="http://schemas.microsoft.com/office/drawing/2014/main" id="{050BC0D9-2039-7A77-9B18-E75CB723CCFB}"/>
              </a:ext>
            </a:extLst>
          </p:cNvPr>
          <p:cNvSpPr txBox="1"/>
          <p:nvPr/>
        </p:nvSpPr>
        <p:spPr>
          <a:xfrm>
            <a:off x="8108100" y="5846325"/>
            <a:ext cx="1246362" cy="647125"/>
          </a:xfrm>
          <a:prstGeom prst="rect">
            <a:avLst/>
          </a:prstGeom>
        </p:spPr>
        <p:txBody>
          <a:bodyPr lIns="0" tIns="0" rIns="0" bIns="0" rtlCol="0" anchor="t">
            <a:spAutoFit/>
          </a:bodyPr>
          <a:lstStyle/>
          <a:p>
            <a:pPr marL="0" lvl="0" indent="0" algn="r">
              <a:lnSpc>
                <a:spcPts val="4759"/>
              </a:lnSpc>
              <a:spcBef>
                <a:spcPct val="0"/>
              </a:spcBef>
            </a:pPr>
            <a:r>
              <a:rPr lang="en-US" sz="3399" b="1" spc="-186">
                <a:solidFill>
                  <a:srgbClr val="E0C76E"/>
                </a:solidFill>
                <a:latin typeface="Arial Bold"/>
                <a:ea typeface="Arial Bold"/>
                <a:cs typeface="Arial Bold"/>
                <a:sym typeface="Arial Bold"/>
              </a:rPr>
              <a:t>05</a:t>
            </a:r>
          </a:p>
        </p:txBody>
      </p:sp>
      <p:sp>
        <p:nvSpPr>
          <p:cNvPr id="30" name="TextBox 16">
            <a:extLst>
              <a:ext uri="{FF2B5EF4-FFF2-40B4-BE49-F238E27FC236}">
                <a16:creationId xmlns:a16="http://schemas.microsoft.com/office/drawing/2014/main" id="{17E11938-1BCB-3B24-6152-F4392BEE349C}"/>
              </a:ext>
            </a:extLst>
          </p:cNvPr>
          <p:cNvSpPr txBox="1"/>
          <p:nvPr/>
        </p:nvSpPr>
        <p:spPr>
          <a:xfrm>
            <a:off x="8183990" y="7094755"/>
            <a:ext cx="1246362" cy="647125"/>
          </a:xfrm>
          <a:prstGeom prst="rect">
            <a:avLst/>
          </a:prstGeom>
        </p:spPr>
        <p:txBody>
          <a:bodyPr lIns="0" tIns="0" rIns="0" bIns="0" rtlCol="0" anchor="t">
            <a:spAutoFit/>
          </a:bodyPr>
          <a:lstStyle/>
          <a:p>
            <a:pPr marL="0" lvl="0" indent="0" algn="r">
              <a:lnSpc>
                <a:spcPts val="4759"/>
              </a:lnSpc>
              <a:spcBef>
                <a:spcPct val="0"/>
              </a:spcBef>
            </a:pPr>
            <a:r>
              <a:rPr lang="en-US" sz="3399" b="1" spc="-186">
                <a:solidFill>
                  <a:srgbClr val="E0C76E"/>
                </a:solidFill>
                <a:latin typeface="Arial Bold"/>
                <a:ea typeface="Arial Bold"/>
                <a:cs typeface="Arial Bold"/>
                <a:sym typeface="Arial Bold"/>
              </a:rPr>
              <a:t>06</a:t>
            </a:r>
          </a:p>
        </p:txBody>
      </p:sp>
      <p:sp>
        <p:nvSpPr>
          <p:cNvPr id="31" name="TextBox 17">
            <a:extLst>
              <a:ext uri="{FF2B5EF4-FFF2-40B4-BE49-F238E27FC236}">
                <a16:creationId xmlns:a16="http://schemas.microsoft.com/office/drawing/2014/main" id="{502232A1-811F-8911-E01C-290466424549}"/>
              </a:ext>
            </a:extLst>
          </p:cNvPr>
          <p:cNvSpPr txBox="1"/>
          <p:nvPr/>
        </p:nvSpPr>
        <p:spPr>
          <a:xfrm>
            <a:off x="9583062" y="6195284"/>
            <a:ext cx="4711117" cy="421141"/>
          </a:xfrm>
          <a:prstGeom prst="rect">
            <a:avLst/>
          </a:prstGeom>
        </p:spPr>
        <p:txBody>
          <a:bodyPr lIns="0" tIns="0" rIns="0" bIns="0" rtlCol="0" anchor="t">
            <a:spAutoFit/>
          </a:bodyPr>
          <a:lstStyle/>
          <a:p>
            <a:pPr marL="0" lvl="0" indent="0" algn="l">
              <a:lnSpc>
                <a:spcPts val="3149"/>
              </a:lnSpc>
              <a:spcBef>
                <a:spcPct val="0"/>
              </a:spcBef>
            </a:pPr>
            <a:r>
              <a:rPr lang="en-US" sz="3500" b="1" dirty="0" err="1">
                <a:solidFill>
                  <a:srgbClr val="FFFFFF"/>
                </a:solidFill>
                <a:latin typeface="Arial Bold"/>
                <a:ea typeface="Arial Bold"/>
                <a:cs typeface="Arial Bold"/>
                <a:sym typeface="Arial Bold"/>
              </a:rPr>
              <a:t>Conclusão</a:t>
            </a:r>
            <a:endParaRPr lang="en-US" sz="3500" b="1" dirty="0">
              <a:solidFill>
                <a:srgbClr val="FFFFFF"/>
              </a:solidFill>
              <a:latin typeface="Arial Bold"/>
              <a:ea typeface="Arial Bold"/>
              <a:cs typeface="Arial Bold"/>
              <a:sym typeface="Arial Bold"/>
            </a:endParaRPr>
          </a:p>
        </p:txBody>
      </p:sp>
      <p:sp>
        <p:nvSpPr>
          <p:cNvPr id="32" name="TextBox 18">
            <a:extLst>
              <a:ext uri="{FF2B5EF4-FFF2-40B4-BE49-F238E27FC236}">
                <a16:creationId xmlns:a16="http://schemas.microsoft.com/office/drawing/2014/main" id="{6A577F04-722A-A2FD-C308-0912321F9F56}"/>
              </a:ext>
            </a:extLst>
          </p:cNvPr>
          <p:cNvSpPr txBox="1"/>
          <p:nvPr/>
        </p:nvSpPr>
        <p:spPr>
          <a:xfrm>
            <a:off x="9658951" y="7304675"/>
            <a:ext cx="4711117" cy="421141"/>
          </a:xfrm>
          <a:prstGeom prst="rect">
            <a:avLst/>
          </a:prstGeom>
        </p:spPr>
        <p:txBody>
          <a:bodyPr lIns="0" tIns="0" rIns="0" bIns="0" rtlCol="0" anchor="t">
            <a:spAutoFit/>
          </a:bodyPr>
          <a:lstStyle/>
          <a:p>
            <a:pPr marL="0" lvl="0" indent="0" algn="l">
              <a:lnSpc>
                <a:spcPts val="3149"/>
              </a:lnSpc>
              <a:spcBef>
                <a:spcPct val="0"/>
              </a:spcBef>
            </a:pPr>
            <a:r>
              <a:rPr lang="en-US" sz="3500" b="1" dirty="0" err="1">
                <a:solidFill>
                  <a:srgbClr val="FFFFFF"/>
                </a:solidFill>
                <a:latin typeface="Arial Bold"/>
                <a:ea typeface="Arial Bold"/>
                <a:cs typeface="Arial Bold"/>
                <a:sym typeface="Arial Bold"/>
              </a:rPr>
              <a:t>Recomendações</a:t>
            </a:r>
            <a:endParaRPr lang="en-US" sz="3500" b="1" dirty="0">
              <a:solidFill>
                <a:srgbClr val="FFFFFF"/>
              </a:solidFill>
              <a:latin typeface="Arial Bold"/>
              <a:ea typeface="Arial Bold"/>
              <a:cs typeface="Arial Bold"/>
              <a:sym typeface="Arial Bold"/>
            </a:endParaRPr>
          </a:p>
        </p:txBody>
      </p:sp>
      <p:sp>
        <p:nvSpPr>
          <p:cNvPr id="33" name="TextBox 19">
            <a:extLst>
              <a:ext uri="{FF2B5EF4-FFF2-40B4-BE49-F238E27FC236}">
                <a16:creationId xmlns:a16="http://schemas.microsoft.com/office/drawing/2014/main" id="{4730B116-78AF-0FA5-9186-64097E0F48BF}"/>
              </a:ext>
            </a:extLst>
          </p:cNvPr>
          <p:cNvSpPr txBox="1"/>
          <p:nvPr/>
        </p:nvSpPr>
        <p:spPr>
          <a:xfrm>
            <a:off x="3147609" y="4663400"/>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Monitoramento</a:t>
            </a:r>
            <a:r>
              <a:rPr lang="en-US" sz="2500" b="1" dirty="0">
                <a:solidFill>
                  <a:srgbClr val="FFFFFF"/>
                </a:solidFill>
                <a:latin typeface="Arial Bold"/>
                <a:ea typeface="Arial Bold"/>
                <a:cs typeface="Arial Bold"/>
                <a:sym typeface="Arial Bold"/>
              </a:rPr>
              <a:t> Ambiental</a:t>
            </a:r>
          </a:p>
        </p:txBody>
      </p:sp>
      <p:sp>
        <p:nvSpPr>
          <p:cNvPr id="34" name="TextBox 20">
            <a:extLst>
              <a:ext uri="{FF2B5EF4-FFF2-40B4-BE49-F238E27FC236}">
                <a16:creationId xmlns:a16="http://schemas.microsoft.com/office/drawing/2014/main" id="{47638EE1-A54B-18C7-B9A1-886D557818FB}"/>
              </a:ext>
            </a:extLst>
          </p:cNvPr>
          <p:cNvSpPr txBox="1"/>
          <p:nvPr/>
        </p:nvSpPr>
        <p:spPr>
          <a:xfrm>
            <a:off x="3147609" y="4984783"/>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a:solidFill>
                  <a:srgbClr val="FFFFFF"/>
                </a:solidFill>
                <a:latin typeface="Arial Bold"/>
                <a:ea typeface="Arial Bold"/>
                <a:cs typeface="Arial Bold"/>
                <a:sym typeface="Arial Bold"/>
              </a:rPr>
              <a:t>Rede de </a:t>
            </a:r>
            <a:r>
              <a:rPr lang="en-US" sz="2500" b="1" dirty="0" err="1">
                <a:solidFill>
                  <a:srgbClr val="FFFFFF"/>
                </a:solidFill>
                <a:latin typeface="Arial Bold"/>
                <a:ea typeface="Arial Bold"/>
                <a:cs typeface="Arial Bold"/>
                <a:sym typeface="Arial Bold"/>
              </a:rPr>
              <a:t>Sensores</a:t>
            </a:r>
            <a:r>
              <a:rPr lang="en-US" sz="2500" b="1" dirty="0">
                <a:solidFill>
                  <a:srgbClr val="FFFFFF"/>
                </a:solidFill>
                <a:latin typeface="Arial Bold"/>
                <a:ea typeface="Arial Bold"/>
                <a:cs typeface="Arial Bold"/>
                <a:sym typeface="Arial Bold"/>
              </a:rPr>
              <a:t> Sem Fio</a:t>
            </a:r>
          </a:p>
        </p:txBody>
      </p:sp>
      <p:sp>
        <p:nvSpPr>
          <p:cNvPr id="36" name="TextBox 22">
            <a:extLst>
              <a:ext uri="{FF2B5EF4-FFF2-40B4-BE49-F238E27FC236}">
                <a16:creationId xmlns:a16="http://schemas.microsoft.com/office/drawing/2014/main" id="{AD05E330-C9B8-88E5-B6B3-BBB31471507B}"/>
              </a:ext>
            </a:extLst>
          </p:cNvPr>
          <p:cNvSpPr txBox="1"/>
          <p:nvPr/>
        </p:nvSpPr>
        <p:spPr>
          <a:xfrm>
            <a:off x="3147607" y="5310472"/>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a:solidFill>
                  <a:srgbClr val="FFFFFF"/>
                </a:solidFill>
                <a:latin typeface="Arial Bold"/>
                <a:ea typeface="Arial Bold"/>
                <a:cs typeface="Arial Bold"/>
                <a:sym typeface="Arial Bold"/>
              </a:rPr>
              <a:t>Comunicação </a:t>
            </a:r>
            <a:r>
              <a:rPr lang="en-US" sz="2500" b="1" dirty="0" err="1">
                <a:solidFill>
                  <a:srgbClr val="FFFFFF"/>
                </a:solidFill>
                <a:latin typeface="Arial Bold"/>
                <a:ea typeface="Arial Bold"/>
                <a:cs typeface="Arial Bold"/>
                <a:sym typeface="Arial Bold"/>
              </a:rPr>
              <a:t>em</a:t>
            </a:r>
            <a:r>
              <a:rPr lang="en-US" sz="2500" b="1" dirty="0">
                <a:solidFill>
                  <a:srgbClr val="FFFFFF"/>
                </a:solidFill>
                <a:latin typeface="Arial Bold"/>
                <a:ea typeface="Arial Bold"/>
                <a:cs typeface="Arial Bold"/>
                <a:sym typeface="Arial Bold"/>
              </a:rPr>
              <a:t> RSSF</a:t>
            </a:r>
          </a:p>
        </p:txBody>
      </p:sp>
      <p:sp>
        <p:nvSpPr>
          <p:cNvPr id="37" name="TextBox 23">
            <a:extLst>
              <a:ext uri="{FF2B5EF4-FFF2-40B4-BE49-F238E27FC236}">
                <a16:creationId xmlns:a16="http://schemas.microsoft.com/office/drawing/2014/main" id="{1A3265BC-4D5F-1B1A-B59E-9C50BFB57AE4}"/>
              </a:ext>
            </a:extLst>
          </p:cNvPr>
          <p:cNvSpPr txBox="1"/>
          <p:nvPr/>
        </p:nvSpPr>
        <p:spPr>
          <a:xfrm>
            <a:off x="3147609" y="6704604"/>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Características</a:t>
            </a:r>
            <a:r>
              <a:rPr lang="en-US" sz="2500" b="1" dirty="0">
                <a:solidFill>
                  <a:srgbClr val="FFFFFF"/>
                </a:solidFill>
                <a:latin typeface="Arial Bold"/>
                <a:ea typeface="Arial Bold"/>
                <a:cs typeface="Arial Bold"/>
                <a:sym typeface="Arial Bold"/>
              </a:rPr>
              <a:t> do PNQ</a:t>
            </a:r>
          </a:p>
        </p:txBody>
      </p:sp>
      <p:sp>
        <p:nvSpPr>
          <p:cNvPr id="38" name="TextBox 24">
            <a:extLst>
              <a:ext uri="{FF2B5EF4-FFF2-40B4-BE49-F238E27FC236}">
                <a16:creationId xmlns:a16="http://schemas.microsoft.com/office/drawing/2014/main" id="{12B9C0DF-48CC-D3A1-61E6-9CBB7FF21A1C}"/>
              </a:ext>
            </a:extLst>
          </p:cNvPr>
          <p:cNvSpPr txBox="1"/>
          <p:nvPr/>
        </p:nvSpPr>
        <p:spPr>
          <a:xfrm>
            <a:off x="3147608" y="7064507"/>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Arquitectura</a:t>
            </a:r>
            <a:r>
              <a:rPr lang="en-US" sz="2500" b="1" dirty="0">
                <a:solidFill>
                  <a:srgbClr val="FFFFFF"/>
                </a:solidFill>
                <a:latin typeface="Arial Bold"/>
                <a:ea typeface="Arial Bold"/>
                <a:cs typeface="Arial Bold"/>
                <a:sym typeface="Arial Bold"/>
              </a:rPr>
              <a:t> </a:t>
            </a:r>
            <a:r>
              <a:rPr lang="en-US" sz="2500" b="1" dirty="0" err="1">
                <a:solidFill>
                  <a:srgbClr val="FFFFFF"/>
                </a:solidFill>
                <a:latin typeface="Arial Bold"/>
                <a:ea typeface="Arial Bold"/>
                <a:cs typeface="Arial Bold"/>
                <a:sym typeface="Arial Bold"/>
              </a:rPr>
              <a:t>Proposta</a:t>
            </a:r>
            <a:endParaRPr lang="en-US" sz="2500" b="1" dirty="0">
              <a:solidFill>
                <a:srgbClr val="FFFFFF"/>
              </a:solidFill>
              <a:latin typeface="Arial Bold"/>
              <a:ea typeface="Arial Bold"/>
              <a:cs typeface="Arial Bold"/>
              <a:sym typeface="Arial Bold"/>
            </a:endParaRPr>
          </a:p>
        </p:txBody>
      </p:sp>
      <p:sp>
        <p:nvSpPr>
          <p:cNvPr id="39" name="TextBox 25">
            <a:extLst>
              <a:ext uri="{FF2B5EF4-FFF2-40B4-BE49-F238E27FC236}">
                <a16:creationId xmlns:a16="http://schemas.microsoft.com/office/drawing/2014/main" id="{1763E23E-BF8B-DDA5-36E8-F9903B26F438}"/>
              </a:ext>
            </a:extLst>
          </p:cNvPr>
          <p:cNvSpPr txBox="1"/>
          <p:nvPr/>
        </p:nvSpPr>
        <p:spPr>
          <a:xfrm>
            <a:off x="3147607" y="7404353"/>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Componentes</a:t>
            </a:r>
            <a:r>
              <a:rPr lang="en-US" sz="2500" b="1" dirty="0">
                <a:solidFill>
                  <a:srgbClr val="FFFFFF"/>
                </a:solidFill>
                <a:latin typeface="Arial Bold"/>
                <a:ea typeface="Arial Bold"/>
                <a:cs typeface="Arial Bold"/>
                <a:sym typeface="Arial Bold"/>
              </a:rPr>
              <a:t> da Rede</a:t>
            </a:r>
          </a:p>
        </p:txBody>
      </p:sp>
      <p:sp>
        <p:nvSpPr>
          <p:cNvPr id="41" name="TextBox 27">
            <a:extLst>
              <a:ext uri="{FF2B5EF4-FFF2-40B4-BE49-F238E27FC236}">
                <a16:creationId xmlns:a16="http://schemas.microsoft.com/office/drawing/2014/main" id="{CDFF64B9-932E-B313-1377-CE7C7D7AB993}"/>
              </a:ext>
            </a:extLst>
          </p:cNvPr>
          <p:cNvSpPr txBox="1"/>
          <p:nvPr/>
        </p:nvSpPr>
        <p:spPr>
          <a:xfrm>
            <a:off x="10099293" y="4177897"/>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Princípio</a:t>
            </a:r>
            <a:r>
              <a:rPr lang="en-US" sz="2500" b="1" dirty="0">
                <a:solidFill>
                  <a:srgbClr val="FFFFFF"/>
                </a:solidFill>
                <a:latin typeface="Arial Bold"/>
                <a:ea typeface="Arial Bold"/>
                <a:cs typeface="Arial Bold"/>
                <a:sym typeface="Arial Bold"/>
              </a:rPr>
              <a:t> de </a:t>
            </a:r>
            <a:r>
              <a:rPr lang="en-US" sz="2500" b="1" dirty="0" err="1">
                <a:solidFill>
                  <a:srgbClr val="FFFFFF"/>
                </a:solidFill>
                <a:latin typeface="Arial Bold"/>
                <a:ea typeface="Arial Bold"/>
                <a:cs typeface="Arial Bold"/>
                <a:sym typeface="Arial Bold"/>
              </a:rPr>
              <a:t>funcionamento</a:t>
            </a:r>
            <a:endParaRPr lang="en-US" sz="2500" b="1" dirty="0">
              <a:solidFill>
                <a:srgbClr val="FFFFFF"/>
              </a:solidFill>
              <a:latin typeface="Arial Bold"/>
              <a:ea typeface="Arial Bold"/>
              <a:cs typeface="Arial Bold"/>
              <a:sym typeface="Arial Bold"/>
            </a:endParaRPr>
          </a:p>
        </p:txBody>
      </p:sp>
      <p:sp>
        <p:nvSpPr>
          <p:cNvPr id="42" name="TextBox 28">
            <a:extLst>
              <a:ext uri="{FF2B5EF4-FFF2-40B4-BE49-F238E27FC236}">
                <a16:creationId xmlns:a16="http://schemas.microsoft.com/office/drawing/2014/main" id="{1757FFAD-DA07-C563-0D53-80E23F067E76}"/>
              </a:ext>
            </a:extLst>
          </p:cNvPr>
          <p:cNvSpPr txBox="1"/>
          <p:nvPr/>
        </p:nvSpPr>
        <p:spPr>
          <a:xfrm>
            <a:off x="10099293" y="4544268"/>
            <a:ext cx="5041098" cy="280205"/>
          </a:xfrm>
          <a:prstGeom prst="rect">
            <a:avLst/>
          </a:prstGeom>
        </p:spPr>
        <p:txBody>
          <a:bodyPr wrap="square"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Modelagem</a:t>
            </a:r>
            <a:r>
              <a:rPr lang="en-US" sz="2500" b="1" dirty="0">
                <a:solidFill>
                  <a:srgbClr val="FFFFFF"/>
                </a:solidFill>
                <a:latin typeface="Arial Bold"/>
                <a:ea typeface="Arial Bold"/>
                <a:cs typeface="Arial Bold"/>
                <a:sym typeface="Arial Bold"/>
              </a:rPr>
              <a:t> e </a:t>
            </a:r>
            <a:r>
              <a:rPr lang="en-US" sz="2500" b="1" dirty="0" err="1">
                <a:solidFill>
                  <a:srgbClr val="FFFFFF"/>
                </a:solidFill>
                <a:latin typeface="Arial Bold"/>
                <a:ea typeface="Arial Bold"/>
                <a:cs typeface="Arial Bold"/>
                <a:sym typeface="Arial Bold"/>
              </a:rPr>
              <a:t>Simulação</a:t>
            </a:r>
            <a:r>
              <a:rPr lang="en-US" sz="2500" b="1" dirty="0">
                <a:solidFill>
                  <a:srgbClr val="FFFFFF"/>
                </a:solidFill>
                <a:latin typeface="Arial Bold"/>
                <a:ea typeface="Arial Bold"/>
                <a:cs typeface="Arial Bold"/>
                <a:sym typeface="Arial Bold"/>
              </a:rPr>
              <a:t> da rede</a:t>
            </a:r>
          </a:p>
        </p:txBody>
      </p:sp>
      <p:sp>
        <p:nvSpPr>
          <p:cNvPr id="43" name="TextBox 29">
            <a:extLst>
              <a:ext uri="{FF2B5EF4-FFF2-40B4-BE49-F238E27FC236}">
                <a16:creationId xmlns:a16="http://schemas.microsoft.com/office/drawing/2014/main" id="{0288B5A6-748E-002B-E162-7F3004C9E759}"/>
              </a:ext>
            </a:extLst>
          </p:cNvPr>
          <p:cNvSpPr txBox="1"/>
          <p:nvPr/>
        </p:nvSpPr>
        <p:spPr>
          <a:xfrm>
            <a:off x="10099293" y="4886039"/>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Métricas</a:t>
            </a:r>
            <a:r>
              <a:rPr lang="en-US" sz="2500" b="1" dirty="0">
                <a:solidFill>
                  <a:srgbClr val="FFFFFF"/>
                </a:solidFill>
                <a:latin typeface="Arial Bold"/>
                <a:ea typeface="Arial Bold"/>
                <a:cs typeface="Arial Bold"/>
                <a:sym typeface="Arial Bold"/>
              </a:rPr>
              <a:t> de </a:t>
            </a:r>
            <a:r>
              <a:rPr lang="en-US" sz="2500" b="1" dirty="0" err="1">
                <a:solidFill>
                  <a:srgbClr val="FFFFFF"/>
                </a:solidFill>
                <a:latin typeface="Arial Bold"/>
                <a:ea typeface="Arial Bold"/>
                <a:cs typeface="Arial Bold"/>
                <a:sym typeface="Arial Bold"/>
              </a:rPr>
              <a:t>desempenho</a:t>
            </a:r>
            <a:endParaRPr lang="en-US" sz="2500" b="1" dirty="0">
              <a:solidFill>
                <a:srgbClr val="FFFFFF"/>
              </a:solidFill>
              <a:latin typeface="Arial Bold"/>
              <a:ea typeface="Arial Bold"/>
              <a:cs typeface="Arial Bold"/>
              <a:sym typeface="Arial Bold"/>
            </a:endParaRPr>
          </a:p>
        </p:txBody>
      </p:sp>
      <p:sp>
        <p:nvSpPr>
          <p:cNvPr id="44" name="TextBox 30">
            <a:extLst>
              <a:ext uri="{FF2B5EF4-FFF2-40B4-BE49-F238E27FC236}">
                <a16:creationId xmlns:a16="http://schemas.microsoft.com/office/drawing/2014/main" id="{6DE46503-ACD1-8F94-984E-B4EEAA541BE2}"/>
              </a:ext>
            </a:extLst>
          </p:cNvPr>
          <p:cNvSpPr txBox="1"/>
          <p:nvPr/>
        </p:nvSpPr>
        <p:spPr>
          <a:xfrm>
            <a:off x="10099293" y="5232518"/>
            <a:ext cx="4711117" cy="280205"/>
          </a:xfrm>
          <a:prstGeom prst="rect">
            <a:avLst/>
          </a:prstGeom>
        </p:spPr>
        <p:txBody>
          <a:bodyPr lIns="0" tIns="0" rIns="0" bIns="0" rtlCol="0" anchor="t">
            <a:spAutoFit/>
          </a:bodyPr>
          <a:lstStyle/>
          <a:p>
            <a:pPr marL="0" lvl="0" indent="0" algn="l">
              <a:lnSpc>
                <a:spcPts val="2000"/>
              </a:lnSpc>
              <a:spcBef>
                <a:spcPct val="0"/>
              </a:spcBef>
            </a:pPr>
            <a:r>
              <a:rPr lang="en-US" sz="2500" b="1" dirty="0" err="1">
                <a:solidFill>
                  <a:srgbClr val="FFFFFF"/>
                </a:solidFill>
                <a:latin typeface="Arial Bold"/>
                <a:ea typeface="Arial Bold"/>
                <a:cs typeface="Arial Bold"/>
                <a:sym typeface="Arial Bold"/>
              </a:rPr>
              <a:t>Visualização</a:t>
            </a:r>
            <a:r>
              <a:rPr lang="en-US" sz="2500" b="1" dirty="0">
                <a:solidFill>
                  <a:srgbClr val="FFFFFF"/>
                </a:solidFill>
                <a:latin typeface="Arial Bold"/>
                <a:ea typeface="Arial Bold"/>
                <a:cs typeface="Arial Bold"/>
                <a:sym typeface="Arial Bold"/>
              </a:rPr>
              <a:t> dos dados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5683415" y="334166"/>
            <a:ext cx="6605740" cy="1187548"/>
            <a:chOff x="0" y="0"/>
            <a:chExt cx="6605740" cy="1187552"/>
          </a:xfrm>
        </p:grpSpPr>
        <p:sp>
          <p:nvSpPr>
            <p:cNvPr id="5" name="Freeform 5"/>
            <p:cNvSpPr/>
            <p:nvPr/>
          </p:nvSpPr>
          <p:spPr>
            <a:xfrm>
              <a:off x="0" y="0"/>
              <a:ext cx="6605778" cy="1187577"/>
            </a:xfrm>
            <a:custGeom>
              <a:avLst/>
              <a:gdLst/>
              <a:ahLst/>
              <a:cxnLst/>
              <a:rect l="l" t="t" r="r" b="b"/>
              <a:pathLst>
                <a:path w="6605778" h="1187577">
                  <a:moveTo>
                    <a:pt x="0" y="0"/>
                  </a:moveTo>
                  <a:lnTo>
                    <a:pt x="6605778" y="0"/>
                  </a:lnTo>
                  <a:lnTo>
                    <a:pt x="6605778" y="1187577"/>
                  </a:lnTo>
                  <a:lnTo>
                    <a:pt x="0" y="1187577"/>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p:cNvGrpSpPr>
            <a:grpSpLocks noChangeAspect="1"/>
          </p:cNvGrpSpPr>
          <p:nvPr/>
        </p:nvGrpSpPr>
        <p:grpSpPr>
          <a:xfrm>
            <a:off x="1309897" y="9258300"/>
            <a:ext cx="1877854" cy="1028700"/>
            <a:chOff x="0" y="0"/>
            <a:chExt cx="1877847" cy="1028700"/>
          </a:xfrm>
        </p:grpSpPr>
        <p:sp>
          <p:nvSpPr>
            <p:cNvPr id="9" name="Freeform 9"/>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0" name="Group 10"/>
          <p:cNvGrpSpPr>
            <a:grpSpLocks noChangeAspect="1"/>
          </p:cNvGrpSpPr>
          <p:nvPr/>
        </p:nvGrpSpPr>
        <p:grpSpPr>
          <a:xfrm>
            <a:off x="16320373" y="0"/>
            <a:ext cx="1877854" cy="1369247"/>
            <a:chOff x="0" y="0"/>
            <a:chExt cx="1877847" cy="1369250"/>
          </a:xfrm>
        </p:grpSpPr>
        <p:sp>
          <p:nvSpPr>
            <p:cNvPr id="11" name="Freeform 11"/>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2" name="TextBox 12"/>
          <p:cNvSpPr txBox="1"/>
          <p:nvPr/>
        </p:nvSpPr>
        <p:spPr>
          <a:xfrm>
            <a:off x="561604" y="2310060"/>
            <a:ext cx="103527" cy="534152"/>
          </a:xfrm>
          <a:prstGeom prst="rect">
            <a:avLst/>
          </a:prstGeom>
        </p:spPr>
        <p:txBody>
          <a:bodyPr lIns="0" tIns="0" rIns="0" bIns="0" rtlCol="0" anchor="t">
            <a:spAutoFit/>
          </a:bodyPr>
          <a:lstStyle/>
          <a:p>
            <a:pPr algn="l">
              <a:lnSpc>
                <a:spcPts val="3978"/>
              </a:lnSpc>
            </a:pPr>
            <a:r>
              <a:rPr lang="en-US" sz="2874">
                <a:solidFill>
                  <a:srgbClr val="000000"/>
                </a:solidFill>
                <a:latin typeface="Arial"/>
                <a:ea typeface="Arial"/>
                <a:cs typeface="Arial"/>
                <a:sym typeface="Arial"/>
              </a:rPr>
              <a:t> </a:t>
            </a:r>
          </a:p>
        </p:txBody>
      </p:sp>
      <p:sp>
        <p:nvSpPr>
          <p:cNvPr id="13" name="TextBox 13"/>
          <p:cNvSpPr txBox="1"/>
          <p:nvPr/>
        </p:nvSpPr>
        <p:spPr>
          <a:xfrm>
            <a:off x="561604" y="2310060"/>
            <a:ext cx="17188415" cy="2154436"/>
          </a:xfrm>
          <a:prstGeom prst="rect">
            <a:avLst/>
          </a:prstGeom>
        </p:spPr>
        <p:txBody>
          <a:bodyPr lIns="0" tIns="0" rIns="0" bIns="0" rtlCol="0" anchor="t">
            <a:spAutoFit/>
          </a:bodyPr>
          <a:lstStyle/>
          <a:p>
            <a:pPr algn="just"/>
            <a:r>
              <a:rPr lang="pt-PT" sz="3500" dirty="0">
                <a:latin typeface="Arial" panose="020B0604020202020204" pitchFamily="34" charset="0"/>
                <a:cs typeface="Arial" panose="020B0604020202020204" pitchFamily="34" charset="0"/>
              </a:rPr>
              <a:t>A preservação ambiental é um elemento crucial para a </a:t>
            </a:r>
            <a:r>
              <a:rPr lang="pt-PT" sz="3500" dirty="0" err="1">
                <a:latin typeface="Arial" panose="020B0604020202020204" pitchFamily="34" charset="0"/>
                <a:cs typeface="Arial" panose="020B0604020202020204" pitchFamily="34" charset="0"/>
              </a:rPr>
              <a:t>protecção</a:t>
            </a:r>
            <a:r>
              <a:rPr lang="pt-PT" sz="3500" dirty="0">
                <a:latin typeface="Arial" panose="020B0604020202020204" pitchFamily="34" charset="0"/>
                <a:cs typeface="Arial" panose="020B0604020202020204" pitchFamily="34" charset="0"/>
              </a:rPr>
              <a:t> dos recursos naturais, a degradação ambiental e as mudanças climáticas têm impactado significativamente os ecossistemas naturais, tornando essencial a adoção de soluções tecnológicas inovadoras para monitorar e analisar as condições do ecossistema. </a:t>
            </a:r>
          </a:p>
        </p:txBody>
      </p:sp>
      <p:sp>
        <p:nvSpPr>
          <p:cNvPr id="14" name="TextBox 14"/>
          <p:cNvSpPr txBox="1"/>
          <p:nvPr/>
        </p:nvSpPr>
        <p:spPr>
          <a:xfrm>
            <a:off x="561604" y="5847998"/>
            <a:ext cx="103527" cy="534152"/>
          </a:xfrm>
          <a:prstGeom prst="rect">
            <a:avLst/>
          </a:prstGeom>
        </p:spPr>
        <p:txBody>
          <a:bodyPr lIns="0" tIns="0" rIns="0" bIns="0" rtlCol="0" anchor="t">
            <a:spAutoFit/>
          </a:bodyPr>
          <a:lstStyle/>
          <a:p>
            <a:pPr algn="l">
              <a:lnSpc>
                <a:spcPts val="3978"/>
              </a:lnSpc>
            </a:pPr>
            <a:r>
              <a:rPr lang="en-US" sz="2874" spc="86">
                <a:solidFill>
                  <a:srgbClr val="000000"/>
                </a:solidFill>
                <a:latin typeface="Arial"/>
                <a:ea typeface="Arial"/>
                <a:cs typeface="Arial"/>
                <a:sym typeface="Arial"/>
              </a:rPr>
              <a:t> </a:t>
            </a:r>
          </a:p>
        </p:txBody>
      </p:sp>
      <p:sp>
        <p:nvSpPr>
          <p:cNvPr id="15" name="TextBox 15"/>
          <p:cNvSpPr txBox="1"/>
          <p:nvPr/>
        </p:nvSpPr>
        <p:spPr>
          <a:xfrm>
            <a:off x="560698" y="4912203"/>
            <a:ext cx="17188396" cy="3231654"/>
          </a:xfrm>
          <a:prstGeom prst="rect">
            <a:avLst/>
          </a:prstGeom>
        </p:spPr>
        <p:txBody>
          <a:bodyPr lIns="0" tIns="0" rIns="0" bIns="0" rtlCol="0" anchor="t">
            <a:spAutoFit/>
          </a:bodyPr>
          <a:lstStyle/>
          <a:p>
            <a:pPr algn="just"/>
            <a:r>
              <a:rPr lang="pt-PT" sz="3500" dirty="0">
                <a:latin typeface="Arial" panose="020B0604020202020204" pitchFamily="34" charset="0"/>
                <a:cs typeface="Arial" panose="020B0604020202020204" pitchFamily="34" charset="0"/>
              </a:rPr>
              <a:t>O Parque Nacional da Quiçama, uma das maiores reservas naturais de Angola, enfrenta desafios relacionados à gestão ambiental e conservação da fauna e flora. Neste contexto, as Redes de Sensores Sem Fio surgem como uma solução eficiente para a </a:t>
            </a:r>
            <a:r>
              <a:rPr lang="pt-PT" sz="3500" dirty="0" err="1">
                <a:latin typeface="Arial" panose="020B0604020202020204" pitchFamily="34" charset="0"/>
                <a:cs typeface="Arial" panose="020B0604020202020204" pitchFamily="34" charset="0"/>
              </a:rPr>
              <a:t>colecta</a:t>
            </a:r>
            <a:r>
              <a:rPr lang="pt-PT" sz="3500" dirty="0">
                <a:latin typeface="Arial" panose="020B0604020202020204" pitchFamily="34" charset="0"/>
                <a:cs typeface="Arial" panose="020B0604020202020204" pitchFamily="34" charset="0"/>
              </a:rPr>
              <a:t> e análise de dados ambientais em tempo real, para conservação da biodiversidade e prevenção de incêndios florestais.</a:t>
            </a:r>
          </a:p>
          <a:p>
            <a:pPr algn="just"/>
            <a:endParaRPr lang="pt-PT" sz="3500" dirty="0">
              <a:latin typeface="Arial" panose="020B0604020202020204" pitchFamily="34" charset="0"/>
              <a:cs typeface="Arial" panose="020B0604020202020204" pitchFamily="34" charset="0"/>
            </a:endParaRPr>
          </a:p>
        </p:txBody>
      </p:sp>
      <p:sp>
        <p:nvSpPr>
          <p:cNvPr id="16" name="TextBox 16"/>
          <p:cNvSpPr txBox="1"/>
          <p:nvPr/>
        </p:nvSpPr>
        <p:spPr>
          <a:xfrm>
            <a:off x="6580941" y="477026"/>
            <a:ext cx="4810725" cy="909801"/>
          </a:xfrm>
          <a:prstGeom prst="rect">
            <a:avLst/>
          </a:prstGeom>
        </p:spPr>
        <p:txBody>
          <a:bodyPr wrap="square" lIns="0" tIns="0" rIns="0" bIns="0" rtlCol="0" anchor="t">
            <a:spAutoFit/>
          </a:bodyPr>
          <a:lstStyle/>
          <a:p>
            <a:pPr algn="l">
              <a:lnSpc>
                <a:spcPts val="7508"/>
              </a:lnSpc>
            </a:pPr>
            <a:r>
              <a:rPr lang="en-US" sz="5363" b="1" dirty="0">
                <a:solidFill>
                  <a:srgbClr val="000000"/>
                </a:solidFill>
                <a:latin typeface="Arial Bold"/>
                <a:ea typeface="Arial Bold"/>
                <a:cs typeface="Arial Bold"/>
                <a:sym typeface="Arial Bold"/>
              </a:rPr>
              <a:t>INTRODUÇÃO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355797" y="-63503"/>
            <a:ext cx="1995630" cy="1861204"/>
          </a:xfrm>
          <a:custGeom>
            <a:avLst/>
            <a:gdLst/>
            <a:ahLst/>
            <a:cxnLst/>
            <a:rect l="l" t="t" r="r" b="b"/>
            <a:pathLst>
              <a:path w="1995630" h="1861204">
                <a:moveTo>
                  <a:pt x="0" y="0"/>
                </a:moveTo>
                <a:lnTo>
                  <a:pt x="1995630" y="0"/>
                </a:lnTo>
                <a:lnTo>
                  <a:pt x="1995630" y="1861204"/>
                </a:lnTo>
                <a:lnTo>
                  <a:pt x="0" y="18612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4"/>
            <a:stretch>
              <a:fillRect t="-4438" b="-4012"/>
            </a:stretch>
          </a:blipFill>
        </p:spPr>
      </p:sp>
      <p:sp>
        <p:nvSpPr>
          <p:cNvPr id="5" name="Freeform 5"/>
          <p:cNvSpPr/>
          <p:nvPr/>
        </p:nvSpPr>
        <p:spPr>
          <a:xfrm>
            <a:off x="1083955" y="9194825"/>
            <a:ext cx="1982943" cy="1155678"/>
          </a:xfrm>
          <a:custGeom>
            <a:avLst/>
            <a:gdLst/>
            <a:ahLst/>
            <a:cxnLst/>
            <a:rect l="l" t="t" r="r" b="b"/>
            <a:pathLst>
              <a:path w="1982943" h="1155678">
                <a:moveTo>
                  <a:pt x="0" y="0"/>
                </a:moveTo>
                <a:lnTo>
                  <a:pt x="1982943" y="0"/>
                </a:lnTo>
                <a:lnTo>
                  <a:pt x="1982943" y="1155678"/>
                </a:lnTo>
                <a:lnTo>
                  <a:pt x="0" y="11556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a:grpSpLocks noChangeAspect="1"/>
          </p:cNvGrpSpPr>
          <p:nvPr/>
        </p:nvGrpSpPr>
        <p:grpSpPr>
          <a:xfrm>
            <a:off x="16421081" y="0"/>
            <a:ext cx="1777146" cy="1185234"/>
            <a:chOff x="0" y="0"/>
            <a:chExt cx="1777149" cy="1185240"/>
          </a:xfrm>
        </p:grpSpPr>
        <p:sp>
          <p:nvSpPr>
            <p:cNvPr id="7" name="Freeform 7"/>
            <p:cNvSpPr/>
            <p:nvPr/>
          </p:nvSpPr>
          <p:spPr>
            <a:xfrm>
              <a:off x="0" y="0"/>
              <a:ext cx="1777111" cy="1185291"/>
            </a:xfrm>
            <a:custGeom>
              <a:avLst/>
              <a:gdLst/>
              <a:ahLst/>
              <a:cxnLst/>
              <a:rect l="l" t="t" r="r" b="b"/>
              <a:pathLst>
                <a:path w="1777111" h="1185291">
                  <a:moveTo>
                    <a:pt x="0" y="0"/>
                  </a:moveTo>
                  <a:lnTo>
                    <a:pt x="0" y="1185291"/>
                  </a:lnTo>
                  <a:lnTo>
                    <a:pt x="1777111" y="1185291"/>
                  </a:lnTo>
                  <a:lnTo>
                    <a:pt x="1777111" y="0"/>
                  </a:lnTo>
                  <a:close/>
                </a:path>
              </a:pathLst>
            </a:custGeom>
            <a:solidFill>
              <a:srgbClr val="000000">
                <a:alpha val="0"/>
              </a:srgbClr>
            </a:solidFill>
          </p:spPr>
        </p:sp>
      </p:grpSp>
      <p:sp>
        <p:nvSpPr>
          <p:cNvPr id="8" name="TextBox 8"/>
          <p:cNvSpPr txBox="1"/>
          <p:nvPr/>
        </p:nvSpPr>
        <p:spPr>
          <a:xfrm>
            <a:off x="2926880" y="7165667"/>
            <a:ext cx="151247" cy="689610"/>
          </a:xfrm>
          <a:prstGeom prst="rect">
            <a:avLst/>
          </a:prstGeom>
        </p:spPr>
        <p:txBody>
          <a:bodyPr lIns="0" tIns="0" rIns="0" bIns="0" rtlCol="0" anchor="t">
            <a:spAutoFit/>
          </a:bodyPr>
          <a:lstStyle/>
          <a:p>
            <a:pPr algn="l">
              <a:lnSpc>
                <a:spcPts val="4977"/>
              </a:lnSpc>
            </a:pPr>
            <a:r>
              <a:rPr lang="en-US" sz="4200" b="1">
                <a:solidFill>
                  <a:srgbClr val="000000"/>
                </a:solidFill>
                <a:latin typeface="Arial Bold"/>
                <a:ea typeface="Arial Bold"/>
                <a:cs typeface="Arial Bold"/>
                <a:sym typeface="Arial Bold"/>
              </a:rPr>
              <a:t> </a:t>
            </a:r>
          </a:p>
        </p:txBody>
      </p:sp>
      <p:sp>
        <p:nvSpPr>
          <p:cNvPr id="9" name="TextBox 9"/>
          <p:cNvSpPr txBox="1"/>
          <p:nvPr/>
        </p:nvSpPr>
        <p:spPr>
          <a:xfrm>
            <a:off x="718318" y="7617470"/>
            <a:ext cx="17188377" cy="1577355"/>
          </a:xfrm>
          <a:prstGeom prst="rect">
            <a:avLst/>
          </a:prstGeom>
        </p:spPr>
        <p:txBody>
          <a:bodyPr wrap="square" lIns="0" tIns="0" rIns="0" bIns="0" rtlCol="0" anchor="t">
            <a:spAutoFit/>
          </a:bodyPr>
          <a:lstStyle/>
          <a:p>
            <a:pPr>
              <a:lnSpc>
                <a:spcPts val="4070"/>
              </a:lnSpc>
            </a:pPr>
            <a:r>
              <a:rPr lang="en-US" sz="3500" dirty="0">
                <a:solidFill>
                  <a:srgbClr val="000000"/>
                </a:solidFill>
                <a:latin typeface="Arial"/>
                <a:ea typeface="Arial"/>
                <a:cs typeface="Arial"/>
                <a:sym typeface="Arial"/>
              </a:rPr>
              <a:t>Como </a:t>
            </a:r>
            <a:r>
              <a:rPr lang="en-US" sz="3500" dirty="0" err="1">
                <a:solidFill>
                  <a:srgbClr val="000000"/>
                </a:solidFill>
                <a:latin typeface="Arial"/>
                <a:ea typeface="Arial"/>
                <a:cs typeface="Arial"/>
                <a:sym typeface="Arial"/>
              </a:rPr>
              <a:t>prevenir</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incêndios</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florestais</a:t>
            </a:r>
            <a:r>
              <a:rPr lang="en-US" sz="3500" dirty="0">
                <a:solidFill>
                  <a:srgbClr val="000000"/>
                </a:solidFill>
                <a:latin typeface="Arial"/>
                <a:ea typeface="Arial"/>
                <a:cs typeface="Arial"/>
                <a:sym typeface="Arial"/>
              </a:rPr>
              <a:t> no Parque da </a:t>
            </a:r>
            <a:r>
              <a:rPr lang="en-US" sz="3500" dirty="0" err="1">
                <a:solidFill>
                  <a:srgbClr val="000000"/>
                </a:solidFill>
                <a:latin typeface="Arial"/>
                <a:ea typeface="Arial"/>
                <a:cs typeface="Arial"/>
                <a:sym typeface="Arial"/>
              </a:rPr>
              <a:t>Quiçama</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utilizando</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Monitoramento</a:t>
            </a:r>
            <a:r>
              <a:rPr lang="en-US" sz="3500" dirty="0">
                <a:solidFill>
                  <a:srgbClr val="000000"/>
                </a:solidFill>
                <a:latin typeface="Arial"/>
                <a:ea typeface="Arial"/>
                <a:cs typeface="Arial"/>
                <a:sym typeface="Arial"/>
              </a:rPr>
              <a:t> Ambiental </a:t>
            </a:r>
            <a:r>
              <a:rPr lang="en-US" sz="3500" dirty="0" err="1">
                <a:solidFill>
                  <a:srgbClr val="000000"/>
                </a:solidFill>
                <a:latin typeface="Arial"/>
                <a:ea typeface="Arial"/>
                <a:cs typeface="Arial"/>
                <a:sym typeface="Arial"/>
              </a:rPr>
              <a:t>por</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meio</a:t>
            </a:r>
            <a:r>
              <a:rPr lang="en-US" sz="3500" dirty="0">
                <a:solidFill>
                  <a:srgbClr val="000000"/>
                </a:solidFill>
                <a:latin typeface="Arial"/>
                <a:ea typeface="Arial"/>
                <a:cs typeface="Arial"/>
                <a:sym typeface="Arial"/>
              </a:rPr>
              <a:t> Rede de </a:t>
            </a:r>
            <a:r>
              <a:rPr lang="en-US" sz="3500" dirty="0" err="1">
                <a:solidFill>
                  <a:srgbClr val="000000"/>
                </a:solidFill>
                <a:latin typeface="Arial"/>
                <a:ea typeface="Arial"/>
                <a:cs typeface="Arial"/>
                <a:sym typeface="Arial"/>
              </a:rPr>
              <a:t>Sensores</a:t>
            </a:r>
            <a:r>
              <a:rPr lang="en-US" sz="3500" dirty="0">
                <a:solidFill>
                  <a:srgbClr val="000000"/>
                </a:solidFill>
                <a:latin typeface="Arial"/>
                <a:ea typeface="Arial"/>
                <a:cs typeface="Arial"/>
                <a:sym typeface="Arial"/>
              </a:rPr>
              <a:t> Sem Fio?</a:t>
            </a:r>
          </a:p>
          <a:p>
            <a:pPr algn="l">
              <a:lnSpc>
                <a:spcPts val="4070"/>
              </a:lnSpc>
            </a:pPr>
            <a:endParaRPr lang="en-US" sz="3500" dirty="0">
              <a:solidFill>
                <a:srgbClr val="000000"/>
              </a:solidFill>
              <a:latin typeface="Arial"/>
              <a:ea typeface="Arial"/>
              <a:cs typeface="Arial"/>
              <a:sym typeface="Arial"/>
            </a:endParaRPr>
          </a:p>
        </p:txBody>
      </p:sp>
      <p:sp>
        <p:nvSpPr>
          <p:cNvPr id="11" name="TextBox 11"/>
          <p:cNvSpPr txBox="1"/>
          <p:nvPr/>
        </p:nvSpPr>
        <p:spPr>
          <a:xfrm>
            <a:off x="718318" y="2343731"/>
            <a:ext cx="17188377" cy="4308872"/>
          </a:xfrm>
          <a:prstGeom prst="rect">
            <a:avLst/>
          </a:prstGeom>
        </p:spPr>
        <p:txBody>
          <a:bodyPr lIns="0" tIns="0" rIns="0" bIns="0" rtlCol="0" anchor="t">
            <a:spAutoFit/>
          </a:bodyPr>
          <a:lstStyle/>
          <a:p>
            <a:pPr algn="just"/>
            <a:r>
              <a:rPr lang="en-US" sz="3500" dirty="0">
                <a:solidFill>
                  <a:srgbClr val="000000"/>
                </a:solidFill>
                <a:latin typeface="Arial" panose="020B0604020202020204" pitchFamily="34" charset="0"/>
                <a:ea typeface="Arial"/>
                <a:cs typeface="Arial" panose="020B0604020202020204" pitchFamily="34" charset="0"/>
                <a:sym typeface="Arial"/>
              </a:rPr>
              <a:t> </a:t>
            </a:r>
            <a:r>
              <a:rPr lang="pt-BR" sz="3500" dirty="0">
                <a:latin typeface="Arial" panose="020B0604020202020204" pitchFamily="34" charset="0"/>
                <a:cs typeface="Arial" panose="020B0604020202020204" pitchFamily="34" charset="0"/>
              </a:rPr>
              <a:t>Desde o princípio dos tempos o género humano tem aproveitando-se dos recursos que a Natureza oferece para a sua sobrevivência. A preservação e o aproveitamento racional destes recursos são fundamentais para o bem-estar da população de qualquer país, pois deles dependem o seu desenvolvimento.</a:t>
            </a:r>
            <a:endParaRPr lang="pt-PT" sz="3500" dirty="0">
              <a:latin typeface="Arial" panose="020B0604020202020204" pitchFamily="34" charset="0"/>
              <a:cs typeface="Arial" panose="020B0604020202020204" pitchFamily="34" charset="0"/>
            </a:endParaRPr>
          </a:p>
          <a:p>
            <a:pPr algn="just"/>
            <a:r>
              <a:rPr lang="pt-BR" sz="3500" dirty="0">
                <a:latin typeface="Arial" panose="020B0604020202020204" pitchFamily="34" charset="0"/>
                <a:cs typeface="Arial" panose="020B0604020202020204" pitchFamily="34" charset="0"/>
              </a:rPr>
              <a:t>Em Angola, foram registradas uma perda florestal de 52% no Parque da </a:t>
            </a:r>
            <a:r>
              <a:rPr lang="pt-BR" sz="3500" dirty="0" err="1">
                <a:latin typeface="Arial" panose="020B0604020202020204" pitchFamily="34" charset="0"/>
                <a:cs typeface="Arial" panose="020B0604020202020204" pitchFamily="34" charset="0"/>
              </a:rPr>
              <a:t>Quiçama</a:t>
            </a:r>
            <a:r>
              <a:rPr lang="pt-BR" sz="3500" dirty="0">
                <a:latin typeface="Arial" panose="020B0604020202020204" pitchFamily="34" charset="0"/>
                <a:cs typeface="Arial" panose="020B0604020202020204" pitchFamily="34" charset="0"/>
              </a:rPr>
              <a:t>, em 2022, causada por incêndios florestais, queimadas, desmatamento ilegal e caça furtiva que tem sido recorrente em território nacional, no intuito de comercializar no mercado negro</a:t>
            </a:r>
            <a:endParaRPr lang="en-US" sz="3500" dirty="0">
              <a:solidFill>
                <a:srgbClr val="000000"/>
              </a:solidFill>
              <a:latin typeface="Arial" panose="020B0604020202020204" pitchFamily="34" charset="0"/>
              <a:ea typeface="Arial"/>
              <a:cs typeface="Arial" panose="020B0604020202020204" pitchFamily="34" charset="0"/>
              <a:sym typeface="Arial"/>
            </a:endParaRPr>
          </a:p>
        </p:txBody>
      </p:sp>
      <p:sp>
        <p:nvSpPr>
          <p:cNvPr id="12" name="TextBox 12"/>
          <p:cNvSpPr txBox="1"/>
          <p:nvPr/>
        </p:nvSpPr>
        <p:spPr>
          <a:xfrm>
            <a:off x="718318" y="1355648"/>
            <a:ext cx="6041936" cy="715068"/>
          </a:xfrm>
          <a:prstGeom prst="rect">
            <a:avLst/>
          </a:prstGeom>
        </p:spPr>
        <p:txBody>
          <a:bodyPr wrap="square" lIns="0" tIns="0" rIns="0" bIns="0" rtlCol="0" anchor="t">
            <a:spAutoFit/>
          </a:bodyPr>
          <a:lstStyle/>
          <a:p>
            <a:pPr algn="l">
              <a:lnSpc>
                <a:spcPts val="5880"/>
              </a:lnSpc>
            </a:pPr>
            <a:r>
              <a:rPr lang="en-US" sz="4200" b="1" dirty="0" err="1">
                <a:solidFill>
                  <a:srgbClr val="000000"/>
                </a:solidFill>
                <a:latin typeface="Arial Bold"/>
                <a:ea typeface="Arial Bold"/>
                <a:cs typeface="Arial Bold"/>
                <a:sym typeface="Arial Bold"/>
              </a:rPr>
              <a:t>Situação</a:t>
            </a:r>
            <a:r>
              <a:rPr lang="en-US" sz="4200" b="1" dirty="0">
                <a:solidFill>
                  <a:srgbClr val="000000"/>
                </a:solidFill>
                <a:latin typeface="Arial Bold"/>
                <a:ea typeface="Arial Bold"/>
                <a:cs typeface="Arial Bold"/>
                <a:sym typeface="Arial Bold"/>
              </a:rPr>
              <a:t> </a:t>
            </a:r>
            <a:r>
              <a:rPr lang="en-US" sz="4200" b="1" dirty="0" err="1">
                <a:solidFill>
                  <a:srgbClr val="000000"/>
                </a:solidFill>
                <a:latin typeface="Arial Bold"/>
                <a:ea typeface="Arial Bold"/>
                <a:cs typeface="Arial Bold"/>
                <a:sym typeface="Arial Bold"/>
              </a:rPr>
              <a:t>Problemática</a:t>
            </a:r>
            <a:endParaRPr lang="en-US" sz="4200" b="1" dirty="0">
              <a:solidFill>
                <a:srgbClr val="000000"/>
              </a:solidFill>
              <a:latin typeface="Arial Bold"/>
              <a:ea typeface="Arial Bold"/>
              <a:cs typeface="Arial Bold"/>
              <a:sym typeface="Arial Bold"/>
            </a:endParaRPr>
          </a:p>
        </p:txBody>
      </p:sp>
      <p:sp>
        <p:nvSpPr>
          <p:cNvPr id="13" name="TextBox 13"/>
          <p:cNvSpPr txBox="1"/>
          <p:nvPr/>
        </p:nvSpPr>
        <p:spPr>
          <a:xfrm>
            <a:off x="718318" y="6773863"/>
            <a:ext cx="7041528" cy="715068"/>
          </a:xfrm>
          <a:prstGeom prst="rect">
            <a:avLst/>
          </a:prstGeom>
        </p:spPr>
        <p:txBody>
          <a:bodyPr wrap="square" lIns="0" tIns="0" rIns="0" bIns="0" rtlCol="0" anchor="t">
            <a:spAutoFit/>
          </a:bodyPr>
          <a:lstStyle/>
          <a:p>
            <a:pPr algn="l">
              <a:lnSpc>
                <a:spcPts val="5880"/>
              </a:lnSpc>
            </a:pPr>
            <a:r>
              <a:rPr lang="en-US" sz="4200" b="1" dirty="0" err="1">
                <a:solidFill>
                  <a:srgbClr val="000000"/>
                </a:solidFill>
                <a:latin typeface="Arial Bold"/>
                <a:ea typeface="Arial Bold"/>
                <a:cs typeface="Arial Bold"/>
                <a:sym typeface="Arial Bold"/>
              </a:rPr>
              <a:t>Problema</a:t>
            </a:r>
            <a:r>
              <a:rPr lang="en-US" sz="4200" b="1" dirty="0">
                <a:solidFill>
                  <a:srgbClr val="000000"/>
                </a:solidFill>
                <a:latin typeface="Arial Bold"/>
                <a:ea typeface="Arial Bold"/>
                <a:cs typeface="Arial Bold"/>
                <a:sym typeface="Arial Bold"/>
              </a:rPr>
              <a:t> de </a:t>
            </a:r>
            <a:r>
              <a:rPr lang="en-US" sz="4200" b="1" dirty="0" err="1">
                <a:solidFill>
                  <a:srgbClr val="000000"/>
                </a:solidFill>
                <a:latin typeface="Arial Bold"/>
                <a:ea typeface="Arial Bold"/>
                <a:cs typeface="Arial Bold"/>
                <a:sym typeface="Arial Bold"/>
              </a:rPr>
              <a:t>Investigação</a:t>
            </a:r>
            <a:endParaRPr lang="en-US" sz="4200" b="1" dirty="0">
              <a:solidFill>
                <a:srgbClr val="000000"/>
              </a:solidFill>
              <a:latin typeface="Arial Bold"/>
              <a:ea typeface="Arial Bold"/>
              <a:cs typeface="Arial Bold"/>
              <a:sym typeface="Arial Bo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355797" y="-63503"/>
            <a:ext cx="1995630" cy="1861204"/>
          </a:xfrm>
          <a:custGeom>
            <a:avLst/>
            <a:gdLst/>
            <a:ahLst/>
            <a:cxnLst/>
            <a:rect l="l" t="t" r="r" b="b"/>
            <a:pathLst>
              <a:path w="1995630" h="1861204">
                <a:moveTo>
                  <a:pt x="0" y="0"/>
                </a:moveTo>
                <a:lnTo>
                  <a:pt x="1995630" y="0"/>
                </a:lnTo>
                <a:lnTo>
                  <a:pt x="1995630" y="1861204"/>
                </a:lnTo>
                <a:lnTo>
                  <a:pt x="0" y="18612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4"/>
            <a:stretch>
              <a:fillRect t="-4438" b="-4012"/>
            </a:stretch>
          </a:blipFill>
        </p:spPr>
      </p:sp>
      <p:sp>
        <p:nvSpPr>
          <p:cNvPr id="5" name="Freeform 5"/>
          <p:cNvSpPr/>
          <p:nvPr/>
        </p:nvSpPr>
        <p:spPr>
          <a:xfrm>
            <a:off x="1083955" y="9194825"/>
            <a:ext cx="1982943" cy="1155678"/>
          </a:xfrm>
          <a:custGeom>
            <a:avLst/>
            <a:gdLst/>
            <a:ahLst/>
            <a:cxnLst/>
            <a:rect l="l" t="t" r="r" b="b"/>
            <a:pathLst>
              <a:path w="1982943" h="1155678">
                <a:moveTo>
                  <a:pt x="0" y="0"/>
                </a:moveTo>
                <a:lnTo>
                  <a:pt x="1982943" y="0"/>
                </a:lnTo>
                <a:lnTo>
                  <a:pt x="1982943" y="1155678"/>
                </a:lnTo>
                <a:lnTo>
                  <a:pt x="0" y="11556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p:cNvGrpSpPr>
            <a:grpSpLocks noChangeAspect="1"/>
          </p:cNvGrpSpPr>
          <p:nvPr/>
        </p:nvGrpSpPr>
        <p:grpSpPr>
          <a:xfrm>
            <a:off x="16421081" y="0"/>
            <a:ext cx="1777146" cy="1185234"/>
            <a:chOff x="0" y="0"/>
            <a:chExt cx="1777149" cy="1185240"/>
          </a:xfrm>
        </p:grpSpPr>
        <p:sp>
          <p:nvSpPr>
            <p:cNvPr id="7" name="Freeform 7"/>
            <p:cNvSpPr/>
            <p:nvPr/>
          </p:nvSpPr>
          <p:spPr>
            <a:xfrm>
              <a:off x="0" y="0"/>
              <a:ext cx="1777111" cy="1185291"/>
            </a:xfrm>
            <a:custGeom>
              <a:avLst/>
              <a:gdLst/>
              <a:ahLst/>
              <a:cxnLst/>
              <a:rect l="l" t="t" r="r" b="b"/>
              <a:pathLst>
                <a:path w="1777111" h="1185291">
                  <a:moveTo>
                    <a:pt x="0" y="0"/>
                  </a:moveTo>
                  <a:lnTo>
                    <a:pt x="0" y="1185291"/>
                  </a:lnTo>
                  <a:lnTo>
                    <a:pt x="1777111" y="1185291"/>
                  </a:lnTo>
                  <a:lnTo>
                    <a:pt x="1777111" y="0"/>
                  </a:lnTo>
                  <a:close/>
                </a:path>
              </a:pathLst>
            </a:custGeom>
            <a:solidFill>
              <a:srgbClr val="000000">
                <a:alpha val="0"/>
              </a:srgbClr>
            </a:solidFill>
          </p:spPr>
        </p:sp>
      </p:grpSp>
      <p:sp>
        <p:nvSpPr>
          <p:cNvPr id="8" name="TextBox 8"/>
          <p:cNvSpPr txBox="1"/>
          <p:nvPr/>
        </p:nvSpPr>
        <p:spPr>
          <a:xfrm>
            <a:off x="838200" y="2425812"/>
            <a:ext cx="6313126" cy="794641"/>
          </a:xfrm>
          <a:prstGeom prst="rect">
            <a:avLst/>
          </a:prstGeom>
        </p:spPr>
        <p:txBody>
          <a:bodyPr wrap="square" lIns="0" tIns="0" rIns="0" bIns="0" rtlCol="0" anchor="t">
            <a:spAutoFit/>
          </a:bodyPr>
          <a:lstStyle/>
          <a:p>
            <a:pPr algn="l">
              <a:lnSpc>
                <a:spcPts val="7186"/>
              </a:lnSpc>
            </a:pPr>
            <a:r>
              <a:rPr lang="en-US" sz="3500" dirty="0">
                <a:solidFill>
                  <a:srgbClr val="000000"/>
                </a:solidFill>
                <a:latin typeface="Arial"/>
                <a:ea typeface="Arial"/>
                <a:cs typeface="Arial"/>
                <a:sym typeface="Arial"/>
              </a:rPr>
              <a:t>Rede de </a:t>
            </a:r>
            <a:r>
              <a:rPr lang="en-US" sz="3500" dirty="0" err="1">
                <a:solidFill>
                  <a:srgbClr val="000000"/>
                </a:solidFill>
                <a:latin typeface="Arial"/>
                <a:ea typeface="Arial"/>
                <a:cs typeface="Arial"/>
                <a:sym typeface="Arial"/>
              </a:rPr>
              <a:t>Sensores</a:t>
            </a:r>
            <a:r>
              <a:rPr lang="en-US" sz="3500" dirty="0">
                <a:solidFill>
                  <a:srgbClr val="000000"/>
                </a:solidFill>
                <a:latin typeface="Arial"/>
                <a:ea typeface="Arial"/>
                <a:cs typeface="Arial"/>
                <a:sym typeface="Arial"/>
              </a:rPr>
              <a:t> Sem Fio</a:t>
            </a:r>
          </a:p>
        </p:txBody>
      </p:sp>
      <p:sp>
        <p:nvSpPr>
          <p:cNvPr id="9" name="TextBox 9"/>
          <p:cNvSpPr txBox="1"/>
          <p:nvPr/>
        </p:nvSpPr>
        <p:spPr>
          <a:xfrm>
            <a:off x="792685" y="4752997"/>
            <a:ext cx="9672866" cy="794641"/>
          </a:xfrm>
          <a:prstGeom prst="rect">
            <a:avLst/>
          </a:prstGeom>
        </p:spPr>
        <p:txBody>
          <a:bodyPr wrap="square" lIns="0" tIns="0" rIns="0" bIns="0" rtlCol="0" anchor="t">
            <a:spAutoFit/>
          </a:bodyPr>
          <a:lstStyle/>
          <a:p>
            <a:pPr algn="l">
              <a:lnSpc>
                <a:spcPts val="7186"/>
              </a:lnSpc>
            </a:pPr>
            <a:r>
              <a:rPr lang="en-US" sz="3500" dirty="0" err="1">
                <a:solidFill>
                  <a:srgbClr val="000000"/>
                </a:solidFill>
                <a:latin typeface="Arial"/>
                <a:ea typeface="Arial"/>
                <a:cs typeface="Arial"/>
                <a:sym typeface="Arial"/>
              </a:rPr>
              <a:t>Infraestrutura</a:t>
            </a:r>
            <a:r>
              <a:rPr lang="en-US" sz="3500" dirty="0">
                <a:solidFill>
                  <a:srgbClr val="000000"/>
                </a:solidFill>
                <a:latin typeface="Arial"/>
                <a:ea typeface="Arial"/>
                <a:cs typeface="Arial"/>
                <a:sym typeface="Arial"/>
              </a:rPr>
              <a:t> de Rede de </a:t>
            </a:r>
            <a:r>
              <a:rPr lang="en-US" sz="3500" dirty="0" err="1">
                <a:solidFill>
                  <a:srgbClr val="000000"/>
                </a:solidFill>
                <a:latin typeface="Arial"/>
                <a:ea typeface="Arial"/>
                <a:cs typeface="Arial"/>
                <a:sym typeface="Arial"/>
              </a:rPr>
              <a:t>Sensores</a:t>
            </a:r>
            <a:r>
              <a:rPr lang="en-US" sz="3500" dirty="0">
                <a:solidFill>
                  <a:srgbClr val="000000"/>
                </a:solidFill>
                <a:latin typeface="Arial"/>
                <a:ea typeface="Arial"/>
                <a:cs typeface="Arial"/>
                <a:sym typeface="Arial"/>
              </a:rPr>
              <a:t> Sem Fio</a:t>
            </a:r>
          </a:p>
        </p:txBody>
      </p:sp>
      <p:sp>
        <p:nvSpPr>
          <p:cNvPr id="11" name="TextBox 11"/>
          <p:cNvSpPr txBox="1"/>
          <p:nvPr/>
        </p:nvSpPr>
        <p:spPr>
          <a:xfrm>
            <a:off x="5648068" y="4938951"/>
            <a:ext cx="151247" cy="756285"/>
          </a:xfrm>
          <a:prstGeom prst="rect">
            <a:avLst/>
          </a:prstGeom>
        </p:spPr>
        <p:txBody>
          <a:bodyPr lIns="0" tIns="0" rIns="0" bIns="0" rtlCol="0" anchor="t">
            <a:spAutoFit/>
          </a:bodyPr>
          <a:lstStyle/>
          <a:p>
            <a:pPr algn="l">
              <a:lnSpc>
                <a:spcPts val="5686"/>
              </a:lnSpc>
            </a:pPr>
            <a:r>
              <a:rPr lang="en-US" sz="4200" b="1">
                <a:solidFill>
                  <a:srgbClr val="000000"/>
                </a:solidFill>
                <a:latin typeface="Arial Bold"/>
                <a:ea typeface="Arial Bold"/>
                <a:cs typeface="Arial Bold"/>
                <a:sym typeface="Arial Bold"/>
              </a:rPr>
              <a:t> </a:t>
            </a:r>
          </a:p>
        </p:txBody>
      </p:sp>
      <p:sp>
        <p:nvSpPr>
          <p:cNvPr id="13" name="TextBox 13"/>
          <p:cNvSpPr txBox="1"/>
          <p:nvPr/>
        </p:nvSpPr>
        <p:spPr>
          <a:xfrm>
            <a:off x="838200" y="1326921"/>
            <a:ext cx="5164998" cy="955518"/>
          </a:xfrm>
          <a:prstGeom prst="rect">
            <a:avLst/>
          </a:prstGeom>
        </p:spPr>
        <p:txBody>
          <a:bodyPr wrap="square" lIns="0" tIns="0" rIns="0" bIns="0" rtlCol="0" anchor="t">
            <a:spAutoFit/>
          </a:bodyPr>
          <a:lstStyle/>
          <a:p>
            <a:pPr algn="l">
              <a:lnSpc>
                <a:spcPts val="8433"/>
              </a:lnSpc>
            </a:pPr>
            <a:r>
              <a:rPr lang="en-US" sz="4200" b="1" dirty="0" err="1">
                <a:solidFill>
                  <a:srgbClr val="000000"/>
                </a:solidFill>
                <a:latin typeface="Arial Bold"/>
                <a:ea typeface="Arial Bold"/>
                <a:cs typeface="Arial Bold"/>
                <a:sym typeface="Arial Bold"/>
              </a:rPr>
              <a:t>Objecto</a:t>
            </a:r>
            <a:r>
              <a:rPr lang="en-US" sz="4200" b="1" dirty="0">
                <a:solidFill>
                  <a:srgbClr val="000000"/>
                </a:solidFill>
                <a:latin typeface="Arial Bold"/>
                <a:ea typeface="Arial Bold"/>
                <a:cs typeface="Arial Bold"/>
                <a:sym typeface="Arial Bold"/>
              </a:rPr>
              <a:t> de </a:t>
            </a:r>
            <a:r>
              <a:rPr lang="en-US" sz="4200" b="1" dirty="0" err="1">
                <a:solidFill>
                  <a:srgbClr val="000000"/>
                </a:solidFill>
                <a:latin typeface="Arial Bold"/>
                <a:ea typeface="Arial Bold"/>
                <a:cs typeface="Arial Bold"/>
                <a:sym typeface="Arial Bold"/>
              </a:rPr>
              <a:t>estudo</a:t>
            </a:r>
            <a:endParaRPr lang="en-US" sz="4200" b="1" dirty="0">
              <a:solidFill>
                <a:srgbClr val="000000"/>
              </a:solidFill>
              <a:latin typeface="Arial Bold"/>
              <a:ea typeface="Arial Bold"/>
              <a:cs typeface="Arial Bold"/>
              <a:sym typeface="Arial Bold"/>
            </a:endParaRPr>
          </a:p>
        </p:txBody>
      </p:sp>
      <p:sp>
        <p:nvSpPr>
          <p:cNvPr id="14" name="TextBox 14"/>
          <p:cNvSpPr txBox="1"/>
          <p:nvPr/>
        </p:nvSpPr>
        <p:spPr>
          <a:xfrm>
            <a:off x="769648" y="3610769"/>
            <a:ext cx="6313126" cy="955518"/>
          </a:xfrm>
          <a:prstGeom prst="rect">
            <a:avLst/>
          </a:prstGeom>
        </p:spPr>
        <p:txBody>
          <a:bodyPr wrap="square" lIns="0" tIns="0" rIns="0" bIns="0" rtlCol="0" anchor="t">
            <a:spAutoFit/>
          </a:bodyPr>
          <a:lstStyle/>
          <a:p>
            <a:pPr algn="l">
              <a:lnSpc>
                <a:spcPts val="8433"/>
              </a:lnSpc>
            </a:pPr>
            <a:r>
              <a:rPr lang="en-US" sz="4200" b="1" dirty="0">
                <a:solidFill>
                  <a:srgbClr val="000000"/>
                </a:solidFill>
                <a:latin typeface="Arial Bold"/>
                <a:ea typeface="Arial Bold"/>
                <a:cs typeface="Arial Bold"/>
                <a:sym typeface="Arial Bold"/>
              </a:rPr>
              <a:t>Campo de </a:t>
            </a:r>
            <a:r>
              <a:rPr lang="en-US" sz="4200" b="1" dirty="0" err="1">
                <a:solidFill>
                  <a:srgbClr val="000000"/>
                </a:solidFill>
                <a:latin typeface="Arial Bold"/>
                <a:ea typeface="Arial Bold"/>
                <a:cs typeface="Arial Bold"/>
                <a:sym typeface="Arial Bold"/>
              </a:rPr>
              <a:t>acção</a:t>
            </a:r>
            <a:endParaRPr lang="en-US" sz="4200" b="1" dirty="0">
              <a:solidFill>
                <a:srgbClr val="000000"/>
              </a:solidFill>
              <a:latin typeface="Arial Bold"/>
              <a:ea typeface="Arial Bold"/>
              <a:cs typeface="Arial Bold"/>
              <a:sym typeface="Arial Bo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D76BF-15F8-4BCB-E257-A0F2CC5651B8}"/>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24B6BF0D-A8EE-55C1-E504-8199C1ED18C1}"/>
              </a:ext>
            </a:extLst>
          </p:cNvPr>
          <p:cNvSpPr/>
          <p:nvPr/>
        </p:nvSpPr>
        <p:spPr>
          <a:xfrm>
            <a:off x="16355797" y="-63503"/>
            <a:ext cx="1995630" cy="1861204"/>
          </a:xfrm>
          <a:custGeom>
            <a:avLst/>
            <a:gdLst/>
            <a:ahLst/>
            <a:cxnLst/>
            <a:rect l="l" t="t" r="r" b="b"/>
            <a:pathLst>
              <a:path w="1995630" h="1861204">
                <a:moveTo>
                  <a:pt x="0" y="0"/>
                </a:moveTo>
                <a:lnTo>
                  <a:pt x="1995630" y="0"/>
                </a:lnTo>
                <a:lnTo>
                  <a:pt x="1995630" y="1861204"/>
                </a:lnTo>
                <a:lnTo>
                  <a:pt x="0" y="18612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E1D36A16-4120-C1B2-F0E6-50CF56B8D913}"/>
              </a:ext>
            </a:extLst>
          </p:cNvPr>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4"/>
            <a:stretch>
              <a:fillRect t="-4438" b="-4012"/>
            </a:stretch>
          </a:blipFill>
        </p:spPr>
      </p:sp>
      <p:sp>
        <p:nvSpPr>
          <p:cNvPr id="5" name="Freeform 5">
            <a:extLst>
              <a:ext uri="{FF2B5EF4-FFF2-40B4-BE49-F238E27FC236}">
                <a16:creationId xmlns:a16="http://schemas.microsoft.com/office/drawing/2014/main" id="{7B80730E-2F7D-508C-4C76-0B8F49EF9057}"/>
              </a:ext>
            </a:extLst>
          </p:cNvPr>
          <p:cNvSpPr/>
          <p:nvPr/>
        </p:nvSpPr>
        <p:spPr>
          <a:xfrm>
            <a:off x="1083955" y="9194825"/>
            <a:ext cx="1982943" cy="1155678"/>
          </a:xfrm>
          <a:custGeom>
            <a:avLst/>
            <a:gdLst/>
            <a:ahLst/>
            <a:cxnLst/>
            <a:rect l="l" t="t" r="r" b="b"/>
            <a:pathLst>
              <a:path w="1982943" h="1155678">
                <a:moveTo>
                  <a:pt x="0" y="0"/>
                </a:moveTo>
                <a:lnTo>
                  <a:pt x="1982943" y="0"/>
                </a:lnTo>
                <a:lnTo>
                  <a:pt x="1982943" y="1155678"/>
                </a:lnTo>
                <a:lnTo>
                  <a:pt x="0" y="115567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 name="Group 6">
            <a:extLst>
              <a:ext uri="{FF2B5EF4-FFF2-40B4-BE49-F238E27FC236}">
                <a16:creationId xmlns:a16="http://schemas.microsoft.com/office/drawing/2014/main" id="{5DDDDE37-DAED-4B40-8A87-FD8DC39D4E0A}"/>
              </a:ext>
            </a:extLst>
          </p:cNvPr>
          <p:cNvGrpSpPr>
            <a:grpSpLocks noChangeAspect="1"/>
          </p:cNvGrpSpPr>
          <p:nvPr/>
        </p:nvGrpSpPr>
        <p:grpSpPr>
          <a:xfrm>
            <a:off x="16421081" y="0"/>
            <a:ext cx="1777146" cy="1185234"/>
            <a:chOff x="0" y="0"/>
            <a:chExt cx="1777149" cy="1185240"/>
          </a:xfrm>
        </p:grpSpPr>
        <p:sp>
          <p:nvSpPr>
            <p:cNvPr id="7" name="Freeform 7">
              <a:extLst>
                <a:ext uri="{FF2B5EF4-FFF2-40B4-BE49-F238E27FC236}">
                  <a16:creationId xmlns:a16="http://schemas.microsoft.com/office/drawing/2014/main" id="{BA720908-221E-55AE-235A-970887886501}"/>
                </a:ext>
              </a:extLst>
            </p:cNvPr>
            <p:cNvSpPr/>
            <p:nvPr/>
          </p:nvSpPr>
          <p:spPr>
            <a:xfrm>
              <a:off x="0" y="0"/>
              <a:ext cx="1777111" cy="1185291"/>
            </a:xfrm>
            <a:custGeom>
              <a:avLst/>
              <a:gdLst/>
              <a:ahLst/>
              <a:cxnLst/>
              <a:rect l="l" t="t" r="r" b="b"/>
              <a:pathLst>
                <a:path w="1777111" h="1185291">
                  <a:moveTo>
                    <a:pt x="0" y="0"/>
                  </a:moveTo>
                  <a:lnTo>
                    <a:pt x="0" y="1185291"/>
                  </a:lnTo>
                  <a:lnTo>
                    <a:pt x="1777111" y="1185291"/>
                  </a:lnTo>
                  <a:lnTo>
                    <a:pt x="1777111" y="0"/>
                  </a:lnTo>
                  <a:close/>
                </a:path>
              </a:pathLst>
            </a:custGeom>
            <a:solidFill>
              <a:srgbClr val="000000">
                <a:alpha val="0"/>
              </a:srgbClr>
            </a:solidFill>
          </p:spPr>
        </p:sp>
      </p:grpSp>
      <p:sp>
        <p:nvSpPr>
          <p:cNvPr id="11" name="TextBox 11">
            <a:extLst>
              <a:ext uri="{FF2B5EF4-FFF2-40B4-BE49-F238E27FC236}">
                <a16:creationId xmlns:a16="http://schemas.microsoft.com/office/drawing/2014/main" id="{12BD6B18-1DD8-781D-38E0-E32DA9A0982F}"/>
              </a:ext>
            </a:extLst>
          </p:cNvPr>
          <p:cNvSpPr txBox="1"/>
          <p:nvPr/>
        </p:nvSpPr>
        <p:spPr>
          <a:xfrm>
            <a:off x="5648068" y="4938951"/>
            <a:ext cx="151247" cy="756285"/>
          </a:xfrm>
          <a:prstGeom prst="rect">
            <a:avLst/>
          </a:prstGeom>
        </p:spPr>
        <p:txBody>
          <a:bodyPr lIns="0" tIns="0" rIns="0" bIns="0" rtlCol="0" anchor="t">
            <a:spAutoFit/>
          </a:bodyPr>
          <a:lstStyle/>
          <a:p>
            <a:pPr algn="l">
              <a:lnSpc>
                <a:spcPts val="5686"/>
              </a:lnSpc>
            </a:pPr>
            <a:r>
              <a:rPr lang="en-US" sz="4200" b="1">
                <a:solidFill>
                  <a:srgbClr val="000000"/>
                </a:solidFill>
                <a:latin typeface="Arial Bold"/>
                <a:ea typeface="Arial Bold"/>
                <a:cs typeface="Arial Bold"/>
                <a:sym typeface="Arial Bold"/>
              </a:rPr>
              <a:t> </a:t>
            </a:r>
          </a:p>
        </p:txBody>
      </p:sp>
      <p:sp>
        <p:nvSpPr>
          <p:cNvPr id="12" name="TextBox 12">
            <a:extLst>
              <a:ext uri="{FF2B5EF4-FFF2-40B4-BE49-F238E27FC236}">
                <a16:creationId xmlns:a16="http://schemas.microsoft.com/office/drawing/2014/main" id="{3C268EF0-7692-64D9-3E65-EDE174B75D92}"/>
              </a:ext>
            </a:extLst>
          </p:cNvPr>
          <p:cNvSpPr txBox="1"/>
          <p:nvPr/>
        </p:nvSpPr>
        <p:spPr>
          <a:xfrm>
            <a:off x="779121" y="3605493"/>
            <a:ext cx="17188291" cy="5721246"/>
          </a:xfrm>
          <a:prstGeom prst="rect">
            <a:avLst/>
          </a:prstGeom>
        </p:spPr>
        <p:txBody>
          <a:bodyPr lIns="0" tIns="0" rIns="0" bIns="0" rtlCol="0" anchor="t">
            <a:spAutoFit/>
          </a:bodyPr>
          <a:lstStyle/>
          <a:p>
            <a:pPr marL="342900" lvl="0" indent="-342900" algn="just">
              <a:lnSpc>
                <a:spcPct val="150000"/>
              </a:lnSpc>
              <a:buFont typeface="Wingdings" panose="05000000000000000000" pitchFamily="2" charset="2"/>
              <a:buChar char=""/>
            </a:pP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Analisar os conceitos e tecnologias sobre RSSF aplicadas em Monitoramento Ambiental para prevenção de incêndios florestais; </a:t>
            </a:r>
            <a:endParaRPr lang="pt-PT" sz="3600" dirty="0">
              <a:solidFill>
                <a:srgbClr val="000000"/>
              </a:solidFill>
              <a:effectLst/>
              <a:latin typeface="Bookman Old Style" panose="02050604050505020204" pitchFamily="18" charset="0"/>
              <a:ea typeface="Calibri" panose="020F0502020204030204" pitchFamily="34" charset="0"/>
              <a:cs typeface="Bookman Old Style" panose="02050604050505020204" pitchFamily="18" charset="0"/>
            </a:endParaRPr>
          </a:p>
          <a:p>
            <a:pPr marL="342900" lvl="0" indent="-342900" algn="just">
              <a:lnSpc>
                <a:spcPct val="150000"/>
              </a:lnSpc>
              <a:buFont typeface="Wingdings" panose="05000000000000000000" pitchFamily="2" charset="2"/>
              <a:buChar char=""/>
            </a:pP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Identificar as características ambientais do parque e as principais variáveis aplicadas ao monitoramento ambiental;</a:t>
            </a:r>
            <a:endParaRPr lang="pt-PT" sz="3600" dirty="0">
              <a:solidFill>
                <a:srgbClr val="000000"/>
              </a:solidFill>
              <a:effectLst/>
              <a:latin typeface="Bookman Old Style" panose="02050604050505020204" pitchFamily="18" charset="0"/>
              <a:ea typeface="Calibri" panose="020F0502020204030204" pitchFamily="34" charset="0"/>
              <a:cs typeface="Bookman Old Style" panose="02050604050505020204" pitchFamily="18" charset="0"/>
            </a:endParaRPr>
          </a:p>
          <a:p>
            <a:pPr marL="342900" lvl="0" indent="-342900" algn="just">
              <a:lnSpc>
                <a:spcPct val="150000"/>
              </a:lnSpc>
              <a:buFont typeface="Wingdings" panose="05000000000000000000" pitchFamily="2" charset="2"/>
              <a:buChar char=""/>
            </a:pPr>
            <a:r>
              <a:rPr lang="pt-PT" sz="3600" dirty="0" err="1">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Projectar</a:t>
            </a: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 uma </a:t>
            </a:r>
            <a:r>
              <a:rPr lang="pt-PT" sz="3600" dirty="0" err="1">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arquitectura</a:t>
            </a: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 </a:t>
            </a:r>
            <a:r>
              <a:rPr lang="pt-PT" sz="3600" dirty="0">
                <a:solidFill>
                  <a:srgbClr val="000000"/>
                </a:solidFill>
                <a:latin typeface="Arial" panose="020B0604020202020204" pitchFamily="34" charset="0"/>
                <a:ea typeface="Calibri" panose="020F0502020204030204" pitchFamily="34" charset="0"/>
                <a:cs typeface="Bookman Old Style" panose="02050604050505020204" pitchFamily="18" charset="0"/>
              </a:rPr>
              <a:t>de RSSF adaptada </a:t>
            </a: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à realidade da região;</a:t>
            </a:r>
            <a:endParaRPr lang="pt-PT" sz="3600" dirty="0">
              <a:solidFill>
                <a:srgbClr val="000000"/>
              </a:solidFill>
              <a:effectLst/>
              <a:latin typeface="Bookman Old Style" panose="02050604050505020204" pitchFamily="18" charset="0"/>
              <a:ea typeface="Calibri" panose="020F0502020204030204" pitchFamily="34" charset="0"/>
              <a:cs typeface="Bookman Old Style" panose="02050604050505020204" pitchFamily="18" charset="0"/>
            </a:endParaRPr>
          </a:p>
          <a:p>
            <a:pPr marL="342900" lvl="0" indent="-342900" algn="just">
              <a:lnSpc>
                <a:spcPct val="150000"/>
              </a:lnSpc>
              <a:buFont typeface="Wingdings" panose="05000000000000000000" pitchFamily="2" charset="2"/>
              <a:buChar char=""/>
            </a:pP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Integrar os dados </a:t>
            </a:r>
            <a:r>
              <a:rPr lang="pt-PT" sz="3600" dirty="0" err="1">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colectados</a:t>
            </a:r>
            <a:r>
              <a:rPr lang="pt-PT" sz="3600" dirty="0">
                <a:solidFill>
                  <a:srgbClr val="000000"/>
                </a:solidFill>
                <a:latin typeface="Arial" panose="020B0604020202020204" pitchFamily="34" charset="0"/>
                <a:ea typeface="Calibri" panose="020F0502020204030204" pitchFamily="34" charset="0"/>
                <a:cs typeface="Bookman Old Style" panose="02050604050505020204" pitchFamily="18" charset="0"/>
              </a:rPr>
              <a:t> </a:t>
            </a: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com uma plataforma de visualização em tempo real;</a:t>
            </a:r>
            <a:endParaRPr lang="pt-PT" sz="3600" dirty="0">
              <a:solidFill>
                <a:srgbClr val="000000"/>
              </a:solidFill>
              <a:effectLst/>
              <a:latin typeface="Bookman Old Style" panose="02050604050505020204" pitchFamily="18" charset="0"/>
              <a:ea typeface="Calibri" panose="020F0502020204030204" pitchFamily="34" charset="0"/>
              <a:cs typeface="Bookman Old Style" panose="02050604050505020204" pitchFamily="18" charset="0"/>
            </a:endParaRPr>
          </a:p>
          <a:p>
            <a:pPr marL="342900" lvl="0" indent="-342900" algn="just">
              <a:lnSpc>
                <a:spcPct val="150000"/>
              </a:lnSpc>
              <a:buFont typeface="Wingdings" panose="05000000000000000000" pitchFamily="2" charset="2"/>
              <a:buChar char=""/>
            </a:pPr>
            <a:r>
              <a:rPr lang="pt-PT" sz="3600" dirty="0">
                <a:solidFill>
                  <a:srgbClr val="000000"/>
                </a:solidFill>
                <a:effectLst/>
                <a:latin typeface="Arial" panose="020B0604020202020204" pitchFamily="34" charset="0"/>
                <a:ea typeface="Calibri" panose="020F0502020204030204" pitchFamily="34" charset="0"/>
                <a:cs typeface="Bookman Old Style" panose="02050604050505020204" pitchFamily="18" charset="0"/>
              </a:rPr>
              <a:t>Avaliar a viabilidade e o desempenho da arquitetura proposta.</a:t>
            </a:r>
            <a:endParaRPr lang="pt-PT" sz="3600" dirty="0">
              <a:solidFill>
                <a:srgbClr val="000000"/>
              </a:solidFill>
              <a:effectLst/>
              <a:latin typeface="Bookman Old Style" panose="02050604050505020204" pitchFamily="18" charset="0"/>
              <a:ea typeface="Calibri" panose="020F0502020204030204" pitchFamily="34" charset="0"/>
              <a:cs typeface="Bookman Old Style" panose="02050604050505020204" pitchFamily="18" charset="0"/>
            </a:endParaRPr>
          </a:p>
        </p:txBody>
      </p:sp>
      <p:sp>
        <p:nvSpPr>
          <p:cNvPr id="16" name="TextBox 16">
            <a:extLst>
              <a:ext uri="{FF2B5EF4-FFF2-40B4-BE49-F238E27FC236}">
                <a16:creationId xmlns:a16="http://schemas.microsoft.com/office/drawing/2014/main" id="{05AFE3E5-6D37-1FE1-2958-F89A3661A2A2}"/>
              </a:ext>
            </a:extLst>
          </p:cNvPr>
          <p:cNvSpPr txBox="1"/>
          <p:nvPr/>
        </p:nvSpPr>
        <p:spPr>
          <a:xfrm>
            <a:off x="801819" y="2531381"/>
            <a:ext cx="6345545" cy="1157496"/>
          </a:xfrm>
          <a:prstGeom prst="rect">
            <a:avLst/>
          </a:prstGeom>
        </p:spPr>
        <p:txBody>
          <a:bodyPr wrap="square" lIns="0" tIns="0" rIns="0" bIns="0" rtlCol="0" anchor="t">
            <a:spAutoFit/>
          </a:bodyPr>
          <a:lstStyle/>
          <a:p>
            <a:pPr algn="l">
              <a:lnSpc>
                <a:spcPts val="10500"/>
              </a:lnSpc>
            </a:pPr>
            <a:r>
              <a:rPr lang="en-US" sz="4200" b="1" dirty="0" err="1">
                <a:solidFill>
                  <a:srgbClr val="000000"/>
                </a:solidFill>
                <a:latin typeface="Arial Bold"/>
                <a:ea typeface="Arial Bold"/>
                <a:cs typeface="Arial Bold"/>
                <a:sym typeface="Arial Bold"/>
              </a:rPr>
              <a:t>Objectivos</a:t>
            </a:r>
            <a:r>
              <a:rPr lang="en-US" sz="4200" b="1" dirty="0">
                <a:solidFill>
                  <a:srgbClr val="000000"/>
                </a:solidFill>
                <a:latin typeface="Arial Bold"/>
                <a:ea typeface="Arial Bold"/>
                <a:cs typeface="Arial Bold"/>
                <a:sym typeface="Arial Bold"/>
              </a:rPr>
              <a:t> </a:t>
            </a:r>
            <a:r>
              <a:rPr lang="en-US" sz="4200" b="1" dirty="0" err="1">
                <a:solidFill>
                  <a:srgbClr val="000000"/>
                </a:solidFill>
                <a:latin typeface="Arial Bold"/>
                <a:ea typeface="Arial Bold"/>
                <a:cs typeface="Arial Bold"/>
                <a:sym typeface="Arial Bold"/>
              </a:rPr>
              <a:t>específicos</a:t>
            </a:r>
            <a:endParaRPr lang="en-US" sz="4200" b="1" dirty="0">
              <a:solidFill>
                <a:srgbClr val="000000"/>
              </a:solidFill>
              <a:latin typeface="Arial Bold"/>
              <a:ea typeface="Arial Bold"/>
              <a:cs typeface="Arial Bold"/>
              <a:sym typeface="Arial Bold"/>
            </a:endParaRPr>
          </a:p>
        </p:txBody>
      </p:sp>
      <p:sp>
        <p:nvSpPr>
          <p:cNvPr id="15" name="TextBox 15"/>
          <p:cNvSpPr txBox="1"/>
          <p:nvPr/>
        </p:nvSpPr>
        <p:spPr>
          <a:xfrm>
            <a:off x="807925" y="670414"/>
            <a:ext cx="4517946" cy="955518"/>
          </a:xfrm>
          <a:prstGeom prst="rect">
            <a:avLst/>
          </a:prstGeom>
        </p:spPr>
        <p:txBody>
          <a:bodyPr wrap="square" lIns="0" tIns="0" rIns="0" bIns="0" rtlCol="0" anchor="t">
            <a:spAutoFit/>
          </a:bodyPr>
          <a:lstStyle/>
          <a:p>
            <a:pPr algn="l">
              <a:lnSpc>
                <a:spcPts val="8433"/>
              </a:lnSpc>
            </a:pPr>
            <a:r>
              <a:rPr lang="en-US" sz="4200" b="1" dirty="0" err="1">
                <a:solidFill>
                  <a:srgbClr val="000000"/>
                </a:solidFill>
                <a:latin typeface="Arial Bold"/>
                <a:ea typeface="Arial Bold"/>
                <a:cs typeface="Arial Bold"/>
                <a:sym typeface="Arial Bold"/>
              </a:rPr>
              <a:t>Objectivo</a:t>
            </a:r>
            <a:r>
              <a:rPr lang="en-US" sz="4200" b="1" dirty="0">
                <a:solidFill>
                  <a:srgbClr val="000000"/>
                </a:solidFill>
                <a:latin typeface="Arial Bold"/>
                <a:ea typeface="Arial Bold"/>
                <a:cs typeface="Arial Bold"/>
                <a:sym typeface="Arial Bold"/>
              </a:rPr>
              <a:t> </a:t>
            </a:r>
            <a:r>
              <a:rPr lang="en-US" sz="4200" b="1" dirty="0" err="1">
                <a:solidFill>
                  <a:srgbClr val="000000"/>
                </a:solidFill>
                <a:latin typeface="Arial Bold"/>
                <a:ea typeface="Arial Bold"/>
                <a:cs typeface="Arial Bold"/>
                <a:sym typeface="Arial Bold"/>
              </a:rPr>
              <a:t>geral</a:t>
            </a:r>
            <a:endParaRPr lang="en-US" sz="4200" b="1" dirty="0">
              <a:solidFill>
                <a:srgbClr val="000000"/>
              </a:solidFill>
              <a:latin typeface="Arial Bold"/>
              <a:ea typeface="Arial Bold"/>
              <a:cs typeface="Arial Bold"/>
              <a:sym typeface="Arial Bold"/>
            </a:endParaRPr>
          </a:p>
        </p:txBody>
      </p:sp>
      <p:sp>
        <p:nvSpPr>
          <p:cNvPr id="10" name="TextBox 10"/>
          <p:cNvSpPr txBox="1"/>
          <p:nvPr/>
        </p:nvSpPr>
        <p:spPr>
          <a:xfrm>
            <a:off x="801819" y="1407026"/>
            <a:ext cx="17188272" cy="1515992"/>
          </a:xfrm>
          <a:prstGeom prst="rect">
            <a:avLst/>
          </a:prstGeom>
        </p:spPr>
        <p:txBody>
          <a:bodyPr lIns="0" tIns="0" rIns="0" bIns="0" rtlCol="0" anchor="t">
            <a:spAutoFit/>
          </a:bodyPr>
          <a:lstStyle/>
          <a:p>
            <a:pPr>
              <a:lnSpc>
                <a:spcPct val="150000"/>
              </a:lnSpc>
            </a:pPr>
            <a:r>
              <a:rPr lang="pt-PT" sz="3500" dirty="0">
                <a:latin typeface="Arial "/>
              </a:rPr>
              <a:t>Propor monitoramento de variáveis ambientais na região em estudo por meio de uma RSSF para prevenção de incêndios florestais.</a:t>
            </a:r>
          </a:p>
        </p:txBody>
      </p:sp>
    </p:spTree>
    <p:extLst>
      <p:ext uri="{BB962C8B-B14F-4D97-AF65-F5344CB8AC3E}">
        <p14:creationId xmlns:p14="http://schemas.microsoft.com/office/powerpoint/2010/main" val="1671120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261440" y="458791"/>
            <a:ext cx="10434127"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p:cNvGrpSpPr>
            <a:grpSpLocks noChangeAspect="1"/>
          </p:cNvGrpSpPr>
          <p:nvPr/>
        </p:nvGrpSpPr>
        <p:grpSpPr>
          <a:xfrm>
            <a:off x="1309897" y="9258300"/>
            <a:ext cx="1877854" cy="1028700"/>
            <a:chOff x="0" y="0"/>
            <a:chExt cx="1877847" cy="1028700"/>
          </a:xfrm>
        </p:grpSpPr>
        <p:sp>
          <p:nvSpPr>
            <p:cNvPr id="9" name="Freeform 9"/>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0" name="Group 10"/>
          <p:cNvGrpSpPr>
            <a:grpSpLocks noChangeAspect="1"/>
          </p:cNvGrpSpPr>
          <p:nvPr/>
        </p:nvGrpSpPr>
        <p:grpSpPr>
          <a:xfrm>
            <a:off x="16320373" y="0"/>
            <a:ext cx="1877854" cy="1369247"/>
            <a:chOff x="0" y="0"/>
            <a:chExt cx="1877847" cy="1369250"/>
          </a:xfrm>
        </p:grpSpPr>
        <p:sp>
          <p:nvSpPr>
            <p:cNvPr id="11" name="Freeform 11"/>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2" name="TextBox 12"/>
          <p:cNvSpPr txBox="1"/>
          <p:nvPr/>
        </p:nvSpPr>
        <p:spPr>
          <a:xfrm>
            <a:off x="549811" y="2146714"/>
            <a:ext cx="17188377" cy="1615827"/>
          </a:xfrm>
          <a:prstGeom prst="rect">
            <a:avLst/>
          </a:prstGeom>
        </p:spPr>
        <p:txBody>
          <a:bodyPr lIns="0" tIns="0" rIns="0" bIns="0" rtlCol="0" anchor="t">
            <a:spAutoFit/>
          </a:bodyPr>
          <a:lstStyle/>
          <a:p>
            <a:pPr algn="just"/>
            <a:r>
              <a:rPr lang="pt-PT" sz="3500" dirty="0">
                <a:latin typeface="Arial" panose="020B0604020202020204" pitchFamily="34" charset="0"/>
                <a:cs typeface="Arial" panose="020B0604020202020204" pitchFamily="34" charset="0"/>
              </a:rPr>
              <a:t>Monitoramento ambiental consiste na </a:t>
            </a:r>
            <a:r>
              <a:rPr lang="pt-PT" sz="3500" dirty="0" err="1">
                <a:latin typeface="Arial" panose="020B0604020202020204" pitchFamily="34" charset="0"/>
                <a:cs typeface="Arial" panose="020B0604020202020204" pitchFamily="34" charset="0"/>
              </a:rPr>
              <a:t>colecta</a:t>
            </a:r>
            <a:r>
              <a:rPr lang="pt-PT" sz="3500" dirty="0">
                <a:latin typeface="Arial" panose="020B0604020202020204" pitchFamily="34" charset="0"/>
                <a:cs typeface="Arial" panose="020B0604020202020204" pitchFamily="34" charset="0"/>
              </a:rPr>
              <a:t> e estudo sistemático de variáveis ambientais com o </a:t>
            </a:r>
            <a:r>
              <a:rPr lang="pt-PT" sz="3500" dirty="0" err="1">
                <a:latin typeface="Arial" panose="020B0604020202020204" pitchFamily="34" charset="0"/>
                <a:cs typeface="Arial" panose="020B0604020202020204" pitchFamily="34" charset="0"/>
              </a:rPr>
              <a:t>objectivo</a:t>
            </a:r>
            <a:r>
              <a:rPr lang="pt-PT" sz="3500" dirty="0">
                <a:latin typeface="Arial" panose="020B0604020202020204" pitchFamily="34" charset="0"/>
                <a:cs typeface="Arial" panose="020B0604020202020204" pitchFamily="34" charset="0"/>
              </a:rPr>
              <a:t> de identificar e avaliar as condições dos recursos naturais e tendências a longo prazo.</a:t>
            </a:r>
          </a:p>
        </p:txBody>
      </p:sp>
      <p:sp>
        <p:nvSpPr>
          <p:cNvPr id="14" name="TextBox 14"/>
          <p:cNvSpPr txBox="1"/>
          <p:nvPr/>
        </p:nvSpPr>
        <p:spPr>
          <a:xfrm>
            <a:off x="4321080" y="487793"/>
            <a:ext cx="10434127"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 : Fundamentação Teórica</a:t>
            </a:r>
          </a:p>
        </p:txBody>
      </p:sp>
      <p:sp>
        <p:nvSpPr>
          <p:cNvPr id="15" name="TextBox 15"/>
          <p:cNvSpPr txBox="1"/>
          <p:nvPr/>
        </p:nvSpPr>
        <p:spPr>
          <a:xfrm>
            <a:off x="571129" y="1491784"/>
            <a:ext cx="6804517" cy="611834"/>
          </a:xfrm>
          <a:prstGeom prst="rect">
            <a:avLst/>
          </a:prstGeom>
        </p:spPr>
        <p:txBody>
          <a:bodyPr wrap="square" lIns="0" tIns="0" rIns="0" bIns="0" rtlCol="0" anchor="t">
            <a:spAutoFit/>
          </a:bodyPr>
          <a:lstStyle/>
          <a:p>
            <a:pPr algn="l">
              <a:lnSpc>
                <a:spcPts val="4899"/>
              </a:lnSpc>
            </a:pPr>
            <a:r>
              <a:rPr lang="en-US" sz="4000" b="1" dirty="0" err="1">
                <a:solidFill>
                  <a:srgbClr val="000000"/>
                </a:solidFill>
                <a:latin typeface="Arial Bold"/>
                <a:ea typeface="Arial Bold"/>
                <a:cs typeface="Arial Bold"/>
                <a:sym typeface="Arial Bold"/>
              </a:rPr>
              <a:t>Monitoramento</a:t>
            </a:r>
            <a:r>
              <a:rPr lang="en-US" sz="4000" b="1" dirty="0">
                <a:solidFill>
                  <a:srgbClr val="000000"/>
                </a:solidFill>
                <a:latin typeface="Arial Bold"/>
                <a:ea typeface="Arial Bold"/>
                <a:cs typeface="Arial Bold"/>
                <a:sym typeface="Arial Bold"/>
              </a:rPr>
              <a:t> Ambiental</a:t>
            </a:r>
          </a:p>
        </p:txBody>
      </p:sp>
      <p:sp>
        <p:nvSpPr>
          <p:cNvPr id="2" name="TextBox 14"/>
          <p:cNvSpPr txBox="1"/>
          <p:nvPr/>
        </p:nvSpPr>
        <p:spPr>
          <a:xfrm>
            <a:off x="528546" y="3779486"/>
            <a:ext cx="7056634" cy="611834"/>
          </a:xfrm>
          <a:prstGeom prst="rect">
            <a:avLst/>
          </a:prstGeom>
        </p:spPr>
        <p:txBody>
          <a:bodyPr wrap="square" lIns="0" tIns="0" rIns="0" bIns="0" rtlCol="0" anchor="t">
            <a:spAutoFit/>
          </a:bodyPr>
          <a:lstStyle/>
          <a:p>
            <a:pPr algn="l">
              <a:lnSpc>
                <a:spcPts val="4899"/>
              </a:lnSpc>
            </a:pPr>
            <a:r>
              <a:rPr lang="en-US" sz="4000" b="1" dirty="0">
                <a:solidFill>
                  <a:srgbClr val="000000"/>
                </a:solidFill>
                <a:latin typeface="Arial Bold"/>
                <a:ea typeface="Arial Bold"/>
                <a:cs typeface="Arial Bold"/>
                <a:sym typeface="Arial Bold"/>
              </a:rPr>
              <a:t>Rede de </a:t>
            </a:r>
            <a:r>
              <a:rPr lang="en-US" sz="4000" b="1" dirty="0" err="1">
                <a:solidFill>
                  <a:srgbClr val="000000"/>
                </a:solidFill>
                <a:latin typeface="Arial Bold"/>
                <a:ea typeface="Arial Bold"/>
                <a:cs typeface="Arial Bold"/>
                <a:sym typeface="Arial Bold"/>
              </a:rPr>
              <a:t>Sensores</a:t>
            </a:r>
            <a:r>
              <a:rPr lang="en-US" sz="4000" b="1" dirty="0">
                <a:solidFill>
                  <a:srgbClr val="000000"/>
                </a:solidFill>
                <a:latin typeface="Arial Bold"/>
                <a:ea typeface="Arial Bold"/>
                <a:cs typeface="Arial Bold"/>
                <a:sym typeface="Arial Bold"/>
              </a:rPr>
              <a:t> Sem Fio</a:t>
            </a:r>
          </a:p>
        </p:txBody>
      </p:sp>
      <p:sp>
        <p:nvSpPr>
          <p:cNvPr id="13" name="TextBox 12"/>
          <p:cNvSpPr txBox="1"/>
          <p:nvPr/>
        </p:nvSpPr>
        <p:spPr>
          <a:xfrm>
            <a:off x="574673" y="4437505"/>
            <a:ext cx="17188367" cy="2693045"/>
          </a:xfrm>
          <a:prstGeom prst="rect">
            <a:avLst/>
          </a:prstGeom>
        </p:spPr>
        <p:txBody>
          <a:bodyPr lIns="0" tIns="0" rIns="0" bIns="0" rtlCol="0" anchor="t">
            <a:spAutoFit/>
          </a:bodyPr>
          <a:lstStyle/>
          <a:p>
            <a:pPr algn="just"/>
            <a:r>
              <a:rPr lang="en-US" sz="3500" dirty="0">
                <a:solidFill>
                  <a:srgbClr val="000000"/>
                </a:solidFill>
                <a:latin typeface="Arial" panose="020B0604020202020204" pitchFamily="34" charset="0"/>
                <a:ea typeface="Arial"/>
                <a:cs typeface="Arial" panose="020B0604020202020204" pitchFamily="34" charset="0"/>
                <a:sym typeface="Arial"/>
              </a:rPr>
              <a:t>RSSF </a:t>
            </a:r>
            <a:r>
              <a:rPr lang="pt-PT" sz="3500" dirty="0">
                <a:latin typeface="Arial" panose="020B0604020202020204" pitchFamily="34" charset="0"/>
                <a:cs typeface="Arial" panose="020B0604020202020204" pitchFamily="34" charset="0"/>
              </a:rPr>
              <a:t>consiste numa infraestrutura formada por vários nós sensores que se comunicam através de protocolos de comunicação no meio sem fio. Os nós sensores são capazes de coletar dados de variáveis ambientais e cooperam entre </a:t>
            </a:r>
            <a:r>
              <a:rPr lang="pt-PT" sz="3500" dirty="0" err="1">
                <a:latin typeface="Arial" panose="020B0604020202020204" pitchFamily="34" charset="0"/>
                <a:cs typeface="Arial" panose="020B0604020202020204" pitchFamily="34" charset="0"/>
              </a:rPr>
              <a:t>sí</a:t>
            </a:r>
            <a:r>
              <a:rPr lang="pt-PT" sz="3500" dirty="0">
                <a:latin typeface="Arial" panose="020B0604020202020204" pitchFamily="34" charset="0"/>
                <a:cs typeface="Arial" panose="020B0604020202020204" pitchFamily="34" charset="0"/>
              </a:rPr>
              <a:t> para a entrega confiável dos dados ao destino final.</a:t>
            </a:r>
          </a:p>
          <a:p>
            <a:pPr algn="just"/>
            <a:r>
              <a:rPr lang="pt-PT" sz="3500" dirty="0">
                <a:latin typeface="Arial" panose="020B0604020202020204" pitchFamily="34" charset="0"/>
                <a:cs typeface="Arial" panose="020B0604020202020204" pitchFamily="34" charset="0"/>
              </a:rPr>
              <a:t>As RSSF apresentam uma variedade restrições técnicas, tais como:</a:t>
            </a:r>
          </a:p>
        </p:txBody>
      </p:sp>
      <p:sp>
        <p:nvSpPr>
          <p:cNvPr id="17" name="CaixaDeTexto 16">
            <a:extLst>
              <a:ext uri="{FF2B5EF4-FFF2-40B4-BE49-F238E27FC236}">
                <a16:creationId xmlns:a16="http://schemas.microsoft.com/office/drawing/2014/main" id="{22E12FCD-A222-A272-B385-9FA74D9E8EA0}"/>
              </a:ext>
            </a:extLst>
          </p:cNvPr>
          <p:cNvSpPr txBox="1"/>
          <p:nvPr/>
        </p:nvSpPr>
        <p:spPr>
          <a:xfrm>
            <a:off x="2590800" y="7263123"/>
            <a:ext cx="13258800" cy="3323987"/>
          </a:xfrm>
          <a:prstGeom prst="rect">
            <a:avLst/>
          </a:prstGeom>
          <a:noFill/>
        </p:spPr>
        <p:txBody>
          <a:bodyPr wrap="square" numCol="2">
            <a:spAutoFit/>
          </a:bodyPr>
          <a:lstStyle/>
          <a:p>
            <a:pPr marL="914400" lvl="1" indent="-457200" algn="just">
              <a:buFont typeface="Wingdings" panose="05000000000000000000" pitchFamily="2" charset="2"/>
              <a:buChar char="ü"/>
            </a:pPr>
            <a:r>
              <a:rPr lang="pt-PT" sz="3500" b="1" dirty="0">
                <a:latin typeface="Arial" panose="020B0604020202020204" pitchFamily="34" charset="0"/>
                <a:cs typeface="Arial" panose="020B0604020202020204" pitchFamily="34" charset="0"/>
              </a:rPr>
              <a:t>Consumo de energia</a:t>
            </a:r>
            <a:r>
              <a:rPr lang="pt-PT" sz="3500" dirty="0">
                <a:latin typeface="Arial" panose="020B0604020202020204" pitchFamily="34" charset="0"/>
                <a:cs typeface="Arial" panose="020B0604020202020204" pitchFamily="34" charset="0"/>
              </a:rPr>
              <a:t>; </a:t>
            </a:r>
          </a:p>
          <a:p>
            <a:pPr marL="914400" lvl="1" indent="-457200" algn="just">
              <a:buFont typeface="Wingdings" panose="05000000000000000000" pitchFamily="2" charset="2"/>
              <a:buChar char="ü"/>
            </a:pPr>
            <a:r>
              <a:rPr lang="pt-PT" sz="3500" b="1" dirty="0">
                <a:latin typeface="Arial" panose="020B0604020202020204" pitchFamily="34" charset="0"/>
                <a:cs typeface="Arial" panose="020B0604020202020204" pitchFamily="34" charset="0"/>
              </a:rPr>
              <a:t>Tolerância a falhas</a:t>
            </a:r>
            <a:r>
              <a:rPr lang="pt-PT" sz="3500" dirty="0">
                <a:latin typeface="Arial" panose="020B0604020202020204" pitchFamily="34" charset="0"/>
                <a:cs typeface="Arial" panose="020B0604020202020204" pitchFamily="34" charset="0"/>
              </a:rPr>
              <a:t> </a:t>
            </a:r>
          </a:p>
          <a:p>
            <a:pPr marL="914400" lvl="1" indent="-457200" algn="just">
              <a:buFont typeface="Wingdings" panose="05000000000000000000" pitchFamily="2" charset="2"/>
              <a:buChar char="ü"/>
            </a:pPr>
            <a:r>
              <a:rPr lang="pt-PT" sz="3500" b="1" dirty="0">
                <a:latin typeface="Arial" panose="020B0604020202020204" pitchFamily="34" charset="0"/>
                <a:cs typeface="Arial" panose="020B0604020202020204" pitchFamily="34" charset="0"/>
              </a:rPr>
              <a:t>Escalabilidade</a:t>
            </a:r>
            <a:r>
              <a:rPr lang="pt-PT" sz="3500" dirty="0">
                <a:latin typeface="Arial" panose="020B0604020202020204" pitchFamily="34" charset="0"/>
                <a:cs typeface="Arial" panose="020B0604020202020204" pitchFamily="34" charset="0"/>
              </a:rPr>
              <a:t> </a:t>
            </a:r>
          </a:p>
          <a:p>
            <a:pPr marL="914400" lvl="1" indent="-457200" algn="just">
              <a:buFont typeface="Wingdings" panose="05000000000000000000" pitchFamily="2" charset="2"/>
              <a:buChar char="ü"/>
            </a:pPr>
            <a:endParaRPr lang="pt-PT" sz="3500" dirty="0">
              <a:latin typeface="Arial" panose="020B0604020202020204" pitchFamily="34" charset="0"/>
              <a:cs typeface="Arial" panose="020B0604020202020204" pitchFamily="34" charset="0"/>
            </a:endParaRPr>
          </a:p>
          <a:p>
            <a:pPr marL="914400" lvl="1" indent="-457200" algn="just">
              <a:buFont typeface="Wingdings" panose="05000000000000000000" pitchFamily="2" charset="2"/>
              <a:buChar char="ü"/>
            </a:pPr>
            <a:endParaRPr lang="pt-PT" sz="3500" dirty="0">
              <a:latin typeface="Arial" panose="020B0604020202020204" pitchFamily="34" charset="0"/>
              <a:cs typeface="Arial" panose="020B0604020202020204" pitchFamily="34" charset="0"/>
            </a:endParaRPr>
          </a:p>
          <a:p>
            <a:pPr lvl="1" algn="just"/>
            <a:endParaRPr lang="pt-PT" sz="3500" dirty="0">
              <a:latin typeface="Arial" panose="020B0604020202020204" pitchFamily="34" charset="0"/>
              <a:cs typeface="Arial" panose="020B0604020202020204" pitchFamily="34" charset="0"/>
            </a:endParaRPr>
          </a:p>
          <a:p>
            <a:pPr marL="914400" lvl="1" indent="-457200" algn="just">
              <a:buFont typeface="Wingdings" panose="05000000000000000000" pitchFamily="2" charset="2"/>
              <a:buChar char="ü"/>
            </a:pPr>
            <a:r>
              <a:rPr lang="pt-PT" sz="3500" b="1" dirty="0">
                <a:latin typeface="Arial" panose="020B0604020202020204" pitchFamily="34" charset="0"/>
                <a:cs typeface="Arial" panose="020B0604020202020204" pitchFamily="34" charset="0"/>
              </a:rPr>
              <a:t>Baixo custo de produção</a:t>
            </a:r>
          </a:p>
          <a:p>
            <a:pPr marL="914400" lvl="1" indent="-457200" algn="just">
              <a:buFont typeface="Wingdings" panose="05000000000000000000" pitchFamily="2" charset="2"/>
              <a:buChar char="ü"/>
            </a:pPr>
            <a:r>
              <a:rPr lang="pt-PT" sz="3500" b="1" dirty="0">
                <a:latin typeface="Arial" panose="020B0604020202020204" pitchFamily="34" charset="0"/>
                <a:cs typeface="Arial" panose="020B0604020202020204" pitchFamily="34" charset="0"/>
              </a:rPr>
              <a:t>Limitações de hardware</a:t>
            </a:r>
          </a:p>
          <a:p>
            <a:pPr marL="914400" lvl="1" indent="-457200" algn="just">
              <a:buFont typeface="Wingdings" panose="05000000000000000000" pitchFamily="2" charset="2"/>
              <a:buChar char="ü"/>
            </a:pPr>
            <a:r>
              <a:rPr lang="pt-PT" sz="3500" b="1" dirty="0">
                <a:latin typeface="Arial" panose="020B0604020202020204" pitchFamily="34" charset="0"/>
                <a:cs typeface="Arial" panose="020B0604020202020204" pitchFamily="34" charset="0"/>
              </a:rPr>
              <a:t>Segurança</a:t>
            </a:r>
            <a:endParaRPr lang="en-US" sz="3500" dirty="0">
              <a:solidFill>
                <a:srgbClr val="000000"/>
              </a:solidFill>
              <a:latin typeface="Arial" panose="020B0604020202020204" pitchFamily="34" charset="0"/>
              <a:ea typeface="Arial"/>
              <a:cs typeface="Arial" panose="020B0604020202020204" pitchFamily="34" charset="0"/>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E5F18-2587-42E0-592F-8D57D04620BA}"/>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AEAB96E6-22A9-AB02-B87C-6CC14C4D2A11}"/>
              </a:ext>
            </a:extLst>
          </p:cNvPr>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EEBD85DA-52D3-BDE8-82DA-90B4EA3226E0}"/>
              </a:ext>
            </a:extLst>
          </p:cNvPr>
          <p:cNvGrpSpPr>
            <a:grpSpLocks noChangeAspect="1"/>
          </p:cNvGrpSpPr>
          <p:nvPr/>
        </p:nvGrpSpPr>
        <p:grpSpPr>
          <a:xfrm>
            <a:off x="4713588" y="458791"/>
            <a:ext cx="10565959" cy="910457"/>
            <a:chOff x="0" y="0"/>
            <a:chExt cx="9529813" cy="910450"/>
          </a:xfrm>
        </p:grpSpPr>
        <p:sp>
          <p:nvSpPr>
            <p:cNvPr id="5" name="Freeform 5">
              <a:extLst>
                <a:ext uri="{FF2B5EF4-FFF2-40B4-BE49-F238E27FC236}">
                  <a16:creationId xmlns:a16="http://schemas.microsoft.com/office/drawing/2014/main" id="{4F0A6784-0833-04A8-D67F-3D21AEC3C168}"/>
                </a:ext>
              </a:extLst>
            </p:cNvPr>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a:extLst>
              <a:ext uri="{FF2B5EF4-FFF2-40B4-BE49-F238E27FC236}">
                <a16:creationId xmlns:a16="http://schemas.microsoft.com/office/drawing/2014/main" id="{3D9057CD-8846-E951-17FA-C4F101CE5288}"/>
              </a:ext>
            </a:extLst>
          </p:cNvPr>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E8220F9F-7FFD-5BC4-B9FF-5056A01733B3}"/>
              </a:ext>
            </a:extLst>
          </p:cNvPr>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a:extLst>
              <a:ext uri="{FF2B5EF4-FFF2-40B4-BE49-F238E27FC236}">
                <a16:creationId xmlns:a16="http://schemas.microsoft.com/office/drawing/2014/main" id="{E0B33BC4-CD4B-9C36-2037-19C4C56D01FA}"/>
              </a:ext>
            </a:extLst>
          </p:cNvPr>
          <p:cNvGrpSpPr>
            <a:grpSpLocks noChangeAspect="1"/>
          </p:cNvGrpSpPr>
          <p:nvPr/>
        </p:nvGrpSpPr>
        <p:grpSpPr>
          <a:xfrm>
            <a:off x="1309897" y="9258300"/>
            <a:ext cx="1877854" cy="1028700"/>
            <a:chOff x="0" y="0"/>
            <a:chExt cx="1877847" cy="1028700"/>
          </a:xfrm>
        </p:grpSpPr>
        <p:sp>
          <p:nvSpPr>
            <p:cNvPr id="9" name="Freeform 9">
              <a:extLst>
                <a:ext uri="{FF2B5EF4-FFF2-40B4-BE49-F238E27FC236}">
                  <a16:creationId xmlns:a16="http://schemas.microsoft.com/office/drawing/2014/main" id="{0395C77E-F7A0-A074-F4EC-99B883A64D85}"/>
                </a:ext>
              </a:extLst>
            </p:cNvPr>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1" name="Group 11">
            <a:extLst>
              <a:ext uri="{FF2B5EF4-FFF2-40B4-BE49-F238E27FC236}">
                <a16:creationId xmlns:a16="http://schemas.microsoft.com/office/drawing/2014/main" id="{D1DA9FCB-CA43-F4A7-2347-B90D7B85A795}"/>
              </a:ext>
            </a:extLst>
          </p:cNvPr>
          <p:cNvGrpSpPr>
            <a:grpSpLocks noChangeAspect="1"/>
          </p:cNvGrpSpPr>
          <p:nvPr/>
        </p:nvGrpSpPr>
        <p:grpSpPr>
          <a:xfrm>
            <a:off x="16320373" y="0"/>
            <a:ext cx="1877854" cy="1369247"/>
            <a:chOff x="0" y="0"/>
            <a:chExt cx="1877847" cy="1369250"/>
          </a:xfrm>
        </p:grpSpPr>
        <p:sp>
          <p:nvSpPr>
            <p:cNvPr id="12" name="Freeform 12">
              <a:extLst>
                <a:ext uri="{FF2B5EF4-FFF2-40B4-BE49-F238E27FC236}">
                  <a16:creationId xmlns:a16="http://schemas.microsoft.com/office/drawing/2014/main" id="{96C13F69-CED1-72E1-EEB4-3CCF5F563D72}"/>
                </a:ext>
              </a:extLst>
            </p:cNvPr>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3" name="TextBox 13">
            <a:extLst>
              <a:ext uri="{FF2B5EF4-FFF2-40B4-BE49-F238E27FC236}">
                <a16:creationId xmlns:a16="http://schemas.microsoft.com/office/drawing/2014/main" id="{C9D590E2-BF2A-FE60-743A-A1AE7762E883}"/>
              </a:ext>
            </a:extLst>
          </p:cNvPr>
          <p:cNvSpPr txBox="1"/>
          <p:nvPr/>
        </p:nvSpPr>
        <p:spPr>
          <a:xfrm>
            <a:off x="4836709" y="442474"/>
            <a:ext cx="10442839"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 : Fundamentação Teórica</a:t>
            </a:r>
          </a:p>
        </p:txBody>
      </p:sp>
      <p:sp>
        <p:nvSpPr>
          <p:cNvPr id="14" name="TextBox 14">
            <a:extLst>
              <a:ext uri="{FF2B5EF4-FFF2-40B4-BE49-F238E27FC236}">
                <a16:creationId xmlns:a16="http://schemas.microsoft.com/office/drawing/2014/main" id="{CDE8FA27-48E8-A10C-3F85-7959ACACA747}"/>
              </a:ext>
            </a:extLst>
          </p:cNvPr>
          <p:cNvSpPr txBox="1"/>
          <p:nvPr/>
        </p:nvSpPr>
        <p:spPr>
          <a:xfrm>
            <a:off x="630345" y="1685439"/>
            <a:ext cx="6840961" cy="611834"/>
          </a:xfrm>
          <a:prstGeom prst="rect">
            <a:avLst/>
          </a:prstGeom>
        </p:spPr>
        <p:txBody>
          <a:bodyPr wrap="square" lIns="0" tIns="0" rIns="0" bIns="0" rtlCol="0" anchor="t">
            <a:spAutoFit/>
          </a:bodyPr>
          <a:lstStyle/>
          <a:p>
            <a:pPr algn="l">
              <a:lnSpc>
                <a:spcPts val="4899"/>
              </a:lnSpc>
            </a:pPr>
            <a:r>
              <a:rPr lang="en-US" sz="4000" b="1" dirty="0" err="1">
                <a:solidFill>
                  <a:srgbClr val="000000"/>
                </a:solidFill>
                <a:latin typeface="Arial Bold"/>
                <a:ea typeface="Arial Bold"/>
                <a:cs typeface="Arial Bold"/>
                <a:sym typeface="Arial Bold"/>
              </a:rPr>
              <a:t>Arquitectura</a:t>
            </a:r>
            <a:r>
              <a:rPr lang="en-US" sz="4000" b="1" dirty="0">
                <a:solidFill>
                  <a:srgbClr val="000000"/>
                </a:solidFill>
                <a:latin typeface="Arial Bold"/>
                <a:ea typeface="Arial Bold"/>
                <a:cs typeface="Arial Bold"/>
                <a:sym typeface="Arial Bold"/>
              </a:rPr>
              <a:t> de RSSF</a:t>
            </a:r>
          </a:p>
        </p:txBody>
      </p:sp>
      <p:sp>
        <p:nvSpPr>
          <p:cNvPr id="18" name="TextBox 18">
            <a:extLst>
              <a:ext uri="{FF2B5EF4-FFF2-40B4-BE49-F238E27FC236}">
                <a16:creationId xmlns:a16="http://schemas.microsoft.com/office/drawing/2014/main" id="{58A760C1-6D11-56D7-E23D-D35F45DB8634}"/>
              </a:ext>
            </a:extLst>
          </p:cNvPr>
          <p:cNvSpPr txBox="1"/>
          <p:nvPr/>
        </p:nvSpPr>
        <p:spPr>
          <a:xfrm>
            <a:off x="3294136" y="2876302"/>
            <a:ext cx="1266415" cy="339517"/>
          </a:xfrm>
          <a:prstGeom prst="rect">
            <a:avLst/>
          </a:prstGeom>
        </p:spPr>
        <p:txBody>
          <a:bodyPr lIns="0" tIns="0" rIns="0" bIns="0" rtlCol="0" anchor="t">
            <a:spAutoFit/>
          </a:bodyPr>
          <a:lstStyle/>
          <a:p>
            <a:pPr algn="l">
              <a:lnSpc>
                <a:spcPts val="2799"/>
              </a:lnSpc>
            </a:pPr>
            <a:r>
              <a:rPr lang="en-US" sz="1999" b="1" dirty="0">
                <a:solidFill>
                  <a:srgbClr val="FFFFFF"/>
                </a:solidFill>
                <a:latin typeface="Arial Bold"/>
                <a:ea typeface="Arial Bold"/>
                <a:cs typeface="Arial Bold"/>
                <a:sym typeface="Arial Bold"/>
              </a:rPr>
              <a:t>Nó sensor</a:t>
            </a:r>
          </a:p>
        </p:txBody>
      </p:sp>
      <p:sp>
        <p:nvSpPr>
          <p:cNvPr id="22" name="TextBox 22">
            <a:extLst>
              <a:ext uri="{FF2B5EF4-FFF2-40B4-BE49-F238E27FC236}">
                <a16:creationId xmlns:a16="http://schemas.microsoft.com/office/drawing/2014/main" id="{E14653E8-D33F-6DEA-8373-EDFF5A807D31}"/>
              </a:ext>
            </a:extLst>
          </p:cNvPr>
          <p:cNvSpPr txBox="1"/>
          <p:nvPr/>
        </p:nvSpPr>
        <p:spPr>
          <a:xfrm>
            <a:off x="6045984" y="2876302"/>
            <a:ext cx="1276264" cy="339517"/>
          </a:xfrm>
          <a:prstGeom prst="rect">
            <a:avLst/>
          </a:prstGeom>
        </p:spPr>
        <p:txBody>
          <a:bodyPr lIns="0" tIns="0" rIns="0" bIns="0" rtlCol="0" anchor="t">
            <a:spAutoFit/>
          </a:bodyPr>
          <a:lstStyle/>
          <a:p>
            <a:pPr algn="l">
              <a:lnSpc>
                <a:spcPts val="2799"/>
              </a:lnSpc>
            </a:pPr>
            <a:r>
              <a:rPr lang="en-US" sz="1999" b="1" dirty="0">
                <a:solidFill>
                  <a:srgbClr val="FFFFFF"/>
                </a:solidFill>
                <a:latin typeface="Arial Bold"/>
                <a:ea typeface="Arial Bold"/>
                <a:cs typeface="Arial Bold"/>
                <a:sym typeface="Arial Bold"/>
              </a:rPr>
              <a:t>Iª </a:t>
            </a:r>
            <a:r>
              <a:rPr lang="en-US" sz="1999" b="1" dirty="0" err="1">
                <a:solidFill>
                  <a:srgbClr val="FFFFFF"/>
                </a:solidFill>
                <a:latin typeface="Arial Bold"/>
                <a:ea typeface="Arial Bold"/>
                <a:cs typeface="Arial Bold"/>
                <a:sym typeface="Arial Bold"/>
              </a:rPr>
              <a:t>Geação</a:t>
            </a:r>
            <a:endParaRPr lang="en-US" sz="1999" b="1" dirty="0">
              <a:solidFill>
                <a:srgbClr val="FFFFFF"/>
              </a:solidFill>
              <a:latin typeface="Arial Bold"/>
              <a:ea typeface="Arial Bold"/>
              <a:cs typeface="Arial Bold"/>
              <a:sym typeface="Arial Bold"/>
            </a:endParaRPr>
          </a:p>
        </p:txBody>
      </p:sp>
      <p:sp>
        <p:nvSpPr>
          <p:cNvPr id="29" name="TextBox 29">
            <a:extLst>
              <a:ext uri="{FF2B5EF4-FFF2-40B4-BE49-F238E27FC236}">
                <a16:creationId xmlns:a16="http://schemas.microsoft.com/office/drawing/2014/main" id="{B8A1D522-F7A1-A17B-7EE0-FA2BF637C16A}"/>
              </a:ext>
            </a:extLst>
          </p:cNvPr>
          <p:cNvSpPr txBox="1"/>
          <p:nvPr/>
        </p:nvSpPr>
        <p:spPr>
          <a:xfrm>
            <a:off x="8767467" y="2876302"/>
            <a:ext cx="1348264" cy="368227"/>
          </a:xfrm>
          <a:prstGeom prst="rect">
            <a:avLst/>
          </a:prstGeom>
        </p:spPr>
        <p:txBody>
          <a:bodyPr lIns="0" tIns="0" rIns="0" bIns="0" rtlCol="0" anchor="t">
            <a:spAutoFit/>
          </a:bodyPr>
          <a:lstStyle/>
          <a:p>
            <a:pPr algn="l">
              <a:lnSpc>
                <a:spcPts val="2799"/>
              </a:lnSpc>
            </a:pPr>
            <a:r>
              <a:rPr lang="en-US" sz="1999" b="1">
                <a:solidFill>
                  <a:srgbClr val="FFFFFF"/>
                </a:solidFill>
                <a:latin typeface="Arial Bold"/>
                <a:ea typeface="Arial Bold"/>
                <a:cs typeface="Arial Bold"/>
                <a:sym typeface="Arial Bold"/>
              </a:rPr>
              <a:t>IIª Geração</a:t>
            </a:r>
          </a:p>
        </p:txBody>
      </p:sp>
      <p:sp>
        <p:nvSpPr>
          <p:cNvPr id="35" name="TextBox 35">
            <a:extLst>
              <a:ext uri="{FF2B5EF4-FFF2-40B4-BE49-F238E27FC236}">
                <a16:creationId xmlns:a16="http://schemas.microsoft.com/office/drawing/2014/main" id="{02921337-4EC9-7009-A8D1-DFC36C61ABF3}"/>
              </a:ext>
            </a:extLst>
          </p:cNvPr>
          <p:cNvSpPr txBox="1"/>
          <p:nvPr/>
        </p:nvSpPr>
        <p:spPr>
          <a:xfrm>
            <a:off x="11488941" y="2876302"/>
            <a:ext cx="1420254" cy="368227"/>
          </a:xfrm>
          <a:prstGeom prst="rect">
            <a:avLst/>
          </a:prstGeom>
        </p:spPr>
        <p:txBody>
          <a:bodyPr lIns="0" tIns="0" rIns="0" bIns="0" rtlCol="0" anchor="t">
            <a:spAutoFit/>
          </a:bodyPr>
          <a:lstStyle/>
          <a:p>
            <a:pPr algn="l">
              <a:lnSpc>
                <a:spcPts val="2799"/>
              </a:lnSpc>
            </a:pPr>
            <a:r>
              <a:rPr lang="en-US" sz="1999" b="1">
                <a:solidFill>
                  <a:srgbClr val="FFFFFF"/>
                </a:solidFill>
                <a:latin typeface="Arial Bold"/>
                <a:ea typeface="Arial Bold"/>
                <a:cs typeface="Arial Bold"/>
                <a:sym typeface="Arial Bold"/>
              </a:rPr>
              <a:t>IIIª Geração</a:t>
            </a:r>
          </a:p>
        </p:txBody>
      </p:sp>
      <p:sp>
        <p:nvSpPr>
          <p:cNvPr id="42" name="TextBox 42">
            <a:extLst>
              <a:ext uri="{FF2B5EF4-FFF2-40B4-BE49-F238E27FC236}">
                <a16:creationId xmlns:a16="http://schemas.microsoft.com/office/drawing/2014/main" id="{3710FE0D-93A8-0045-C618-CC8EF3F8E8AC}"/>
              </a:ext>
            </a:extLst>
          </p:cNvPr>
          <p:cNvSpPr txBox="1"/>
          <p:nvPr/>
        </p:nvSpPr>
        <p:spPr>
          <a:xfrm>
            <a:off x="14231560" y="2876302"/>
            <a:ext cx="1449000" cy="368227"/>
          </a:xfrm>
          <a:prstGeom prst="rect">
            <a:avLst/>
          </a:prstGeom>
        </p:spPr>
        <p:txBody>
          <a:bodyPr lIns="0" tIns="0" rIns="0" bIns="0" rtlCol="0" anchor="t">
            <a:spAutoFit/>
          </a:bodyPr>
          <a:lstStyle/>
          <a:p>
            <a:pPr algn="l">
              <a:lnSpc>
                <a:spcPts val="2799"/>
              </a:lnSpc>
            </a:pPr>
            <a:r>
              <a:rPr lang="en-US" sz="1999" b="1">
                <a:solidFill>
                  <a:srgbClr val="FFFFFF"/>
                </a:solidFill>
                <a:latin typeface="Arial Bold"/>
                <a:ea typeface="Arial Bold"/>
                <a:cs typeface="Arial Bold"/>
                <a:sym typeface="Arial Bold"/>
              </a:rPr>
              <a:t>IVª Geração</a:t>
            </a:r>
          </a:p>
        </p:txBody>
      </p:sp>
      <p:pic>
        <p:nvPicPr>
          <p:cNvPr id="2" name="Imagem 1">
            <a:extLst>
              <a:ext uri="{FF2B5EF4-FFF2-40B4-BE49-F238E27FC236}">
                <a16:creationId xmlns:a16="http://schemas.microsoft.com/office/drawing/2014/main" id="{CAE8DFE1-BBF1-D712-54BE-07983B375EE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86175" y="2279641"/>
            <a:ext cx="11014939" cy="6983184"/>
          </a:xfrm>
          <a:prstGeom prst="rect">
            <a:avLst/>
          </a:prstGeom>
          <a:noFill/>
          <a:ln>
            <a:noFill/>
          </a:ln>
        </p:spPr>
      </p:pic>
    </p:spTree>
    <p:extLst>
      <p:ext uri="{BB962C8B-B14F-4D97-AF65-F5344CB8AC3E}">
        <p14:creationId xmlns:p14="http://schemas.microsoft.com/office/powerpoint/2010/main" val="3639296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10631892"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sp>
        <p:nvSpPr>
          <p:cNvPr id="8" name="Freeform 8"/>
          <p:cNvSpPr/>
          <p:nvPr/>
        </p:nvSpPr>
        <p:spPr>
          <a:xfrm>
            <a:off x="3962400" y="2829814"/>
            <a:ext cx="9761844" cy="5971286"/>
          </a:xfrm>
          <a:custGeom>
            <a:avLst/>
            <a:gdLst/>
            <a:ahLst/>
            <a:cxnLst/>
            <a:rect l="l" t="t" r="r" b="b"/>
            <a:pathLst>
              <a:path w="9563100" h="6200775">
                <a:moveTo>
                  <a:pt x="0" y="0"/>
                </a:moveTo>
                <a:lnTo>
                  <a:pt x="9563100" y="0"/>
                </a:lnTo>
                <a:lnTo>
                  <a:pt x="9563100" y="6200775"/>
                </a:lnTo>
                <a:lnTo>
                  <a:pt x="0" y="6200775"/>
                </a:lnTo>
                <a:lnTo>
                  <a:pt x="0" y="0"/>
                </a:lnTo>
                <a:close/>
              </a:path>
            </a:pathLst>
          </a:custGeom>
          <a:blipFill>
            <a:blip r:embed="rId7"/>
            <a:stretch>
              <a:fillRect/>
            </a:stretch>
          </a:blipFill>
        </p:spPr>
      </p:sp>
      <p:grpSp>
        <p:nvGrpSpPr>
          <p:cNvPr id="9" name="Group 9"/>
          <p:cNvGrpSpPr>
            <a:grpSpLocks noChangeAspect="1"/>
          </p:cNvGrpSpPr>
          <p:nvPr/>
        </p:nvGrpSpPr>
        <p:grpSpPr>
          <a:xfrm>
            <a:off x="1309897" y="9258300"/>
            <a:ext cx="1877854" cy="1028700"/>
            <a:chOff x="0" y="0"/>
            <a:chExt cx="1877847" cy="1028700"/>
          </a:xfrm>
        </p:grpSpPr>
        <p:sp>
          <p:nvSpPr>
            <p:cNvPr id="10" name="Freeform 10"/>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1" name="Group 11"/>
          <p:cNvGrpSpPr>
            <a:grpSpLocks noChangeAspect="1"/>
          </p:cNvGrpSpPr>
          <p:nvPr/>
        </p:nvGrpSpPr>
        <p:grpSpPr>
          <a:xfrm>
            <a:off x="16320373" y="0"/>
            <a:ext cx="1877854" cy="1369247"/>
            <a:chOff x="0" y="0"/>
            <a:chExt cx="1877847" cy="1369250"/>
          </a:xfrm>
        </p:grpSpPr>
        <p:sp>
          <p:nvSpPr>
            <p:cNvPr id="12" name="Freeform 12"/>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3" name="TextBox 13"/>
          <p:cNvSpPr txBox="1"/>
          <p:nvPr/>
        </p:nvSpPr>
        <p:spPr>
          <a:xfrm>
            <a:off x="4836693" y="527016"/>
            <a:ext cx="10631891"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 : Fundamentação Teórica</a:t>
            </a:r>
          </a:p>
        </p:txBody>
      </p:sp>
      <p:sp>
        <p:nvSpPr>
          <p:cNvPr id="14" name="TextBox 14"/>
          <p:cNvSpPr txBox="1"/>
          <p:nvPr/>
        </p:nvSpPr>
        <p:spPr>
          <a:xfrm>
            <a:off x="1083955" y="1776759"/>
            <a:ext cx="10292153" cy="611834"/>
          </a:xfrm>
          <a:prstGeom prst="rect">
            <a:avLst/>
          </a:prstGeom>
        </p:spPr>
        <p:txBody>
          <a:bodyPr wrap="square" lIns="0" tIns="0" rIns="0" bIns="0" rtlCol="0" anchor="t">
            <a:spAutoFit/>
          </a:bodyPr>
          <a:lstStyle/>
          <a:p>
            <a:pPr algn="l">
              <a:lnSpc>
                <a:spcPts val="4899"/>
              </a:lnSpc>
            </a:pPr>
            <a:r>
              <a:rPr lang="en-US" sz="4000" b="1" dirty="0">
                <a:solidFill>
                  <a:srgbClr val="000000"/>
                </a:solidFill>
                <a:latin typeface="Arial Bold"/>
                <a:ea typeface="Arial Bold"/>
                <a:cs typeface="Arial Bold"/>
                <a:sym typeface="Arial Bold"/>
              </a:rPr>
              <a:t>Tecnologias de Comunicação em RSSF</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9993012"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p:cNvGrpSpPr>
            <a:grpSpLocks noChangeAspect="1"/>
          </p:cNvGrpSpPr>
          <p:nvPr/>
        </p:nvGrpSpPr>
        <p:grpSpPr>
          <a:xfrm>
            <a:off x="1309897" y="9258300"/>
            <a:ext cx="1877854" cy="1028700"/>
            <a:chOff x="0" y="0"/>
            <a:chExt cx="1877847" cy="1028700"/>
          </a:xfrm>
        </p:grpSpPr>
        <p:sp>
          <p:nvSpPr>
            <p:cNvPr id="9" name="Freeform 9"/>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0" name="Group 10"/>
          <p:cNvGrpSpPr>
            <a:grpSpLocks noChangeAspect="1"/>
          </p:cNvGrpSpPr>
          <p:nvPr/>
        </p:nvGrpSpPr>
        <p:grpSpPr>
          <a:xfrm>
            <a:off x="16320373" y="0"/>
            <a:ext cx="1877854" cy="1369247"/>
            <a:chOff x="0" y="0"/>
            <a:chExt cx="1877847" cy="1369250"/>
          </a:xfrm>
        </p:grpSpPr>
        <p:sp>
          <p:nvSpPr>
            <p:cNvPr id="11" name="Freeform 11"/>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2" name="TextBox 12"/>
          <p:cNvSpPr txBox="1"/>
          <p:nvPr/>
        </p:nvSpPr>
        <p:spPr>
          <a:xfrm>
            <a:off x="669861" y="2786598"/>
            <a:ext cx="17188396" cy="5386090"/>
          </a:xfrm>
          <a:prstGeom prst="rect">
            <a:avLst/>
          </a:prstGeom>
        </p:spPr>
        <p:txBody>
          <a:bodyPr lIns="0" tIns="0" rIns="0" bIns="0" rtlCol="0" anchor="t">
            <a:spAutoFit/>
          </a:bodyPr>
          <a:lstStyle/>
          <a:p>
            <a:pPr algn="just"/>
            <a:r>
              <a:rPr lang="pt-PT" sz="3500" dirty="0">
                <a:latin typeface="Arial" panose="020B0604020202020204" pitchFamily="34" charset="0"/>
                <a:cs typeface="Arial" panose="020B0604020202020204" pitchFamily="34" charset="0"/>
              </a:rPr>
              <a:t>O Parque Nacional da Quiçama,  localizado no município da Quiçama, </a:t>
            </a:r>
            <a:r>
              <a:rPr lang="pt-PT" sz="3500" dirty="0" err="1">
                <a:latin typeface="Arial" panose="020B0604020202020204" pitchFamily="34" charset="0"/>
                <a:cs typeface="Arial" panose="020B0604020202020204" pitchFamily="34" charset="0"/>
              </a:rPr>
              <a:t>actualmente</a:t>
            </a:r>
            <a:r>
              <a:rPr lang="pt-PT" sz="3500" dirty="0">
                <a:latin typeface="Arial" panose="020B0604020202020204" pitchFamily="34" charset="0"/>
                <a:cs typeface="Arial" panose="020B0604020202020204" pitchFamily="34" charset="0"/>
              </a:rPr>
              <a:t> na província de </a:t>
            </a:r>
            <a:r>
              <a:rPr lang="pt-PT" sz="3500" dirty="0" err="1">
                <a:latin typeface="Arial" panose="020B0604020202020204" pitchFamily="34" charset="0"/>
                <a:cs typeface="Arial" panose="020B0604020202020204" pitchFamily="34" charset="0"/>
              </a:rPr>
              <a:t>Ícolo</a:t>
            </a:r>
            <a:r>
              <a:rPr lang="pt-PT" sz="3500" dirty="0">
                <a:latin typeface="Arial" panose="020B0604020202020204" pitchFamily="34" charset="0"/>
                <a:cs typeface="Arial" panose="020B0604020202020204" pitchFamily="34" charset="0"/>
              </a:rPr>
              <a:t> e Bengo, é um dos maiores parques do país e uma das fontes de riqueza da província,, no entanto, a falta de recursos tecnológicos adequados, dificulta a fiscalização eficiente e limita a eficácia das ações de conservação.</a:t>
            </a:r>
          </a:p>
          <a:p>
            <a:pPr algn="just"/>
            <a:r>
              <a:rPr lang="pt-PT" sz="3500" dirty="0">
                <a:latin typeface="Arial" panose="020B0604020202020204" pitchFamily="34" charset="0"/>
                <a:cs typeface="Arial" panose="020B0604020202020204" pitchFamily="34" charset="0"/>
              </a:rPr>
              <a:t>A região da Muxima, que integra o parque, com aproximadamente 408,15 km², enfrenta desafios ambientais significativos. </a:t>
            </a:r>
          </a:p>
          <a:p>
            <a:pPr marL="914400" lvl="1" indent="-457200" algn="just">
              <a:buFont typeface="Wingdings" panose="05000000000000000000" pitchFamily="2" charset="2"/>
              <a:buChar char="ü"/>
            </a:pPr>
            <a:r>
              <a:rPr lang="pt-PT" sz="3500" dirty="0">
                <a:latin typeface="Arial" panose="020B0604020202020204" pitchFamily="34" charset="0"/>
                <a:cs typeface="Arial" panose="020B0604020202020204" pitchFamily="34" charset="0"/>
              </a:rPr>
              <a:t>A ocorrência de incêndios florestais;</a:t>
            </a:r>
          </a:p>
          <a:p>
            <a:pPr marL="914400" lvl="1" indent="-457200" algn="just">
              <a:buFont typeface="Wingdings" panose="05000000000000000000" pitchFamily="2" charset="2"/>
              <a:buChar char="ü"/>
            </a:pPr>
            <a:r>
              <a:rPr lang="pt-PT" sz="3500" dirty="0">
                <a:latin typeface="Arial" panose="020B0604020202020204" pitchFamily="34" charset="0"/>
                <a:cs typeface="Arial" panose="020B0604020202020204" pitchFamily="34" charset="0"/>
              </a:rPr>
              <a:t>Vegetação seca;</a:t>
            </a:r>
          </a:p>
          <a:p>
            <a:pPr marL="914400" lvl="1" indent="-457200" algn="just">
              <a:buFont typeface="Wingdings" panose="05000000000000000000" pitchFamily="2" charset="2"/>
              <a:buChar char="ü"/>
            </a:pPr>
            <a:r>
              <a:rPr lang="pt-PT" sz="3500" dirty="0">
                <a:latin typeface="Arial" panose="020B0604020202020204" pitchFamily="34" charset="0"/>
                <a:cs typeface="Arial" panose="020B0604020202020204" pitchFamily="34" charset="0"/>
              </a:rPr>
              <a:t>A expansão agrícola desordenada e do turismo ilegal;</a:t>
            </a:r>
          </a:p>
          <a:p>
            <a:pPr marL="914400" lvl="1" indent="-457200" algn="just">
              <a:buFont typeface="Wingdings" panose="05000000000000000000" pitchFamily="2" charset="2"/>
              <a:buChar char="ü"/>
            </a:pPr>
            <a:r>
              <a:rPr lang="pt-PT" sz="3500" dirty="0">
                <a:latin typeface="Arial" panose="020B0604020202020204" pitchFamily="34" charset="0"/>
                <a:cs typeface="Arial" panose="020B0604020202020204" pitchFamily="34" charset="0"/>
              </a:rPr>
              <a:t>Uso intensivo de terras para cultivo;</a:t>
            </a:r>
          </a:p>
        </p:txBody>
      </p:sp>
      <p:sp>
        <p:nvSpPr>
          <p:cNvPr id="13" name="TextBox 13"/>
          <p:cNvSpPr txBox="1"/>
          <p:nvPr/>
        </p:nvSpPr>
        <p:spPr>
          <a:xfrm>
            <a:off x="4993085" y="493039"/>
            <a:ext cx="9713530"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 : Explicação do Tema</a:t>
            </a:r>
          </a:p>
        </p:txBody>
      </p:sp>
      <p:sp>
        <p:nvSpPr>
          <p:cNvPr id="14" name="TextBox 14"/>
          <p:cNvSpPr txBox="1"/>
          <p:nvPr/>
        </p:nvSpPr>
        <p:spPr>
          <a:xfrm>
            <a:off x="680494" y="1916937"/>
            <a:ext cx="5415505" cy="611834"/>
          </a:xfrm>
          <a:prstGeom prst="rect">
            <a:avLst/>
          </a:prstGeom>
        </p:spPr>
        <p:txBody>
          <a:bodyPr wrap="square" lIns="0" tIns="0" rIns="0" bIns="0" rtlCol="0" anchor="t">
            <a:spAutoFit/>
          </a:bodyPr>
          <a:lstStyle/>
          <a:p>
            <a:pPr algn="l">
              <a:lnSpc>
                <a:spcPts val="4899"/>
              </a:lnSpc>
            </a:pPr>
            <a:r>
              <a:rPr lang="en-US" sz="4000" b="1" dirty="0" err="1">
                <a:solidFill>
                  <a:srgbClr val="000000"/>
                </a:solidFill>
                <a:latin typeface="Arial Bold"/>
                <a:ea typeface="Arial Bold"/>
                <a:cs typeface="Arial Bold"/>
                <a:sym typeface="Arial Bold"/>
              </a:rPr>
              <a:t>Característica</a:t>
            </a:r>
            <a:r>
              <a:rPr lang="en-US" sz="4000" b="1" dirty="0">
                <a:solidFill>
                  <a:srgbClr val="000000"/>
                </a:solidFill>
                <a:latin typeface="Arial Bold"/>
                <a:ea typeface="Arial Bold"/>
                <a:cs typeface="Arial Bold"/>
                <a:sym typeface="Arial Bold"/>
              </a:rPr>
              <a:t> do PNQ</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9842802"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sp>
        <p:nvSpPr>
          <p:cNvPr id="8" name="Freeform 8"/>
          <p:cNvSpPr/>
          <p:nvPr/>
        </p:nvSpPr>
        <p:spPr>
          <a:xfrm>
            <a:off x="3873422" y="2487319"/>
            <a:ext cx="10541156" cy="6844189"/>
          </a:xfrm>
          <a:custGeom>
            <a:avLst/>
            <a:gdLst/>
            <a:ahLst/>
            <a:cxnLst/>
            <a:rect l="l" t="t" r="r" b="b"/>
            <a:pathLst>
              <a:path w="11020425" h="7315200">
                <a:moveTo>
                  <a:pt x="0" y="0"/>
                </a:moveTo>
                <a:lnTo>
                  <a:pt x="11020425" y="0"/>
                </a:lnTo>
                <a:lnTo>
                  <a:pt x="11020425" y="7315200"/>
                </a:lnTo>
                <a:lnTo>
                  <a:pt x="0" y="7315200"/>
                </a:lnTo>
                <a:lnTo>
                  <a:pt x="0" y="0"/>
                </a:lnTo>
                <a:close/>
              </a:path>
            </a:pathLst>
          </a:custGeom>
          <a:blipFill>
            <a:blip r:embed="rId7"/>
            <a:stretch>
              <a:fillRect t="-2646" b="-2691"/>
            </a:stretch>
          </a:blipFill>
        </p:spPr>
      </p:sp>
      <p:grpSp>
        <p:nvGrpSpPr>
          <p:cNvPr id="9" name="Group 9"/>
          <p:cNvGrpSpPr>
            <a:grpSpLocks noChangeAspect="1"/>
          </p:cNvGrpSpPr>
          <p:nvPr/>
        </p:nvGrpSpPr>
        <p:grpSpPr>
          <a:xfrm>
            <a:off x="1309897" y="9258300"/>
            <a:ext cx="1877854" cy="1028700"/>
            <a:chOff x="0" y="0"/>
            <a:chExt cx="1877847" cy="1028700"/>
          </a:xfrm>
        </p:grpSpPr>
        <p:sp>
          <p:nvSpPr>
            <p:cNvPr id="10" name="Freeform 10"/>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1" name="Group 11"/>
          <p:cNvGrpSpPr>
            <a:grpSpLocks noChangeAspect="1"/>
          </p:cNvGrpSpPr>
          <p:nvPr/>
        </p:nvGrpSpPr>
        <p:grpSpPr>
          <a:xfrm>
            <a:off x="16320373" y="0"/>
            <a:ext cx="1877854" cy="1369247"/>
            <a:chOff x="0" y="0"/>
            <a:chExt cx="1877847" cy="1369250"/>
          </a:xfrm>
        </p:grpSpPr>
        <p:sp>
          <p:nvSpPr>
            <p:cNvPr id="12" name="Freeform 12"/>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3" name="TextBox 13"/>
          <p:cNvSpPr txBox="1"/>
          <p:nvPr/>
        </p:nvSpPr>
        <p:spPr>
          <a:xfrm>
            <a:off x="4849672" y="531998"/>
            <a:ext cx="9842802"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 : Explicação do Tema</a:t>
            </a:r>
          </a:p>
        </p:txBody>
      </p:sp>
      <p:sp>
        <p:nvSpPr>
          <p:cNvPr id="14" name="TextBox 14"/>
          <p:cNvSpPr txBox="1"/>
          <p:nvPr/>
        </p:nvSpPr>
        <p:spPr>
          <a:xfrm>
            <a:off x="605351" y="1622373"/>
            <a:ext cx="6053385" cy="611834"/>
          </a:xfrm>
          <a:prstGeom prst="rect">
            <a:avLst/>
          </a:prstGeom>
        </p:spPr>
        <p:txBody>
          <a:bodyPr wrap="square" lIns="0" tIns="0" rIns="0" bIns="0" rtlCol="0" anchor="t">
            <a:spAutoFit/>
          </a:bodyPr>
          <a:lstStyle/>
          <a:p>
            <a:pPr algn="l">
              <a:lnSpc>
                <a:spcPts val="4899"/>
              </a:lnSpc>
            </a:pPr>
            <a:r>
              <a:rPr lang="en-US" sz="4000" b="1" dirty="0">
                <a:solidFill>
                  <a:srgbClr val="000000"/>
                </a:solidFill>
                <a:latin typeface="Arial Bold"/>
                <a:ea typeface="Arial Bold"/>
                <a:cs typeface="Arial Bold"/>
                <a:sym typeface="Arial Bold"/>
              </a:rPr>
              <a:t>Arquitetura proposta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9989756"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sp>
        <p:nvSpPr>
          <p:cNvPr id="8" name="Freeform 8"/>
          <p:cNvSpPr/>
          <p:nvPr/>
        </p:nvSpPr>
        <p:spPr>
          <a:xfrm>
            <a:off x="267108" y="3527690"/>
            <a:ext cx="6772275" cy="4219575"/>
          </a:xfrm>
          <a:custGeom>
            <a:avLst/>
            <a:gdLst/>
            <a:ahLst/>
            <a:cxnLst/>
            <a:rect l="l" t="t" r="r" b="b"/>
            <a:pathLst>
              <a:path w="6772275" h="4219575">
                <a:moveTo>
                  <a:pt x="0" y="0"/>
                </a:moveTo>
                <a:lnTo>
                  <a:pt x="6772275" y="0"/>
                </a:lnTo>
                <a:lnTo>
                  <a:pt x="6772275" y="4219575"/>
                </a:lnTo>
                <a:lnTo>
                  <a:pt x="0" y="4219575"/>
                </a:lnTo>
                <a:lnTo>
                  <a:pt x="0" y="0"/>
                </a:lnTo>
                <a:close/>
              </a:path>
            </a:pathLst>
          </a:custGeom>
          <a:blipFill>
            <a:blip r:embed="rId7"/>
            <a:stretch>
              <a:fillRect t="-513" b="-389"/>
            </a:stretch>
          </a:blipFill>
        </p:spPr>
      </p:sp>
      <p:sp>
        <p:nvSpPr>
          <p:cNvPr id="9" name="Freeform 9"/>
          <p:cNvSpPr/>
          <p:nvPr/>
        </p:nvSpPr>
        <p:spPr>
          <a:xfrm>
            <a:off x="7219407" y="3500476"/>
            <a:ext cx="10919117" cy="4086225"/>
          </a:xfrm>
          <a:custGeom>
            <a:avLst/>
            <a:gdLst/>
            <a:ahLst/>
            <a:cxnLst/>
            <a:rect l="l" t="t" r="r" b="b"/>
            <a:pathLst>
              <a:path w="10919117" h="4086225">
                <a:moveTo>
                  <a:pt x="0" y="0"/>
                </a:moveTo>
                <a:lnTo>
                  <a:pt x="10919117" y="0"/>
                </a:lnTo>
                <a:lnTo>
                  <a:pt x="10919117" y="4086225"/>
                </a:lnTo>
                <a:lnTo>
                  <a:pt x="0" y="4086225"/>
                </a:lnTo>
                <a:lnTo>
                  <a:pt x="0" y="0"/>
                </a:lnTo>
                <a:close/>
              </a:path>
            </a:pathLst>
          </a:custGeom>
          <a:blipFill>
            <a:blip r:embed="rId8"/>
            <a:stretch>
              <a:fillRect/>
            </a:stretch>
          </a:blipFill>
        </p:spPr>
      </p:sp>
      <p:grpSp>
        <p:nvGrpSpPr>
          <p:cNvPr id="10" name="Group 10"/>
          <p:cNvGrpSpPr>
            <a:grpSpLocks noChangeAspect="1"/>
          </p:cNvGrpSpPr>
          <p:nvPr/>
        </p:nvGrpSpPr>
        <p:grpSpPr>
          <a:xfrm>
            <a:off x="1309897" y="9258300"/>
            <a:ext cx="1877854" cy="1028700"/>
            <a:chOff x="0" y="0"/>
            <a:chExt cx="1877847" cy="1028700"/>
          </a:xfrm>
        </p:grpSpPr>
        <p:sp>
          <p:nvSpPr>
            <p:cNvPr id="11" name="Freeform 11"/>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2" name="Group 12"/>
          <p:cNvGrpSpPr>
            <a:grpSpLocks noChangeAspect="1"/>
          </p:cNvGrpSpPr>
          <p:nvPr/>
        </p:nvGrpSpPr>
        <p:grpSpPr>
          <a:xfrm>
            <a:off x="16320373" y="0"/>
            <a:ext cx="1877854" cy="1369247"/>
            <a:chOff x="0" y="0"/>
            <a:chExt cx="1877847" cy="1369250"/>
          </a:xfrm>
        </p:grpSpPr>
        <p:sp>
          <p:nvSpPr>
            <p:cNvPr id="13" name="Freeform 13"/>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4" name="TextBox 14"/>
          <p:cNvSpPr txBox="1"/>
          <p:nvPr/>
        </p:nvSpPr>
        <p:spPr>
          <a:xfrm>
            <a:off x="5002094" y="531998"/>
            <a:ext cx="9701251"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 : Explicação do Tema</a:t>
            </a:r>
          </a:p>
        </p:txBody>
      </p:sp>
      <p:sp>
        <p:nvSpPr>
          <p:cNvPr id="15" name="TextBox 15"/>
          <p:cNvSpPr txBox="1"/>
          <p:nvPr/>
        </p:nvSpPr>
        <p:spPr>
          <a:xfrm>
            <a:off x="441354" y="1921948"/>
            <a:ext cx="5655860" cy="611834"/>
          </a:xfrm>
          <a:prstGeom prst="rect">
            <a:avLst/>
          </a:prstGeom>
        </p:spPr>
        <p:txBody>
          <a:bodyPr wrap="square" lIns="0" tIns="0" rIns="0" bIns="0" rtlCol="0" anchor="t">
            <a:spAutoFit/>
          </a:bodyPr>
          <a:lstStyle/>
          <a:p>
            <a:pPr algn="l">
              <a:lnSpc>
                <a:spcPts val="4899"/>
              </a:lnSpc>
            </a:pPr>
            <a:r>
              <a:rPr lang="en-US" sz="4000" b="1" dirty="0">
                <a:solidFill>
                  <a:srgbClr val="000000"/>
                </a:solidFill>
                <a:latin typeface="Arial Bold"/>
                <a:ea typeface="Arial Bold"/>
                <a:cs typeface="Arial Bold"/>
                <a:sym typeface="Arial Bold"/>
              </a:rPr>
              <a:t>Componentes da rede</a:t>
            </a:r>
          </a:p>
        </p:txBody>
      </p:sp>
      <p:sp>
        <p:nvSpPr>
          <p:cNvPr id="16" name="TextBox 16"/>
          <p:cNvSpPr txBox="1"/>
          <p:nvPr/>
        </p:nvSpPr>
        <p:spPr>
          <a:xfrm>
            <a:off x="2371834" y="2987547"/>
            <a:ext cx="1753467" cy="424412"/>
          </a:xfrm>
          <a:prstGeom prst="rect">
            <a:avLst/>
          </a:prstGeom>
        </p:spPr>
        <p:txBody>
          <a:bodyPr wrap="square" lIns="0" tIns="0" rIns="0" bIns="0" rtlCol="0" anchor="t">
            <a:spAutoFit/>
          </a:bodyPr>
          <a:lstStyle/>
          <a:p>
            <a:pPr algn="l">
              <a:lnSpc>
                <a:spcPts val="3499"/>
              </a:lnSpc>
            </a:pPr>
            <a:r>
              <a:rPr lang="en-US" sz="2499" b="1" dirty="0">
                <a:solidFill>
                  <a:srgbClr val="000000"/>
                </a:solidFill>
                <a:latin typeface="Arial Bold"/>
                <a:ea typeface="Arial Bold"/>
                <a:cs typeface="Arial Bold"/>
                <a:sym typeface="Arial Bold"/>
              </a:rPr>
              <a:t>Nó Sensor</a:t>
            </a:r>
          </a:p>
        </p:txBody>
      </p:sp>
      <p:sp>
        <p:nvSpPr>
          <p:cNvPr id="17" name="TextBox 17"/>
          <p:cNvSpPr txBox="1"/>
          <p:nvPr/>
        </p:nvSpPr>
        <p:spPr>
          <a:xfrm>
            <a:off x="9447933" y="2987547"/>
            <a:ext cx="1980476" cy="424412"/>
          </a:xfrm>
          <a:prstGeom prst="rect">
            <a:avLst/>
          </a:prstGeom>
        </p:spPr>
        <p:txBody>
          <a:bodyPr wrap="square" lIns="0" tIns="0" rIns="0" bIns="0" rtlCol="0" anchor="t">
            <a:spAutoFit/>
          </a:bodyPr>
          <a:lstStyle/>
          <a:p>
            <a:pPr algn="l">
              <a:lnSpc>
                <a:spcPts val="3499"/>
              </a:lnSpc>
            </a:pPr>
            <a:r>
              <a:rPr lang="en-US" sz="2499" b="1" dirty="0">
                <a:solidFill>
                  <a:srgbClr val="000000"/>
                </a:solidFill>
                <a:latin typeface="Arial Bold"/>
                <a:ea typeface="Arial Bold"/>
                <a:cs typeface="Arial Bold"/>
                <a:sym typeface="Arial Bold"/>
              </a:rPr>
              <a:t>Nó Gateway</a:t>
            </a:r>
          </a:p>
        </p:txBody>
      </p:sp>
      <p:sp>
        <p:nvSpPr>
          <p:cNvPr id="18" name="TextBox 18"/>
          <p:cNvSpPr txBox="1"/>
          <p:nvPr/>
        </p:nvSpPr>
        <p:spPr>
          <a:xfrm>
            <a:off x="14908978" y="2987547"/>
            <a:ext cx="2822789" cy="424412"/>
          </a:xfrm>
          <a:prstGeom prst="rect">
            <a:avLst/>
          </a:prstGeom>
        </p:spPr>
        <p:txBody>
          <a:bodyPr wrap="square" lIns="0" tIns="0" rIns="0" bIns="0" rtlCol="0" anchor="t">
            <a:spAutoFit/>
          </a:bodyPr>
          <a:lstStyle/>
          <a:p>
            <a:pPr algn="l">
              <a:lnSpc>
                <a:spcPts val="3499"/>
              </a:lnSpc>
            </a:pPr>
            <a:r>
              <a:rPr lang="en-US" sz="2499" b="1" dirty="0">
                <a:solidFill>
                  <a:srgbClr val="000000"/>
                </a:solidFill>
                <a:latin typeface="Arial Bold"/>
                <a:ea typeface="Arial Bold"/>
                <a:cs typeface="Arial Bold"/>
                <a:sym typeface="Arial Bold"/>
              </a:rPr>
              <a:t>Central de Dados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9516758"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sp>
        <p:nvSpPr>
          <p:cNvPr id="8" name="Freeform 8"/>
          <p:cNvSpPr/>
          <p:nvPr/>
        </p:nvSpPr>
        <p:spPr>
          <a:xfrm>
            <a:off x="4713588" y="2745657"/>
            <a:ext cx="9111347" cy="6995331"/>
          </a:xfrm>
          <a:custGeom>
            <a:avLst/>
            <a:gdLst/>
            <a:ahLst/>
            <a:cxnLst/>
            <a:rect l="l" t="t" r="r" b="b"/>
            <a:pathLst>
              <a:path w="8734425" h="7829550">
                <a:moveTo>
                  <a:pt x="0" y="0"/>
                </a:moveTo>
                <a:lnTo>
                  <a:pt x="8734425" y="0"/>
                </a:lnTo>
                <a:lnTo>
                  <a:pt x="8734425" y="7829550"/>
                </a:lnTo>
                <a:lnTo>
                  <a:pt x="0" y="7829550"/>
                </a:lnTo>
                <a:lnTo>
                  <a:pt x="0" y="0"/>
                </a:lnTo>
                <a:close/>
              </a:path>
            </a:pathLst>
          </a:custGeom>
          <a:blipFill>
            <a:blip r:embed="rId7"/>
            <a:stretch>
              <a:fillRect/>
            </a:stretch>
          </a:blipFill>
        </p:spPr>
      </p:sp>
      <p:grpSp>
        <p:nvGrpSpPr>
          <p:cNvPr id="9" name="Group 9"/>
          <p:cNvGrpSpPr>
            <a:grpSpLocks noChangeAspect="1"/>
          </p:cNvGrpSpPr>
          <p:nvPr/>
        </p:nvGrpSpPr>
        <p:grpSpPr>
          <a:xfrm>
            <a:off x="1309897" y="9258300"/>
            <a:ext cx="1877854" cy="1028700"/>
            <a:chOff x="0" y="0"/>
            <a:chExt cx="1877847" cy="1028700"/>
          </a:xfrm>
        </p:grpSpPr>
        <p:sp>
          <p:nvSpPr>
            <p:cNvPr id="10" name="Freeform 10"/>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1" name="Group 11"/>
          <p:cNvGrpSpPr>
            <a:grpSpLocks noChangeAspect="1"/>
          </p:cNvGrpSpPr>
          <p:nvPr/>
        </p:nvGrpSpPr>
        <p:grpSpPr>
          <a:xfrm>
            <a:off x="16320373" y="0"/>
            <a:ext cx="1877854" cy="1369247"/>
            <a:chOff x="0" y="0"/>
            <a:chExt cx="1877847" cy="1369250"/>
          </a:xfrm>
        </p:grpSpPr>
        <p:sp>
          <p:nvSpPr>
            <p:cNvPr id="12" name="Freeform 12"/>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3" name="TextBox 13"/>
          <p:cNvSpPr txBox="1"/>
          <p:nvPr/>
        </p:nvSpPr>
        <p:spPr>
          <a:xfrm>
            <a:off x="4735359" y="546012"/>
            <a:ext cx="9494987"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III : Discussão do Tema</a:t>
            </a:r>
          </a:p>
        </p:txBody>
      </p:sp>
      <p:sp>
        <p:nvSpPr>
          <p:cNvPr id="14" name="TextBox 14"/>
          <p:cNvSpPr txBox="1"/>
          <p:nvPr/>
        </p:nvSpPr>
        <p:spPr>
          <a:xfrm>
            <a:off x="371504" y="1751542"/>
            <a:ext cx="9111348" cy="611834"/>
          </a:xfrm>
          <a:prstGeom prst="rect">
            <a:avLst/>
          </a:prstGeom>
        </p:spPr>
        <p:txBody>
          <a:bodyPr wrap="square" lIns="0" tIns="0" rIns="0" bIns="0" rtlCol="0" anchor="t">
            <a:spAutoFit/>
          </a:bodyPr>
          <a:lstStyle/>
          <a:p>
            <a:pPr algn="l">
              <a:lnSpc>
                <a:spcPts val="4899"/>
              </a:lnSpc>
            </a:pPr>
            <a:r>
              <a:rPr lang="en-US" sz="4000" b="1" dirty="0" err="1">
                <a:solidFill>
                  <a:srgbClr val="000000"/>
                </a:solidFill>
                <a:latin typeface="Arial Bold"/>
                <a:ea typeface="Arial Bold"/>
                <a:cs typeface="Arial Bold"/>
                <a:sym typeface="Arial Bold"/>
              </a:rPr>
              <a:t>Princípio</a:t>
            </a:r>
            <a:r>
              <a:rPr lang="en-US" sz="4000" b="1" dirty="0">
                <a:solidFill>
                  <a:srgbClr val="000000"/>
                </a:solidFill>
                <a:latin typeface="Arial Bold"/>
                <a:ea typeface="Arial Bold"/>
                <a:cs typeface="Arial Bold"/>
                <a:sym typeface="Arial Bold"/>
              </a:rPr>
              <a:t> de </a:t>
            </a:r>
            <a:r>
              <a:rPr lang="en-US" sz="4000" b="1" dirty="0" err="1">
                <a:solidFill>
                  <a:srgbClr val="000000"/>
                </a:solidFill>
                <a:latin typeface="Arial Bold"/>
                <a:ea typeface="Arial Bold"/>
                <a:cs typeface="Arial Bold"/>
                <a:sym typeface="Arial Bold"/>
              </a:rPr>
              <a:t>Funcionamento</a:t>
            </a:r>
            <a:r>
              <a:rPr lang="en-US" sz="4000" b="1" dirty="0">
                <a:solidFill>
                  <a:srgbClr val="000000"/>
                </a:solidFill>
                <a:latin typeface="Arial Bold"/>
                <a:ea typeface="Arial Bold"/>
                <a:cs typeface="Arial Bold"/>
                <a:sym typeface="Arial Bold"/>
              </a:rPr>
              <a:t> da rede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8" y="458791"/>
            <a:ext cx="10069211"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sp>
        <p:nvSpPr>
          <p:cNvPr id="8" name="Freeform 8"/>
          <p:cNvSpPr/>
          <p:nvPr/>
        </p:nvSpPr>
        <p:spPr>
          <a:xfrm>
            <a:off x="491766" y="2559129"/>
            <a:ext cx="5168865" cy="5883107"/>
          </a:xfrm>
          <a:custGeom>
            <a:avLst/>
            <a:gdLst/>
            <a:ahLst/>
            <a:cxnLst/>
            <a:rect l="l" t="t" r="r" b="b"/>
            <a:pathLst>
              <a:path w="5168865" h="5883107">
                <a:moveTo>
                  <a:pt x="0" y="0"/>
                </a:moveTo>
                <a:lnTo>
                  <a:pt x="5168865" y="0"/>
                </a:lnTo>
                <a:lnTo>
                  <a:pt x="5168865" y="5883107"/>
                </a:lnTo>
                <a:lnTo>
                  <a:pt x="0" y="58831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0" name="Group 10"/>
          <p:cNvGrpSpPr>
            <a:grpSpLocks noChangeAspect="1"/>
          </p:cNvGrpSpPr>
          <p:nvPr/>
        </p:nvGrpSpPr>
        <p:grpSpPr>
          <a:xfrm>
            <a:off x="1309897" y="9258300"/>
            <a:ext cx="1877854" cy="1028700"/>
            <a:chOff x="0" y="0"/>
            <a:chExt cx="1877847" cy="1028700"/>
          </a:xfrm>
        </p:grpSpPr>
        <p:sp>
          <p:nvSpPr>
            <p:cNvPr id="11" name="Freeform 11"/>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2" name="Group 12"/>
          <p:cNvGrpSpPr>
            <a:grpSpLocks noChangeAspect="1"/>
          </p:cNvGrpSpPr>
          <p:nvPr/>
        </p:nvGrpSpPr>
        <p:grpSpPr>
          <a:xfrm>
            <a:off x="16320373" y="0"/>
            <a:ext cx="1877854" cy="1369247"/>
            <a:chOff x="0" y="0"/>
            <a:chExt cx="1877847" cy="1369250"/>
          </a:xfrm>
        </p:grpSpPr>
        <p:sp>
          <p:nvSpPr>
            <p:cNvPr id="13" name="Freeform 13"/>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4" name="TextBox 14"/>
          <p:cNvSpPr txBox="1"/>
          <p:nvPr/>
        </p:nvSpPr>
        <p:spPr>
          <a:xfrm>
            <a:off x="1526010" y="2670734"/>
            <a:ext cx="3166548" cy="577777"/>
          </a:xfrm>
          <a:prstGeom prst="rect">
            <a:avLst/>
          </a:prstGeom>
        </p:spPr>
        <p:txBody>
          <a:bodyPr lIns="0" tIns="0" rIns="0" bIns="0" rtlCol="0" anchor="t">
            <a:spAutoFit/>
          </a:bodyPr>
          <a:lstStyle/>
          <a:p>
            <a:pPr algn="l">
              <a:lnSpc>
                <a:spcPts val="4998"/>
              </a:lnSpc>
            </a:pPr>
            <a:r>
              <a:rPr lang="en-US" sz="1999" b="1" dirty="0" err="1">
                <a:solidFill>
                  <a:srgbClr val="FFFFFF"/>
                </a:solidFill>
                <a:latin typeface="Arial Bold"/>
                <a:ea typeface="Arial Bold"/>
                <a:cs typeface="Arial Bold"/>
                <a:sym typeface="Arial Bold"/>
              </a:rPr>
              <a:t>Parâmetros</a:t>
            </a:r>
            <a:r>
              <a:rPr lang="en-US" sz="1999" b="1" dirty="0">
                <a:solidFill>
                  <a:srgbClr val="FFFFFF"/>
                </a:solidFill>
                <a:latin typeface="Arial Bold"/>
                <a:ea typeface="Arial Bold"/>
                <a:cs typeface="Arial Bold"/>
                <a:sym typeface="Arial Bold"/>
              </a:rPr>
              <a:t> da </a:t>
            </a:r>
            <a:r>
              <a:rPr lang="en-US" sz="1999" b="1" dirty="0" err="1">
                <a:solidFill>
                  <a:srgbClr val="FFFFFF"/>
                </a:solidFill>
                <a:latin typeface="Arial Bold"/>
                <a:ea typeface="Arial Bold"/>
                <a:cs typeface="Arial Bold"/>
                <a:sym typeface="Arial Bold"/>
              </a:rPr>
              <a:t>Simulação</a:t>
            </a:r>
            <a:endParaRPr lang="en-US" sz="1999" b="1" dirty="0">
              <a:solidFill>
                <a:srgbClr val="FFFFFF"/>
              </a:solidFill>
              <a:latin typeface="Arial Bold"/>
              <a:ea typeface="Arial Bold"/>
              <a:cs typeface="Arial Bold"/>
              <a:sym typeface="Arial Bold"/>
            </a:endParaRPr>
          </a:p>
        </p:txBody>
      </p:sp>
      <p:sp>
        <p:nvSpPr>
          <p:cNvPr id="15" name="TextBox 15"/>
          <p:cNvSpPr txBox="1"/>
          <p:nvPr/>
        </p:nvSpPr>
        <p:spPr>
          <a:xfrm>
            <a:off x="637804" y="3446250"/>
            <a:ext cx="1655150" cy="930202"/>
          </a:xfrm>
          <a:prstGeom prst="rect">
            <a:avLst/>
          </a:prstGeom>
        </p:spPr>
        <p:txBody>
          <a:bodyPr lIns="0" tIns="0" rIns="0" bIns="0" rtlCol="0" anchor="t">
            <a:spAutoFit/>
          </a:bodyPr>
          <a:lstStyle/>
          <a:p>
            <a:pPr algn="l">
              <a:lnSpc>
                <a:spcPts val="4998"/>
              </a:lnSpc>
            </a:pPr>
            <a:r>
              <a:rPr lang="en-US" sz="1999" b="1" dirty="0" err="1">
                <a:solidFill>
                  <a:srgbClr val="000000"/>
                </a:solidFill>
                <a:latin typeface="Arial Bold"/>
                <a:ea typeface="Arial Bold"/>
                <a:cs typeface="Arial Bold"/>
                <a:sym typeface="Arial Bold"/>
              </a:rPr>
              <a:t>Alcance</a:t>
            </a:r>
            <a:r>
              <a:rPr lang="en-US" sz="1999" b="1" dirty="0">
                <a:solidFill>
                  <a:srgbClr val="000000"/>
                </a:solidFill>
                <a:latin typeface="Arial Bold"/>
                <a:ea typeface="Arial Bold"/>
                <a:cs typeface="Arial Bold"/>
                <a:sym typeface="Arial Bold"/>
              </a:rPr>
              <a:t> da</a:t>
            </a:r>
          </a:p>
          <a:p>
            <a:pPr algn="l">
              <a:lnSpc>
                <a:spcPts val="1699"/>
              </a:lnSpc>
            </a:pPr>
            <a:r>
              <a:rPr lang="en-US" sz="1999" b="1" dirty="0" err="1">
                <a:solidFill>
                  <a:srgbClr val="000000"/>
                </a:solidFill>
                <a:latin typeface="Arial Bold"/>
                <a:ea typeface="Arial Bold"/>
                <a:cs typeface="Arial Bold"/>
                <a:sym typeface="Arial Bold"/>
              </a:rPr>
              <a:t>comunicação</a:t>
            </a:r>
            <a:endParaRPr lang="en-US" sz="1999" b="1" dirty="0">
              <a:solidFill>
                <a:srgbClr val="000000"/>
              </a:solidFill>
              <a:latin typeface="Arial Bold"/>
              <a:ea typeface="Arial Bold"/>
              <a:cs typeface="Arial Bold"/>
              <a:sym typeface="Arial Bold"/>
            </a:endParaRPr>
          </a:p>
        </p:txBody>
      </p:sp>
      <p:sp>
        <p:nvSpPr>
          <p:cNvPr id="16" name="TextBox 16"/>
          <p:cNvSpPr txBox="1"/>
          <p:nvPr/>
        </p:nvSpPr>
        <p:spPr>
          <a:xfrm>
            <a:off x="3987459" y="4013054"/>
            <a:ext cx="993199" cy="154529"/>
          </a:xfrm>
          <a:prstGeom prst="rect">
            <a:avLst/>
          </a:prstGeom>
        </p:spPr>
        <p:txBody>
          <a:bodyPr wrap="square" lIns="0" tIns="0" rIns="0" bIns="0" rtlCol="0" anchor="t">
            <a:spAutoFit/>
          </a:bodyPr>
          <a:lstStyle/>
          <a:p>
            <a:pPr algn="l">
              <a:lnSpc>
                <a:spcPts val="999"/>
              </a:lnSpc>
            </a:pPr>
            <a:r>
              <a:rPr lang="en-US" sz="1999" dirty="0">
                <a:solidFill>
                  <a:srgbClr val="000000"/>
                </a:solidFill>
                <a:latin typeface="Arial"/>
                <a:ea typeface="Arial"/>
                <a:cs typeface="Arial"/>
                <a:sym typeface="Arial"/>
              </a:rPr>
              <a:t>~ 10km</a:t>
            </a:r>
          </a:p>
        </p:txBody>
      </p:sp>
      <p:sp>
        <p:nvSpPr>
          <p:cNvPr id="17" name="TextBox 17"/>
          <p:cNvSpPr txBox="1"/>
          <p:nvPr/>
        </p:nvSpPr>
        <p:spPr>
          <a:xfrm>
            <a:off x="637804" y="4402741"/>
            <a:ext cx="1755886" cy="930202"/>
          </a:xfrm>
          <a:prstGeom prst="rect">
            <a:avLst/>
          </a:prstGeom>
        </p:spPr>
        <p:txBody>
          <a:bodyPr lIns="0" tIns="0" rIns="0" bIns="0" rtlCol="0" anchor="t">
            <a:spAutoFit/>
          </a:bodyPr>
          <a:lstStyle/>
          <a:p>
            <a:pPr algn="l">
              <a:lnSpc>
                <a:spcPts val="4998"/>
              </a:lnSpc>
            </a:pPr>
            <a:r>
              <a:rPr lang="en-US" sz="1999" b="1" dirty="0" err="1">
                <a:solidFill>
                  <a:srgbClr val="000000"/>
                </a:solidFill>
                <a:latin typeface="Arial Bold"/>
                <a:ea typeface="Arial Bold"/>
                <a:cs typeface="Arial Bold"/>
                <a:sym typeface="Arial Bold"/>
              </a:rPr>
              <a:t>Frequência</a:t>
            </a:r>
            <a:r>
              <a:rPr lang="en-US" sz="1999" b="1" dirty="0">
                <a:solidFill>
                  <a:srgbClr val="000000"/>
                </a:solidFill>
                <a:latin typeface="Arial Bold"/>
                <a:ea typeface="Arial Bold"/>
                <a:cs typeface="Arial Bold"/>
                <a:sym typeface="Arial Bold"/>
              </a:rPr>
              <a:t> de</a:t>
            </a:r>
          </a:p>
          <a:p>
            <a:pPr algn="l">
              <a:lnSpc>
                <a:spcPts val="1699"/>
              </a:lnSpc>
            </a:pPr>
            <a:r>
              <a:rPr lang="en-US" sz="1999" b="1" dirty="0" err="1">
                <a:solidFill>
                  <a:srgbClr val="000000"/>
                </a:solidFill>
                <a:latin typeface="Arial Bold"/>
                <a:ea typeface="Arial Bold"/>
                <a:cs typeface="Arial Bold"/>
                <a:sym typeface="Arial Bold"/>
              </a:rPr>
              <a:t>amostragem</a:t>
            </a:r>
            <a:endParaRPr lang="en-US" sz="1999" b="1" dirty="0">
              <a:solidFill>
                <a:srgbClr val="000000"/>
              </a:solidFill>
              <a:latin typeface="Arial Bold"/>
              <a:ea typeface="Arial Bold"/>
              <a:cs typeface="Arial Bold"/>
              <a:sym typeface="Arial Bold"/>
            </a:endParaRPr>
          </a:p>
        </p:txBody>
      </p:sp>
      <p:sp>
        <p:nvSpPr>
          <p:cNvPr id="18" name="TextBox 18"/>
          <p:cNvSpPr txBox="1"/>
          <p:nvPr/>
        </p:nvSpPr>
        <p:spPr>
          <a:xfrm>
            <a:off x="3849795" y="4969545"/>
            <a:ext cx="993200" cy="154529"/>
          </a:xfrm>
          <a:prstGeom prst="rect">
            <a:avLst/>
          </a:prstGeom>
        </p:spPr>
        <p:txBody>
          <a:bodyPr lIns="0" tIns="0" rIns="0" bIns="0" rtlCol="0" anchor="t">
            <a:spAutoFit/>
          </a:bodyPr>
          <a:lstStyle/>
          <a:p>
            <a:pPr algn="l">
              <a:lnSpc>
                <a:spcPts val="999"/>
              </a:lnSpc>
            </a:pPr>
            <a:r>
              <a:rPr lang="en-US" sz="1999" dirty="0">
                <a:solidFill>
                  <a:srgbClr val="000000"/>
                </a:solidFill>
                <a:latin typeface="Arial"/>
                <a:ea typeface="Arial"/>
                <a:cs typeface="Arial"/>
                <a:sym typeface="Arial"/>
              </a:rPr>
              <a:t>1/10 min</a:t>
            </a:r>
          </a:p>
        </p:txBody>
      </p:sp>
      <p:sp>
        <p:nvSpPr>
          <p:cNvPr id="19" name="TextBox 19"/>
          <p:cNvSpPr txBox="1"/>
          <p:nvPr/>
        </p:nvSpPr>
        <p:spPr>
          <a:xfrm>
            <a:off x="637804" y="5359241"/>
            <a:ext cx="1295429" cy="930202"/>
          </a:xfrm>
          <a:prstGeom prst="rect">
            <a:avLst/>
          </a:prstGeom>
        </p:spPr>
        <p:txBody>
          <a:bodyPr lIns="0" tIns="0" rIns="0" bIns="0" rtlCol="0" anchor="t">
            <a:spAutoFit/>
          </a:bodyPr>
          <a:lstStyle/>
          <a:p>
            <a:pPr algn="l">
              <a:lnSpc>
                <a:spcPts val="4998"/>
              </a:lnSpc>
            </a:pPr>
            <a:r>
              <a:rPr lang="en-US" sz="1999" b="1" dirty="0">
                <a:solidFill>
                  <a:srgbClr val="000000"/>
                </a:solidFill>
                <a:latin typeface="Arial Bold"/>
                <a:ea typeface="Arial Bold"/>
                <a:cs typeface="Arial Bold"/>
                <a:sym typeface="Arial Bold"/>
              </a:rPr>
              <a:t>Tempo de</a:t>
            </a:r>
          </a:p>
          <a:p>
            <a:pPr algn="l">
              <a:lnSpc>
                <a:spcPts val="1699"/>
              </a:lnSpc>
            </a:pPr>
            <a:r>
              <a:rPr lang="en-US" sz="1999" b="1" dirty="0" err="1">
                <a:solidFill>
                  <a:srgbClr val="000000"/>
                </a:solidFill>
                <a:latin typeface="Arial Bold"/>
                <a:ea typeface="Arial Bold"/>
                <a:cs typeface="Arial Bold"/>
                <a:sym typeface="Arial Bold"/>
              </a:rPr>
              <a:t>Simulação</a:t>
            </a:r>
            <a:endParaRPr lang="en-US" sz="1999" b="1" dirty="0">
              <a:solidFill>
                <a:srgbClr val="000000"/>
              </a:solidFill>
              <a:latin typeface="Arial Bold"/>
              <a:ea typeface="Arial Bold"/>
              <a:cs typeface="Arial Bold"/>
              <a:sym typeface="Arial Bold"/>
            </a:endParaRPr>
          </a:p>
        </p:txBody>
      </p:sp>
      <p:sp>
        <p:nvSpPr>
          <p:cNvPr id="20" name="TextBox 20"/>
          <p:cNvSpPr txBox="1"/>
          <p:nvPr/>
        </p:nvSpPr>
        <p:spPr>
          <a:xfrm>
            <a:off x="4061431" y="5926036"/>
            <a:ext cx="561480" cy="196777"/>
          </a:xfrm>
          <a:prstGeom prst="rect">
            <a:avLst/>
          </a:prstGeom>
        </p:spPr>
        <p:txBody>
          <a:bodyPr lIns="0" tIns="0" rIns="0" bIns="0" rtlCol="0" anchor="t">
            <a:spAutoFit/>
          </a:bodyPr>
          <a:lstStyle/>
          <a:p>
            <a:pPr algn="l">
              <a:lnSpc>
                <a:spcPts val="999"/>
              </a:lnSpc>
            </a:pPr>
            <a:r>
              <a:rPr lang="en-US" sz="1999">
                <a:solidFill>
                  <a:srgbClr val="000000"/>
                </a:solidFill>
                <a:latin typeface="Arial"/>
                <a:ea typeface="Arial"/>
                <a:cs typeface="Arial"/>
                <a:sym typeface="Arial"/>
              </a:rPr>
              <a:t>24hs</a:t>
            </a:r>
          </a:p>
        </p:txBody>
      </p:sp>
      <p:sp>
        <p:nvSpPr>
          <p:cNvPr id="21" name="TextBox 21"/>
          <p:cNvSpPr txBox="1"/>
          <p:nvPr/>
        </p:nvSpPr>
        <p:spPr>
          <a:xfrm>
            <a:off x="637804" y="6315732"/>
            <a:ext cx="1295429" cy="930202"/>
          </a:xfrm>
          <a:prstGeom prst="rect">
            <a:avLst/>
          </a:prstGeom>
        </p:spPr>
        <p:txBody>
          <a:bodyPr lIns="0" tIns="0" rIns="0" bIns="0" rtlCol="0" anchor="t">
            <a:spAutoFit/>
          </a:bodyPr>
          <a:lstStyle/>
          <a:p>
            <a:pPr algn="l">
              <a:lnSpc>
                <a:spcPts val="4998"/>
              </a:lnSpc>
            </a:pPr>
            <a:r>
              <a:rPr lang="en-US" sz="1999" b="1" dirty="0">
                <a:solidFill>
                  <a:srgbClr val="000000"/>
                </a:solidFill>
                <a:latin typeface="Arial Bold"/>
                <a:ea typeface="Arial Bold"/>
                <a:cs typeface="Arial Bold"/>
                <a:sym typeface="Arial Bold"/>
              </a:rPr>
              <a:t>Duty cycle</a:t>
            </a:r>
          </a:p>
          <a:p>
            <a:pPr algn="l">
              <a:lnSpc>
                <a:spcPts val="1699"/>
              </a:lnSpc>
            </a:pPr>
            <a:r>
              <a:rPr lang="en-US" sz="1999" b="1" dirty="0" err="1">
                <a:solidFill>
                  <a:srgbClr val="000000"/>
                </a:solidFill>
                <a:latin typeface="Arial Bold"/>
                <a:ea typeface="Arial Bold"/>
                <a:cs typeface="Arial Bold"/>
                <a:sym typeface="Arial Bold"/>
              </a:rPr>
              <a:t>estimado</a:t>
            </a:r>
            <a:endParaRPr lang="en-US" sz="1999" b="1" dirty="0">
              <a:solidFill>
                <a:srgbClr val="000000"/>
              </a:solidFill>
              <a:latin typeface="Arial Bold"/>
              <a:ea typeface="Arial Bold"/>
              <a:cs typeface="Arial Bold"/>
              <a:sym typeface="Arial Bold"/>
            </a:endParaRPr>
          </a:p>
        </p:txBody>
      </p:sp>
      <p:sp>
        <p:nvSpPr>
          <p:cNvPr id="22" name="TextBox 22"/>
          <p:cNvSpPr txBox="1"/>
          <p:nvPr/>
        </p:nvSpPr>
        <p:spPr>
          <a:xfrm>
            <a:off x="4153252" y="6882527"/>
            <a:ext cx="374256" cy="196777"/>
          </a:xfrm>
          <a:prstGeom prst="rect">
            <a:avLst/>
          </a:prstGeom>
        </p:spPr>
        <p:txBody>
          <a:bodyPr lIns="0" tIns="0" rIns="0" bIns="0" rtlCol="0" anchor="t">
            <a:spAutoFit/>
          </a:bodyPr>
          <a:lstStyle/>
          <a:p>
            <a:pPr algn="l">
              <a:lnSpc>
                <a:spcPts val="999"/>
              </a:lnSpc>
            </a:pPr>
            <a:r>
              <a:rPr lang="en-US" sz="1999">
                <a:solidFill>
                  <a:srgbClr val="000000"/>
                </a:solidFill>
                <a:latin typeface="Arial"/>
                <a:ea typeface="Arial"/>
                <a:cs typeface="Arial"/>
                <a:sym typeface="Arial"/>
              </a:rPr>
              <a:t>1%</a:t>
            </a:r>
          </a:p>
        </p:txBody>
      </p:sp>
      <p:sp>
        <p:nvSpPr>
          <p:cNvPr id="23" name="TextBox 23"/>
          <p:cNvSpPr txBox="1"/>
          <p:nvPr/>
        </p:nvSpPr>
        <p:spPr>
          <a:xfrm>
            <a:off x="637804" y="7272223"/>
            <a:ext cx="1741389" cy="930202"/>
          </a:xfrm>
          <a:prstGeom prst="rect">
            <a:avLst/>
          </a:prstGeom>
        </p:spPr>
        <p:txBody>
          <a:bodyPr lIns="0" tIns="0" rIns="0" bIns="0" rtlCol="0" anchor="t">
            <a:spAutoFit/>
          </a:bodyPr>
          <a:lstStyle/>
          <a:p>
            <a:pPr algn="l">
              <a:lnSpc>
                <a:spcPts val="4998"/>
              </a:lnSpc>
            </a:pPr>
            <a:r>
              <a:rPr lang="en-US" sz="1999" b="1" dirty="0">
                <a:solidFill>
                  <a:srgbClr val="000000"/>
                </a:solidFill>
                <a:latin typeface="Arial Bold"/>
                <a:ea typeface="Arial Bold"/>
                <a:cs typeface="Arial Bold"/>
                <a:sym typeface="Arial Bold"/>
              </a:rPr>
              <a:t>Factor de</a:t>
            </a:r>
          </a:p>
          <a:p>
            <a:pPr algn="l">
              <a:lnSpc>
                <a:spcPts val="1699"/>
              </a:lnSpc>
            </a:pPr>
            <a:r>
              <a:rPr lang="en-US" sz="1999" b="1" dirty="0" err="1">
                <a:solidFill>
                  <a:srgbClr val="000000"/>
                </a:solidFill>
                <a:latin typeface="Arial Bold"/>
                <a:ea typeface="Arial Bold"/>
                <a:cs typeface="Arial Bold"/>
                <a:sym typeface="Arial Bold"/>
              </a:rPr>
              <a:t>espalhamento</a:t>
            </a:r>
            <a:endParaRPr lang="en-US" sz="1999" b="1" dirty="0">
              <a:solidFill>
                <a:srgbClr val="000000"/>
              </a:solidFill>
              <a:latin typeface="Arial Bold"/>
              <a:ea typeface="Arial Bold"/>
              <a:cs typeface="Arial Bold"/>
              <a:sym typeface="Arial Bold"/>
            </a:endParaRPr>
          </a:p>
        </p:txBody>
      </p:sp>
      <p:sp>
        <p:nvSpPr>
          <p:cNvPr id="24" name="TextBox 24"/>
          <p:cNvSpPr txBox="1"/>
          <p:nvPr/>
        </p:nvSpPr>
        <p:spPr>
          <a:xfrm>
            <a:off x="4266067" y="7839018"/>
            <a:ext cx="374256" cy="154529"/>
          </a:xfrm>
          <a:prstGeom prst="rect">
            <a:avLst/>
          </a:prstGeom>
        </p:spPr>
        <p:txBody>
          <a:bodyPr wrap="square" lIns="0" tIns="0" rIns="0" bIns="0" rtlCol="0" anchor="t">
            <a:spAutoFit/>
          </a:bodyPr>
          <a:lstStyle/>
          <a:p>
            <a:pPr algn="l">
              <a:lnSpc>
                <a:spcPts val="999"/>
              </a:lnSpc>
            </a:pPr>
            <a:r>
              <a:rPr lang="en-US" sz="1999" dirty="0">
                <a:solidFill>
                  <a:srgbClr val="000000"/>
                </a:solidFill>
                <a:latin typeface="Arial"/>
                <a:ea typeface="Arial"/>
                <a:cs typeface="Arial"/>
                <a:sym typeface="Arial"/>
              </a:rPr>
              <a:t>10</a:t>
            </a:r>
          </a:p>
        </p:txBody>
      </p:sp>
      <p:sp>
        <p:nvSpPr>
          <p:cNvPr id="25" name="TextBox 25"/>
          <p:cNvSpPr txBox="1"/>
          <p:nvPr/>
        </p:nvSpPr>
        <p:spPr>
          <a:xfrm>
            <a:off x="4981574" y="511080"/>
            <a:ext cx="9533252"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III : Discussão do Tema</a:t>
            </a:r>
          </a:p>
        </p:txBody>
      </p:sp>
      <p:sp>
        <p:nvSpPr>
          <p:cNvPr id="26" name="TextBox 26"/>
          <p:cNvSpPr txBox="1"/>
          <p:nvPr/>
        </p:nvSpPr>
        <p:spPr>
          <a:xfrm>
            <a:off x="990352" y="1622231"/>
            <a:ext cx="8153648" cy="611834"/>
          </a:xfrm>
          <a:prstGeom prst="rect">
            <a:avLst/>
          </a:prstGeom>
        </p:spPr>
        <p:txBody>
          <a:bodyPr wrap="square" lIns="0" tIns="0" rIns="0" bIns="0" rtlCol="0" anchor="t">
            <a:spAutoFit/>
          </a:bodyPr>
          <a:lstStyle/>
          <a:p>
            <a:pPr algn="l">
              <a:lnSpc>
                <a:spcPts val="4899"/>
              </a:lnSpc>
            </a:pPr>
            <a:r>
              <a:rPr lang="en-US" sz="4000" b="1" dirty="0" err="1">
                <a:solidFill>
                  <a:srgbClr val="000000"/>
                </a:solidFill>
                <a:latin typeface="Arial Bold"/>
                <a:ea typeface="Arial Bold"/>
                <a:cs typeface="Arial Bold"/>
                <a:sym typeface="Arial Bold"/>
              </a:rPr>
              <a:t>Modelagem</a:t>
            </a:r>
            <a:r>
              <a:rPr lang="en-US" sz="4000" b="1" dirty="0">
                <a:solidFill>
                  <a:srgbClr val="000000"/>
                </a:solidFill>
                <a:latin typeface="Arial Bold"/>
                <a:ea typeface="Arial Bold"/>
                <a:cs typeface="Arial Bold"/>
                <a:sym typeface="Arial Bold"/>
              </a:rPr>
              <a:t> e </a:t>
            </a:r>
            <a:r>
              <a:rPr lang="en-US" sz="4000" b="1" dirty="0" err="1">
                <a:solidFill>
                  <a:srgbClr val="000000"/>
                </a:solidFill>
                <a:latin typeface="Arial Bold"/>
                <a:ea typeface="Arial Bold"/>
                <a:cs typeface="Arial Bold"/>
                <a:sym typeface="Arial Bold"/>
              </a:rPr>
              <a:t>Simulação</a:t>
            </a:r>
            <a:r>
              <a:rPr lang="en-US" sz="4000" b="1" dirty="0">
                <a:solidFill>
                  <a:srgbClr val="000000"/>
                </a:solidFill>
                <a:latin typeface="Arial Bold"/>
                <a:ea typeface="Arial Bold"/>
                <a:cs typeface="Arial Bold"/>
                <a:sym typeface="Arial Bold"/>
              </a:rPr>
              <a:t> da Rede</a:t>
            </a:r>
          </a:p>
        </p:txBody>
      </p:sp>
      <p:pic>
        <p:nvPicPr>
          <p:cNvPr id="29" name="Imagem 28">
            <a:extLst>
              <a:ext uri="{FF2B5EF4-FFF2-40B4-BE49-F238E27FC236}">
                <a16:creationId xmlns:a16="http://schemas.microsoft.com/office/drawing/2014/main" id="{87712BF4-6F79-31FD-1025-B8D9F25A68D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29299" y="2333625"/>
            <a:ext cx="11966935" cy="74945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9529820"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p:cNvGrpSpPr>
            <a:grpSpLocks noChangeAspect="1"/>
          </p:cNvGrpSpPr>
          <p:nvPr/>
        </p:nvGrpSpPr>
        <p:grpSpPr>
          <a:xfrm>
            <a:off x="1309897" y="9258300"/>
            <a:ext cx="1877854" cy="1028700"/>
            <a:chOff x="0" y="0"/>
            <a:chExt cx="1877847" cy="1028700"/>
          </a:xfrm>
        </p:grpSpPr>
        <p:sp>
          <p:nvSpPr>
            <p:cNvPr id="9" name="Freeform 9"/>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sp>
        <p:nvSpPr>
          <p:cNvPr id="10" name="Freeform 10"/>
          <p:cNvSpPr/>
          <p:nvPr/>
        </p:nvSpPr>
        <p:spPr>
          <a:xfrm>
            <a:off x="202654" y="3082531"/>
            <a:ext cx="4740231" cy="4419581"/>
          </a:xfrm>
          <a:custGeom>
            <a:avLst/>
            <a:gdLst/>
            <a:ahLst/>
            <a:cxnLst/>
            <a:rect l="l" t="t" r="r" b="b"/>
            <a:pathLst>
              <a:path w="4740231" h="4419581">
                <a:moveTo>
                  <a:pt x="0" y="0"/>
                </a:moveTo>
                <a:lnTo>
                  <a:pt x="4740230" y="0"/>
                </a:lnTo>
                <a:lnTo>
                  <a:pt x="4740230" y="4419581"/>
                </a:lnTo>
                <a:lnTo>
                  <a:pt x="0" y="44195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1" name="Group 11"/>
          <p:cNvGrpSpPr>
            <a:grpSpLocks noChangeAspect="1"/>
          </p:cNvGrpSpPr>
          <p:nvPr/>
        </p:nvGrpSpPr>
        <p:grpSpPr>
          <a:xfrm>
            <a:off x="16320373" y="0"/>
            <a:ext cx="1877854" cy="1369247"/>
            <a:chOff x="0" y="0"/>
            <a:chExt cx="1877847" cy="1369250"/>
          </a:xfrm>
        </p:grpSpPr>
        <p:sp>
          <p:nvSpPr>
            <p:cNvPr id="12" name="Freeform 12"/>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3" name="TextBox 13"/>
          <p:cNvSpPr txBox="1"/>
          <p:nvPr/>
        </p:nvSpPr>
        <p:spPr>
          <a:xfrm>
            <a:off x="4789081" y="511080"/>
            <a:ext cx="9454341"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III : Discussão do Tema</a:t>
            </a:r>
          </a:p>
        </p:txBody>
      </p:sp>
      <p:sp>
        <p:nvSpPr>
          <p:cNvPr id="14" name="TextBox 14"/>
          <p:cNvSpPr txBox="1"/>
          <p:nvPr/>
        </p:nvSpPr>
        <p:spPr>
          <a:xfrm>
            <a:off x="711450" y="1689177"/>
            <a:ext cx="6737165" cy="611834"/>
          </a:xfrm>
          <a:prstGeom prst="rect">
            <a:avLst/>
          </a:prstGeom>
        </p:spPr>
        <p:txBody>
          <a:bodyPr wrap="square" lIns="0" tIns="0" rIns="0" bIns="0" rtlCol="0" anchor="t">
            <a:spAutoFit/>
          </a:bodyPr>
          <a:lstStyle/>
          <a:p>
            <a:pPr algn="l">
              <a:lnSpc>
                <a:spcPts val="4899"/>
              </a:lnSpc>
            </a:pPr>
            <a:r>
              <a:rPr lang="en-US" sz="4000" b="1" dirty="0" err="1">
                <a:solidFill>
                  <a:srgbClr val="000000"/>
                </a:solidFill>
                <a:latin typeface="Arial Bold"/>
                <a:ea typeface="Arial Bold"/>
                <a:cs typeface="Arial Bold"/>
                <a:sym typeface="Arial Bold"/>
              </a:rPr>
              <a:t>Métricas</a:t>
            </a:r>
            <a:r>
              <a:rPr lang="en-US" sz="4000" b="1" dirty="0">
                <a:solidFill>
                  <a:srgbClr val="000000"/>
                </a:solidFill>
                <a:latin typeface="Arial Bold"/>
                <a:ea typeface="Arial Bold"/>
                <a:cs typeface="Arial Bold"/>
                <a:sym typeface="Arial Bold"/>
              </a:rPr>
              <a:t> de </a:t>
            </a:r>
            <a:r>
              <a:rPr lang="en-US" sz="4000" b="1" dirty="0" err="1">
                <a:solidFill>
                  <a:srgbClr val="000000"/>
                </a:solidFill>
                <a:latin typeface="Arial Bold"/>
                <a:ea typeface="Arial Bold"/>
                <a:cs typeface="Arial Bold"/>
                <a:sym typeface="Arial Bold"/>
              </a:rPr>
              <a:t>desempenho</a:t>
            </a:r>
            <a:endParaRPr lang="en-US" sz="4000" b="1" dirty="0">
              <a:solidFill>
                <a:srgbClr val="000000"/>
              </a:solidFill>
              <a:latin typeface="Arial Bold"/>
              <a:ea typeface="Arial Bold"/>
              <a:cs typeface="Arial Bold"/>
              <a:sym typeface="Arial Bold"/>
            </a:endParaRPr>
          </a:p>
        </p:txBody>
      </p:sp>
      <p:sp>
        <p:nvSpPr>
          <p:cNvPr id="15" name="TextBox 15"/>
          <p:cNvSpPr txBox="1"/>
          <p:nvPr/>
        </p:nvSpPr>
        <p:spPr>
          <a:xfrm>
            <a:off x="826399" y="2451724"/>
            <a:ext cx="4740231" cy="460382"/>
          </a:xfrm>
          <a:prstGeom prst="rect">
            <a:avLst/>
          </a:prstGeom>
        </p:spPr>
        <p:txBody>
          <a:bodyPr wrap="square" lIns="0" tIns="0" rIns="0" bIns="0" rtlCol="0" anchor="t">
            <a:spAutoFit/>
          </a:bodyPr>
          <a:lstStyle/>
          <a:p>
            <a:pPr algn="l">
              <a:lnSpc>
                <a:spcPts val="3779"/>
              </a:lnSpc>
            </a:pPr>
            <a:r>
              <a:rPr lang="en-US" sz="2700" b="1" dirty="0" err="1">
                <a:solidFill>
                  <a:srgbClr val="000000"/>
                </a:solidFill>
                <a:latin typeface="Arial Bold"/>
                <a:ea typeface="Arial Bold"/>
                <a:cs typeface="Arial Bold"/>
                <a:sym typeface="Arial Bold"/>
              </a:rPr>
              <a:t>Área</a:t>
            </a:r>
            <a:r>
              <a:rPr lang="en-US" sz="2700" b="1" dirty="0">
                <a:solidFill>
                  <a:srgbClr val="000000"/>
                </a:solidFill>
                <a:latin typeface="Arial Bold"/>
                <a:ea typeface="Arial Bold"/>
                <a:cs typeface="Arial Bold"/>
                <a:sym typeface="Arial Bold"/>
              </a:rPr>
              <a:t> de </a:t>
            </a:r>
            <a:r>
              <a:rPr lang="en-US" sz="2700" b="1" dirty="0" err="1">
                <a:solidFill>
                  <a:srgbClr val="000000"/>
                </a:solidFill>
                <a:latin typeface="Arial Bold"/>
                <a:ea typeface="Arial Bold"/>
                <a:cs typeface="Arial Bold"/>
                <a:sym typeface="Arial Bold"/>
              </a:rPr>
              <a:t>cobertura</a:t>
            </a:r>
            <a:r>
              <a:rPr lang="en-US" sz="2700" b="1" dirty="0">
                <a:solidFill>
                  <a:srgbClr val="000000"/>
                </a:solidFill>
                <a:latin typeface="Arial Bold"/>
                <a:ea typeface="Arial Bold"/>
                <a:cs typeface="Arial Bold"/>
                <a:sym typeface="Arial Bold"/>
              </a:rPr>
              <a:t> da rede</a:t>
            </a:r>
          </a:p>
        </p:txBody>
      </p:sp>
      <p:sp>
        <p:nvSpPr>
          <p:cNvPr id="16" name="TextBox 16"/>
          <p:cNvSpPr txBox="1"/>
          <p:nvPr/>
        </p:nvSpPr>
        <p:spPr>
          <a:xfrm>
            <a:off x="7000988" y="2451725"/>
            <a:ext cx="3590811" cy="460381"/>
          </a:xfrm>
          <a:prstGeom prst="rect">
            <a:avLst/>
          </a:prstGeom>
        </p:spPr>
        <p:txBody>
          <a:bodyPr wrap="square" lIns="0" tIns="0" rIns="0" bIns="0" rtlCol="0" anchor="t">
            <a:spAutoFit/>
          </a:bodyPr>
          <a:lstStyle/>
          <a:p>
            <a:pPr algn="l">
              <a:lnSpc>
                <a:spcPts val="3779"/>
              </a:lnSpc>
            </a:pPr>
            <a:r>
              <a:rPr lang="en-US" sz="2700" b="1" dirty="0">
                <a:solidFill>
                  <a:srgbClr val="000000"/>
                </a:solidFill>
                <a:latin typeface="Arial Bold"/>
                <a:ea typeface="Arial Bold"/>
                <a:cs typeface="Arial Bold"/>
                <a:sym typeface="Arial Bold"/>
              </a:rPr>
              <a:t>Vida </a:t>
            </a:r>
            <a:r>
              <a:rPr lang="en-US" sz="2700" b="1" dirty="0" err="1">
                <a:solidFill>
                  <a:srgbClr val="000000"/>
                </a:solidFill>
                <a:latin typeface="Arial Bold"/>
                <a:ea typeface="Arial Bold"/>
                <a:cs typeface="Arial Bold"/>
                <a:sym typeface="Arial Bold"/>
              </a:rPr>
              <a:t>útil</a:t>
            </a:r>
            <a:r>
              <a:rPr lang="en-US" sz="2700" b="1" dirty="0">
                <a:solidFill>
                  <a:srgbClr val="000000"/>
                </a:solidFill>
                <a:latin typeface="Arial Bold"/>
                <a:ea typeface="Arial Bold"/>
                <a:cs typeface="Arial Bold"/>
                <a:sym typeface="Arial Bold"/>
              </a:rPr>
              <a:t> da rede</a:t>
            </a:r>
          </a:p>
        </p:txBody>
      </p:sp>
      <p:sp>
        <p:nvSpPr>
          <p:cNvPr id="17" name="TextBox 17"/>
          <p:cNvSpPr txBox="1"/>
          <p:nvPr/>
        </p:nvSpPr>
        <p:spPr>
          <a:xfrm>
            <a:off x="774023" y="5122504"/>
            <a:ext cx="791975"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408,15</a:t>
            </a:r>
          </a:p>
        </p:txBody>
      </p:sp>
      <p:sp>
        <p:nvSpPr>
          <p:cNvPr id="18" name="TextBox 18"/>
          <p:cNvSpPr txBox="1"/>
          <p:nvPr/>
        </p:nvSpPr>
        <p:spPr>
          <a:xfrm>
            <a:off x="774023" y="5954732"/>
            <a:ext cx="791975"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408,15</a:t>
            </a:r>
          </a:p>
        </p:txBody>
      </p:sp>
      <p:sp>
        <p:nvSpPr>
          <p:cNvPr id="19" name="TextBox 19"/>
          <p:cNvSpPr txBox="1"/>
          <p:nvPr/>
        </p:nvSpPr>
        <p:spPr>
          <a:xfrm>
            <a:off x="774023" y="6786950"/>
            <a:ext cx="791975"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408,15</a:t>
            </a:r>
          </a:p>
        </p:txBody>
      </p:sp>
      <mc:AlternateContent xmlns:mc="http://schemas.openxmlformats.org/markup-compatibility/2006" xmlns:a14="http://schemas.microsoft.com/office/drawing/2010/main">
        <mc:Choice Requires="a14">
          <p:sp>
            <p:nvSpPr>
              <p:cNvPr id="20" name="TextBox 20"/>
              <p:cNvSpPr txBox="1"/>
              <p:nvPr/>
            </p:nvSpPr>
            <p:spPr>
              <a:xfrm>
                <a:off x="766879" y="3197616"/>
                <a:ext cx="806320" cy="686470"/>
              </a:xfrm>
              <a:prstGeom prst="rect">
                <a:avLst/>
              </a:prstGeom>
            </p:spPr>
            <p:txBody>
              <a:bodyPr wrap="square" lIns="0" tIns="0" rIns="0" bIns="0" rtlCol="0" anchor="t">
                <a:spAutoFit/>
              </a:bodyPr>
              <a:lstStyle/>
              <a:p>
                <a:pPr algn="just">
                  <a:lnSpc>
                    <a:spcPts val="2775"/>
                  </a:lnSpc>
                </a:pPr>
                <a:r>
                  <a:rPr lang="en-US" sz="1999" dirty="0">
                    <a:solidFill>
                      <a:srgbClr val="000000"/>
                    </a:solidFill>
                    <a:latin typeface="Arial"/>
                    <a:ea typeface="Arial"/>
                    <a:cs typeface="Arial"/>
                    <a:sym typeface="Arial"/>
                  </a:rPr>
                  <a:t> </a:t>
                </a:r>
                <a:r>
                  <a:rPr lang="en-US" sz="1999" dirty="0">
                    <a:solidFill>
                      <a:srgbClr val="FFFFFF"/>
                    </a:solidFill>
                    <a:latin typeface="Arial"/>
                    <a:ea typeface="Arial"/>
                    <a:cs typeface="Arial"/>
                    <a:sym typeface="Arial"/>
                  </a:rPr>
                  <a:t> </a:t>
                </a:r>
                <a14:m>
                  <m:oMath xmlns:m="http://schemas.openxmlformats.org/officeDocument/2006/math">
                    <m:sSub>
                      <m:sSubPr>
                        <m:ctrlPr>
                          <a:rPr lang="en-US" sz="1999" i="1" smtClean="0">
                            <a:solidFill>
                              <a:srgbClr val="FFFFFF"/>
                            </a:solidFill>
                            <a:latin typeface="Cambria Math" panose="02040503050406030204" pitchFamily="18" charset="0"/>
                            <a:cs typeface="Arial"/>
                            <a:sym typeface="Arial"/>
                          </a:rPr>
                        </m:ctrlPr>
                      </m:sSubPr>
                      <m:e>
                        <m:r>
                          <a:rPr lang="pt-PT" sz="1999" b="0" i="1" smtClean="0">
                            <a:solidFill>
                              <a:srgbClr val="FFFFFF"/>
                            </a:solidFill>
                            <a:latin typeface="Cambria Math" panose="02040503050406030204" pitchFamily="18" charset="0"/>
                            <a:cs typeface="Arial"/>
                            <a:sym typeface="Arial"/>
                          </a:rPr>
                          <m:t>𝐴</m:t>
                        </m:r>
                      </m:e>
                      <m:sub>
                        <m:r>
                          <a:rPr lang="pt-PT" sz="1999" b="0" i="1" smtClean="0">
                            <a:solidFill>
                              <a:srgbClr val="FFFFFF"/>
                            </a:solidFill>
                            <a:latin typeface="Cambria Math" panose="02040503050406030204" pitchFamily="18" charset="0"/>
                            <a:cs typeface="Arial"/>
                            <a:sym typeface="Arial"/>
                          </a:rPr>
                          <m:t>𝑡𝑜𝑡𝑎𝑙</m:t>
                        </m:r>
                      </m:sub>
                    </m:sSub>
                  </m:oMath>
                </a14:m>
                <a:r>
                  <a:rPr lang="en-US" sz="1999" dirty="0">
                    <a:solidFill>
                      <a:srgbClr val="FFFFFF"/>
                    </a:solidFill>
                    <a:latin typeface="Arial"/>
                    <a:ea typeface="Arial"/>
                    <a:cs typeface="Arial"/>
                    <a:sym typeface="Arial"/>
                  </a:rPr>
                  <a:t> (</a:t>
                </a:r>
                <a14:m>
                  <m:oMath xmlns:m="http://schemas.openxmlformats.org/officeDocument/2006/math">
                    <m:sSup>
                      <m:sSupPr>
                        <m:ctrlPr>
                          <a:rPr lang="en-US" sz="1999" i="1" dirty="0" smtClean="0">
                            <a:solidFill>
                              <a:srgbClr val="FFFFFF"/>
                            </a:solidFill>
                            <a:latin typeface="Cambria Math" panose="02040503050406030204" pitchFamily="18" charset="0"/>
                            <a:cs typeface="Arial"/>
                            <a:sym typeface="Arial"/>
                          </a:rPr>
                        </m:ctrlPr>
                      </m:sSupPr>
                      <m:e>
                        <m:r>
                          <a:rPr lang="pt-PT" sz="1999" b="0" i="1" dirty="0" smtClean="0">
                            <a:solidFill>
                              <a:srgbClr val="FFFFFF"/>
                            </a:solidFill>
                            <a:latin typeface="Cambria Math" panose="02040503050406030204" pitchFamily="18" charset="0"/>
                            <a:cs typeface="Arial"/>
                            <a:sym typeface="Arial"/>
                          </a:rPr>
                          <m:t>𝑘𝑚</m:t>
                        </m:r>
                      </m:e>
                      <m:sup>
                        <m:r>
                          <a:rPr lang="pt-PT" sz="1999" b="0" i="1" dirty="0" smtClean="0">
                            <a:solidFill>
                              <a:srgbClr val="FFFFFF"/>
                            </a:solidFill>
                            <a:latin typeface="Cambria Math" panose="02040503050406030204" pitchFamily="18" charset="0"/>
                            <a:cs typeface="Arial"/>
                            <a:sym typeface="Arial"/>
                          </a:rPr>
                          <m:t>2</m:t>
                        </m:r>
                      </m:sup>
                    </m:sSup>
                    <m:r>
                      <a:rPr lang="pt-PT" sz="1999" b="0" i="1" dirty="0" smtClean="0">
                        <a:solidFill>
                          <a:srgbClr val="FFFFFF"/>
                        </a:solidFill>
                        <a:latin typeface="Cambria Math" panose="02040503050406030204" pitchFamily="18" charset="0"/>
                        <a:cs typeface="Arial"/>
                        <a:sym typeface="Arial"/>
                      </a:rPr>
                      <m:t>)</m:t>
                    </m:r>
                  </m:oMath>
                </a14:m>
                <a:r>
                  <a:rPr lang="en-US" sz="1999" dirty="0">
                    <a:solidFill>
                      <a:srgbClr val="000000"/>
                    </a:solidFill>
                    <a:latin typeface="Arial"/>
                    <a:ea typeface="Arial"/>
                    <a:cs typeface="Arial"/>
                    <a:sym typeface="Arial"/>
                  </a:rPr>
                  <a:t> </a:t>
                </a:r>
              </a:p>
            </p:txBody>
          </p:sp>
        </mc:Choice>
        <mc:Fallback xmlns="">
          <p:sp>
            <p:nvSpPr>
              <p:cNvPr id="20" name="TextBox 20"/>
              <p:cNvSpPr txBox="1">
                <a:spLocks noRot="1" noChangeAspect="1" noMove="1" noResize="1" noEditPoints="1" noAdjustHandles="1" noChangeArrowheads="1" noChangeShapeType="1" noTextEdit="1"/>
              </p:cNvSpPr>
              <p:nvPr/>
            </p:nvSpPr>
            <p:spPr>
              <a:xfrm>
                <a:off x="766879" y="3197616"/>
                <a:ext cx="806320" cy="686470"/>
              </a:xfrm>
              <a:prstGeom prst="rect">
                <a:avLst/>
              </a:prstGeom>
              <a:blipFill>
                <a:blip r:embed="rId9"/>
                <a:stretch>
                  <a:fillRect l="-19697" r="-1515" b="-22321"/>
                </a:stretch>
              </a:blipFill>
            </p:spPr>
            <p:txBody>
              <a:bodyPr/>
              <a:lstStyle/>
              <a:p>
                <a:r>
                  <a:rPr lang="pt-PT">
                    <a:noFill/>
                  </a:rPr>
                  <a:t> </a:t>
                </a:r>
              </a:p>
            </p:txBody>
          </p:sp>
        </mc:Fallback>
      </mc:AlternateContent>
      <p:sp>
        <p:nvSpPr>
          <p:cNvPr id="21" name="TextBox 21"/>
          <p:cNvSpPr txBox="1"/>
          <p:nvPr/>
        </p:nvSpPr>
        <p:spPr>
          <a:xfrm>
            <a:off x="774023" y="4080736"/>
            <a:ext cx="791975" cy="539250"/>
          </a:xfrm>
          <a:prstGeom prst="rect">
            <a:avLst/>
          </a:prstGeom>
        </p:spPr>
        <p:txBody>
          <a:bodyPr wrap="square" lIns="0" tIns="0" rIns="0" bIns="0" rtlCol="0" anchor="t">
            <a:spAutoFit/>
          </a:bodyPr>
          <a:lstStyle/>
          <a:p>
            <a:pPr algn="l">
              <a:lnSpc>
                <a:spcPts val="4998"/>
              </a:lnSpc>
            </a:pPr>
            <a:r>
              <a:rPr lang="en-US" sz="1999">
                <a:solidFill>
                  <a:srgbClr val="000000"/>
                </a:solidFill>
                <a:latin typeface="Arial"/>
                <a:ea typeface="Arial"/>
                <a:cs typeface="Arial"/>
                <a:sym typeface="Arial"/>
              </a:rPr>
              <a:t>408,15</a:t>
            </a:r>
          </a:p>
        </p:txBody>
      </p:sp>
      <p:sp>
        <p:nvSpPr>
          <p:cNvPr id="22" name="TextBox 22"/>
          <p:cNvSpPr txBox="1"/>
          <p:nvPr/>
        </p:nvSpPr>
        <p:spPr>
          <a:xfrm>
            <a:off x="2626016" y="5122504"/>
            <a:ext cx="144008"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5</a:t>
            </a:r>
          </a:p>
        </p:txBody>
      </p:sp>
      <p:sp>
        <p:nvSpPr>
          <p:cNvPr id="23" name="TextBox 23"/>
          <p:cNvSpPr txBox="1"/>
          <p:nvPr/>
        </p:nvSpPr>
        <p:spPr>
          <a:xfrm>
            <a:off x="2555321" y="5954732"/>
            <a:ext cx="288007"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10</a:t>
            </a:r>
          </a:p>
        </p:txBody>
      </p:sp>
      <p:sp>
        <p:nvSpPr>
          <p:cNvPr id="24" name="TextBox 24"/>
          <p:cNvSpPr txBox="1"/>
          <p:nvPr/>
        </p:nvSpPr>
        <p:spPr>
          <a:xfrm>
            <a:off x="2555321" y="6786950"/>
            <a:ext cx="288007"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15</a:t>
            </a:r>
          </a:p>
        </p:txBody>
      </p:sp>
      <p:sp>
        <p:nvSpPr>
          <p:cNvPr id="25" name="TextBox 25"/>
          <p:cNvSpPr txBox="1"/>
          <p:nvPr/>
        </p:nvSpPr>
        <p:spPr>
          <a:xfrm>
            <a:off x="2520050" y="4290286"/>
            <a:ext cx="359997"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0,5</a:t>
            </a:r>
          </a:p>
        </p:txBody>
      </p:sp>
      <mc:AlternateContent xmlns:mc="http://schemas.openxmlformats.org/markup-compatibility/2006" xmlns:a14="http://schemas.microsoft.com/office/drawing/2010/main">
        <mc:Choice Requires="a14">
          <p:sp>
            <p:nvSpPr>
              <p:cNvPr id="26" name="TextBox 26"/>
              <p:cNvSpPr txBox="1"/>
              <p:nvPr/>
            </p:nvSpPr>
            <p:spPr>
              <a:xfrm>
                <a:off x="2266152" y="3378591"/>
                <a:ext cx="877938" cy="327654"/>
              </a:xfrm>
              <a:prstGeom prst="rect">
                <a:avLst/>
              </a:prstGeom>
            </p:spPr>
            <p:txBody>
              <a:bodyPr wrap="square" lIns="0" tIns="0" rIns="0" bIns="0" rtlCol="0" anchor="t">
                <a:spAutoFit/>
              </a:bodyPr>
              <a:lstStyle/>
              <a:p>
                <a:pPr algn="l">
                  <a:lnSpc>
                    <a:spcPts val="2799"/>
                  </a:lnSpc>
                </a:pPr>
                <a:r>
                  <a:rPr lang="en-US" sz="1999" dirty="0">
                    <a:solidFill>
                      <a:srgbClr val="000000"/>
                    </a:solidFill>
                    <a:latin typeface="Arial"/>
                    <a:ea typeface="Arial"/>
                    <a:cs typeface="Arial"/>
                    <a:sym typeface="Arial"/>
                  </a:rPr>
                  <a:t> </a:t>
                </a:r>
                <a14:m>
                  <m:oMath xmlns:m="http://schemas.openxmlformats.org/officeDocument/2006/math">
                    <m:r>
                      <a:rPr lang="pt-PT" sz="1999" b="0" i="1" smtClean="0">
                        <a:solidFill>
                          <a:srgbClr val="FFFFFF"/>
                        </a:solidFill>
                        <a:latin typeface="Cambria Math" panose="02040503050406030204" pitchFamily="18" charset="0"/>
                        <a:ea typeface="Arial"/>
                        <a:cs typeface="Arial"/>
                        <a:sym typeface="Arial"/>
                      </a:rPr>
                      <m:t>𝑑</m:t>
                    </m:r>
                    <m:r>
                      <a:rPr lang="pt-PT" sz="1999" b="0" i="1" smtClean="0">
                        <a:solidFill>
                          <a:srgbClr val="FFFFFF"/>
                        </a:solidFill>
                        <a:latin typeface="Cambria Math" panose="02040503050406030204" pitchFamily="18" charset="0"/>
                        <a:ea typeface="Arial"/>
                        <a:cs typeface="Arial"/>
                        <a:sym typeface="Arial"/>
                      </a:rPr>
                      <m:t> (</m:t>
                    </m:r>
                    <m:r>
                      <a:rPr lang="pt-PT" sz="1999" b="0" i="1" smtClean="0">
                        <a:solidFill>
                          <a:srgbClr val="FFFFFF"/>
                        </a:solidFill>
                        <a:latin typeface="Cambria Math" panose="02040503050406030204" pitchFamily="18" charset="0"/>
                        <a:ea typeface="Arial"/>
                        <a:cs typeface="Arial"/>
                        <a:sym typeface="Arial"/>
                      </a:rPr>
                      <m:t>𝑘𝑚</m:t>
                    </m:r>
                    <m:r>
                      <a:rPr lang="pt-PT" sz="1999" b="0" i="1" smtClean="0">
                        <a:solidFill>
                          <a:srgbClr val="FFFFFF"/>
                        </a:solidFill>
                        <a:latin typeface="Cambria Math" panose="02040503050406030204" pitchFamily="18" charset="0"/>
                        <a:ea typeface="Arial"/>
                        <a:cs typeface="Arial"/>
                        <a:sym typeface="Arial"/>
                      </a:rPr>
                      <m:t>)</m:t>
                    </m:r>
                  </m:oMath>
                </a14:m>
                <a:r>
                  <a:rPr lang="en-US" sz="1999" dirty="0">
                    <a:solidFill>
                      <a:srgbClr val="000000"/>
                    </a:solidFill>
                    <a:latin typeface="Arial"/>
                    <a:ea typeface="Arial"/>
                    <a:cs typeface="Arial"/>
                    <a:sym typeface="Arial"/>
                  </a:rPr>
                  <a:t> </a:t>
                </a:r>
              </a:p>
            </p:txBody>
          </p:sp>
        </mc:Choice>
        <mc:Fallback xmlns="">
          <p:sp>
            <p:nvSpPr>
              <p:cNvPr id="26" name="TextBox 26"/>
              <p:cNvSpPr txBox="1">
                <a:spLocks noRot="1" noChangeAspect="1" noMove="1" noResize="1" noEditPoints="1" noAdjustHandles="1" noChangeArrowheads="1" noChangeShapeType="1" noTextEdit="1"/>
              </p:cNvSpPr>
              <p:nvPr/>
            </p:nvSpPr>
            <p:spPr>
              <a:xfrm>
                <a:off x="2266152" y="3378591"/>
                <a:ext cx="877938" cy="327654"/>
              </a:xfrm>
              <a:prstGeom prst="rect">
                <a:avLst/>
              </a:prstGeom>
              <a:blipFill>
                <a:blip r:embed="rId10"/>
                <a:stretch>
                  <a:fillRect l="-2778" r="-10417" b="-35185"/>
                </a:stretch>
              </a:blipFill>
            </p:spPr>
            <p:txBody>
              <a:bodyPr/>
              <a:lstStyle/>
              <a:p>
                <a:r>
                  <a:rPr lang="pt-PT">
                    <a:noFill/>
                  </a:rPr>
                  <a:t> </a:t>
                </a:r>
              </a:p>
            </p:txBody>
          </p:sp>
        </mc:Fallback>
      </mc:AlternateContent>
      <p:sp>
        <p:nvSpPr>
          <p:cNvPr id="27" name="TextBox 27"/>
          <p:cNvSpPr txBox="1"/>
          <p:nvPr/>
        </p:nvSpPr>
        <p:spPr>
          <a:xfrm>
            <a:off x="4160408" y="5954732"/>
            <a:ext cx="144008"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5</a:t>
            </a:r>
          </a:p>
        </p:txBody>
      </p:sp>
      <p:sp>
        <p:nvSpPr>
          <p:cNvPr id="28" name="TextBox 28"/>
          <p:cNvSpPr txBox="1"/>
          <p:nvPr/>
        </p:nvSpPr>
        <p:spPr>
          <a:xfrm>
            <a:off x="4160408" y="6786950"/>
            <a:ext cx="144008"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2</a:t>
            </a:r>
          </a:p>
        </p:txBody>
      </p:sp>
      <p:sp>
        <p:nvSpPr>
          <p:cNvPr id="29" name="TextBox 29"/>
          <p:cNvSpPr txBox="1"/>
          <p:nvPr/>
        </p:nvSpPr>
        <p:spPr>
          <a:xfrm>
            <a:off x="4089713" y="5122504"/>
            <a:ext cx="288007" cy="327654"/>
          </a:xfrm>
          <a:prstGeom prst="rect">
            <a:avLst/>
          </a:prstGeom>
        </p:spPr>
        <p:txBody>
          <a:bodyPr wrap="square" lIns="0" tIns="0" rIns="0" bIns="0" rtlCol="0" anchor="t">
            <a:spAutoFit/>
          </a:bodyPr>
          <a:lstStyle/>
          <a:p>
            <a:pPr algn="l">
              <a:lnSpc>
                <a:spcPts val="2799"/>
              </a:lnSpc>
            </a:pPr>
            <a:r>
              <a:rPr lang="en-US" sz="1999">
                <a:solidFill>
                  <a:srgbClr val="000000"/>
                </a:solidFill>
                <a:latin typeface="Arial"/>
                <a:ea typeface="Arial"/>
                <a:cs typeface="Arial"/>
                <a:sym typeface="Arial"/>
              </a:rPr>
              <a:t>17</a:t>
            </a:r>
          </a:p>
        </p:txBody>
      </p:sp>
      <p:sp>
        <p:nvSpPr>
          <p:cNvPr id="30" name="TextBox 30"/>
          <p:cNvSpPr txBox="1"/>
          <p:nvPr/>
        </p:nvSpPr>
        <p:spPr>
          <a:xfrm>
            <a:off x="3948629" y="4290286"/>
            <a:ext cx="575986" cy="327654"/>
          </a:xfrm>
          <a:prstGeom prst="rect">
            <a:avLst/>
          </a:prstGeom>
        </p:spPr>
        <p:txBody>
          <a:bodyPr wrap="square" lIns="0" tIns="0" rIns="0" bIns="0" rtlCol="0" anchor="t">
            <a:spAutoFit/>
          </a:bodyPr>
          <a:lstStyle/>
          <a:p>
            <a:pPr algn="l">
              <a:lnSpc>
                <a:spcPts val="2799"/>
              </a:lnSpc>
            </a:pPr>
            <a:r>
              <a:rPr lang="en-US" sz="1999" dirty="0">
                <a:solidFill>
                  <a:srgbClr val="000000"/>
                </a:solidFill>
                <a:latin typeface="Arial"/>
                <a:ea typeface="Arial"/>
                <a:cs typeface="Arial"/>
                <a:sym typeface="Arial"/>
              </a:rPr>
              <a:t>1633</a:t>
            </a:r>
          </a:p>
        </p:txBody>
      </p:sp>
      <mc:AlternateContent xmlns:mc="http://schemas.openxmlformats.org/markup-compatibility/2006" xmlns:a14="http://schemas.microsoft.com/office/drawing/2010/main">
        <mc:Choice Requires="a14">
          <p:sp>
            <p:nvSpPr>
              <p:cNvPr id="31" name="TextBox 31"/>
              <p:cNvSpPr txBox="1"/>
              <p:nvPr/>
            </p:nvSpPr>
            <p:spPr>
              <a:xfrm>
                <a:off x="4135262" y="3410071"/>
                <a:ext cx="195272" cy="359073"/>
              </a:xfrm>
              <a:prstGeom prst="rect">
                <a:avLst/>
              </a:prstGeom>
            </p:spPr>
            <p:txBody>
              <a:bodyPr wrap="square" lIns="0" tIns="0" rIns="0" bIns="0" rtlCol="0" anchor="t">
                <a:spAutoFit/>
              </a:bodyPr>
              <a:lstStyle/>
              <a:p>
                <a:pPr algn="l">
                  <a:lnSpc>
                    <a:spcPts val="2799"/>
                  </a:lnSpc>
                </a:pPr>
                <a14:m>
                  <m:oMathPara xmlns:m="http://schemas.openxmlformats.org/officeDocument/2006/math">
                    <m:oMathParaPr>
                      <m:jc m:val="centerGroup"/>
                    </m:oMathParaPr>
                    <m:oMath xmlns:m="http://schemas.openxmlformats.org/officeDocument/2006/math">
                      <m:r>
                        <a:rPr lang="pt-PT" sz="1999" b="0" i="1" smtClean="0">
                          <a:solidFill>
                            <a:srgbClr val="FFFFFF"/>
                          </a:solidFill>
                          <a:latin typeface="Cambria Math" panose="02040503050406030204" pitchFamily="18" charset="0"/>
                          <a:ea typeface="Open Sans"/>
                          <a:cs typeface="Open Sans"/>
                          <a:sym typeface="Open Sans"/>
                        </a:rPr>
                        <m:t>𝑁</m:t>
                      </m:r>
                    </m:oMath>
                  </m:oMathPara>
                </a14:m>
                <a:endParaRPr lang="en-US" sz="1999" dirty="0">
                  <a:solidFill>
                    <a:srgbClr val="FFFFFF"/>
                  </a:solidFill>
                  <a:latin typeface="Open Sans"/>
                  <a:ea typeface="Open Sans"/>
                  <a:cs typeface="Open Sans"/>
                  <a:sym typeface="Open Sans"/>
                </a:endParaRPr>
              </a:p>
            </p:txBody>
          </p:sp>
        </mc:Choice>
        <mc:Fallback xmlns="">
          <p:sp>
            <p:nvSpPr>
              <p:cNvPr id="31" name="TextBox 31"/>
              <p:cNvSpPr txBox="1">
                <a:spLocks noRot="1" noChangeAspect="1" noMove="1" noResize="1" noEditPoints="1" noAdjustHandles="1" noChangeArrowheads="1" noChangeShapeType="1" noTextEdit="1"/>
              </p:cNvSpPr>
              <p:nvPr/>
            </p:nvSpPr>
            <p:spPr>
              <a:xfrm>
                <a:off x="4135262" y="3410071"/>
                <a:ext cx="195272" cy="359073"/>
              </a:xfrm>
              <a:prstGeom prst="rect">
                <a:avLst/>
              </a:prstGeom>
              <a:blipFill>
                <a:blip r:embed="rId11"/>
                <a:stretch>
                  <a:fillRect l="-43750" r="-43750"/>
                </a:stretch>
              </a:blipFill>
            </p:spPr>
            <p:txBody>
              <a:bodyPr/>
              <a:lstStyle/>
              <a:p>
                <a:r>
                  <a:rPr lang="pt-PT">
                    <a:noFill/>
                  </a:rPr>
                  <a:t> </a:t>
                </a:r>
              </a:p>
            </p:txBody>
          </p:sp>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9347F7C5-CD4B-CC56-1CA6-8817A279BB30}"/>
                  </a:ext>
                </a:extLst>
              </p:cNvPr>
              <p:cNvSpPr txBox="1"/>
              <p:nvPr/>
            </p:nvSpPr>
            <p:spPr>
              <a:xfrm>
                <a:off x="6685994" y="3548714"/>
                <a:ext cx="3320143" cy="701859"/>
              </a:xfrm>
              <a:prstGeom prst="rect">
                <a:avLst/>
              </a:prstGeom>
              <a:noFill/>
            </p:spPr>
            <p:txBody>
              <a:bodyPr wrap="square" lIns="0" tIns="0" rIns="0" bIns="0" rtlCol="0">
                <a:spAutoFit/>
              </a:bodyPr>
              <a:lstStyle/>
              <a:p>
                <a14:m>
                  <m:oMath xmlns:m="http://schemas.openxmlformats.org/officeDocument/2006/math">
                    <m:r>
                      <a:rPr lang="pt-BR" sz="3200" i="1">
                        <a:latin typeface="Cambria Math" panose="02040503050406030204" pitchFamily="18" charset="0"/>
                        <a:ea typeface="Cambria Math" panose="02040503050406030204" pitchFamily="18" charset="0"/>
                      </a:rPr>
                      <m:t>𝑁</m:t>
                    </m:r>
                    <m:r>
                      <a:rPr lang="pt-BR" sz="3200" i="1">
                        <a:latin typeface="Cambria Math" panose="02040503050406030204" pitchFamily="18" charset="0"/>
                        <a:ea typeface="Cambria Math" panose="02040503050406030204" pitchFamily="18" charset="0"/>
                      </a:rPr>
                      <m:t>= </m:t>
                    </m:r>
                    <m:f>
                      <m:fPr>
                        <m:ctrlPr>
                          <a:rPr lang="pt-PT" sz="3200" i="1">
                            <a:latin typeface="Cambria Math" panose="02040503050406030204" pitchFamily="18" charset="0"/>
                            <a:ea typeface="Cambria Math" panose="02040503050406030204" pitchFamily="18" charset="0"/>
                          </a:rPr>
                        </m:ctrlPr>
                      </m:fPr>
                      <m:num>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𝐴</m:t>
                            </m:r>
                          </m:e>
                          <m:sub>
                            <m:r>
                              <a:rPr lang="pt-BR" sz="3200" i="1">
                                <a:latin typeface="Cambria Math" panose="02040503050406030204" pitchFamily="18" charset="0"/>
                                <a:ea typeface="Cambria Math" panose="02040503050406030204" pitchFamily="18" charset="0"/>
                              </a:rPr>
                              <m:t>𝑡𝑜𝑡𝑎𝑙</m:t>
                            </m:r>
                          </m:sub>
                        </m:sSub>
                      </m:num>
                      <m:den>
                        <m:sSup>
                          <m:sSupPr>
                            <m:ctrlPr>
                              <a:rPr lang="pt-PT" sz="3200" i="1">
                                <a:latin typeface="Cambria Math" panose="02040503050406030204" pitchFamily="18" charset="0"/>
                                <a:ea typeface="Cambria Math" panose="02040503050406030204" pitchFamily="18" charset="0"/>
                              </a:rPr>
                            </m:ctrlPr>
                          </m:sSupPr>
                          <m:e>
                            <m:r>
                              <a:rPr lang="pt-BR" sz="3200" i="1">
                                <a:latin typeface="Cambria Math" panose="02040503050406030204" pitchFamily="18" charset="0"/>
                                <a:ea typeface="Cambria Math" panose="02040503050406030204" pitchFamily="18" charset="0"/>
                              </a:rPr>
                              <m:t>𝑑</m:t>
                            </m:r>
                          </m:e>
                          <m:sup>
                            <m:r>
                              <a:rPr lang="pt-BR" sz="3200" b="1" i="1">
                                <a:latin typeface="Cambria Math" panose="02040503050406030204" pitchFamily="18" charset="0"/>
                                <a:ea typeface="Cambria Math" panose="02040503050406030204" pitchFamily="18" charset="0"/>
                              </a:rPr>
                              <m:t>𝟐</m:t>
                            </m:r>
                          </m:sup>
                        </m:sSup>
                      </m:den>
                    </m:f>
                  </m:oMath>
                </a14:m>
                <a:r>
                  <a:rPr lang="pt-PT" sz="3200" dirty="0">
                    <a:latin typeface="Cambria Math" panose="02040503050406030204" pitchFamily="18" charset="0"/>
                    <a:ea typeface="Cambria Math" panose="02040503050406030204" pitchFamily="18" charset="0"/>
                  </a:rPr>
                  <a:t> (1.1)</a:t>
                </a:r>
              </a:p>
            </p:txBody>
          </p:sp>
        </mc:Choice>
        <mc:Fallback xmlns="">
          <p:sp>
            <p:nvSpPr>
              <p:cNvPr id="33" name="CaixaDeTexto 32">
                <a:extLst>
                  <a:ext uri="{FF2B5EF4-FFF2-40B4-BE49-F238E27FC236}">
                    <a16:creationId xmlns:a16="http://schemas.microsoft.com/office/drawing/2014/main" id="{9347F7C5-CD4B-CC56-1CA6-8817A279BB30}"/>
                  </a:ext>
                </a:extLst>
              </p:cNvPr>
              <p:cNvSpPr txBox="1">
                <a:spLocks noRot="1" noChangeAspect="1" noMove="1" noResize="1" noEditPoints="1" noAdjustHandles="1" noChangeArrowheads="1" noChangeShapeType="1" noTextEdit="1"/>
              </p:cNvSpPr>
              <p:nvPr/>
            </p:nvSpPr>
            <p:spPr>
              <a:xfrm>
                <a:off x="6685994" y="3548714"/>
                <a:ext cx="3320143" cy="701859"/>
              </a:xfrm>
              <a:prstGeom prst="rect">
                <a:avLst/>
              </a:prstGeom>
              <a:blipFill>
                <a:blip r:embed="rId12"/>
                <a:stretch>
                  <a:fillRect t="-4348" b="-18261"/>
                </a:stretch>
              </a:blipFill>
            </p:spPr>
            <p:txBody>
              <a:bodyPr/>
              <a:lstStyle/>
              <a:p>
                <a:r>
                  <a:rPr lang="pt-PT">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D7CB8F38-B799-7C41-48AD-6CFCC13A99B3}"/>
                  </a:ext>
                </a:extLst>
              </p:cNvPr>
              <p:cNvSpPr txBox="1"/>
              <p:nvPr/>
            </p:nvSpPr>
            <p:spPr>
              <a:xfrm>
                <a:off x="5093886" y="4609879"/>
                <a:ext cx="6737165" cy="793487"/>
              </a:xfrm>
              <a:prstGeom prst="rect">
                <a:avLst/>
              </a:prstGeom>
              <a:noFill/>
            </p:spPr>
            <p:txBody>
              <a:bodyPr wrap="square" lIns="0" tIns="0" rIns="0" bIns="0" rtlCol="0">
                <a:spAutoFit/>
              </a:bodyPr>
              <a:lstStyle/>
              <a:p>
                <a14:m>
                  <m:oMath xmlns:m="http://schemas.openxmlformats.org/officeDocument/2006/math">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𝐼</m:t>
                        </m:r>
                      </m:e>
                      <m:sub>
                        <m:r>
                          <a:rPr lang="pt-BR" sz="3200" i="1">
                            <a:latin typeface="Cambria Math" panose="02040503050406030204" pitchFamily="18" charset="0"/>
                            <a:ea typeface="Cambria Math" panose="02040503050406030204" pitchFamily="18" charset="0"/>
                          </a:rPr>
                          <m:t>𝑚𝑒𝑑</m:t>
                        </m:r>
                      </m:sub>
                    </m:sSub>
                    <m:r>
                      <a:rPr lang="pt-BR" sz="3200" i="1">
                        <a:latin typeface="Cambria Math" panose="02040503050406030204" pitchFamily="18" charset="0"/>
                        <a:ea typeface="Cambria Math" panose="02040503050406030204" pitchFamily="18" charset="0"/>
                      </a:rPr>
                      <m:t>= </m:t>
                    </m:r>
                    <m:f>
                      <m:fPr>
                        <m:ctrlPr>
                          <a:rPr lang="pt-PT" sz="3200" i="1">
                            <a:latin typeface="Cambria Math" panose="02040503050406030204" pitchFamily="18" charset="0"/>
                            <a:ea typeface="Cambria Math" panose="02040503050406030204" pitchFamily="18" charset="0"/>
                          </a:rPr>
                        </m:ctrlPr>
                      </m:fPr>
                      <m:num>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𝐼</m:t>
                            </m:r>
                          </m:e>
                          <m:sub>
                            <m:r>
                              <a:rPr lang="pt-BR" sz="3200" i="1">
                                <a:latin typeface="Cambria Math" panose="02040503050406030204" pitchFamily="18" charset="0"/>
                                <a:ea typeface="Cambria Math" panose="02040503050406030204" pitchFamily="18" charset="0"/>
                              </a:rPr>
                              <m:t>𝑎𝑐𝑡𝑖𝑣𝑜</m:t>
                            </m:r>
                          </m:sub>
                        </m:sSub>
                        <m:r>
                          <a:rPr lang="pt-BR" sz="3200" i="1">
                            <a:latin typeface="Cambria Math" panose="02040503050406030204" pitchFamily="18" charset="0"/>
                            <a:ea typeface="Cambria Math" panose="02040503050406030204" pitchFamily="18" charset="0"/>
                          </a:rPr>
                          <m:t> ×</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𝑡</m:t>
                            </m:r>
                          </m:e>
                          <m:sub>
                            <m:r>
                              <a:rPr lang="pt-BR" sz="3200" i="1">
                                <a:latin typeface="Cambria Math" panose="02040503050406030204" pitchFamily="18" charset="0"/>
                                <a:ea typeface="Cambria Math" panose="02040503050406030204" pitchFamily="18" charset="0"/>
                              </a:rPr>
                              <m:t>𝑎𝑐𝑡𝑖𝑣𝑜</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𝐼</m:t>
                            </m:r>
                          </m:e>
                          <m:sub>
                            <m:r>
                              <a:rPr lang="pt-BR" sz="3200" i="1">
                                <a:latin typeface="Cambria Math" panose="02040503050406030204" pitchFamily="18" charset="0"/>
                                <a:ea typeface="Cambria Math" panose="02040503050406030204" pitchFamily="18" charset="0"/>
                              </a:rPr>
                              <m:t>𝑠𝑙𝑒𝑒𝑝</m:t>
                            </m:r>
                          </m:sub>
                        </m:sSub>
                        <m:r>
                          <a:rPr lang="pt-BR" sz="3200" i="1">
                            <a:latin typeface="Cambria Math" panose="02040503050406030204" pitchFamily="18" charset="0"/>
                            <a:ea typeface="Cambria Math" panose="02040503050406030204" pitchFamily="18" charset="0"/>
                          </a:rPr>
                          <m:t> ×</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𝑡</m:t>
                            </m:r>
                          </m:e>
                          <m:sub>
                            <m:r>
                              <a:rPr lang="pt-BR" sz="3200" i="1">
                                <a:latin typeface="Cambria Math" panose="02040503050406030204" pitchFamily="18" charset="0"/>
                                <a:ea typeface="Cambria Math" panose="02040503050406030204" pitchFamily="18" charset="0"/>
                              </a:rPr>
                              <m:t>𝑠𝑙𝑒𝑒𝑝</m:t>
                            </m:r>
                          </m:sub>
                        </m:sSub>
                      </m:num>
                      <m:den>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𝑡</m:t>
                            </m:r>
                          </m:e>
                          <m:sub>
                            <m:r>
                              <a:rPr lang="pt-BR" sz="3200" i="1">
                                <a:latin typeface="Cambria Math" panose="02040503050406030204" pitchFamily="18" charset="0"/>
                                <a:ea typeface="Cambria Math" panose="02040503050406030204" pitchFamily="18" charset="0"/>
                              </a:rPr>
                              <m:t>𝑐𝑖𝑙𝑐𝑜</m:t>
                            </m:r>
                          </m:sub>
                        </m:sSub>
                      </m:den>
                    </m:f>
                  </m:oMath>
                </a14:m>
                <a:r>
                  <a:rPr lang="pt-PT" sz="3200" dirty="0">
                    <a:latin typeface="Cambria Math" panose="02040503050406030204" pitchFamily="18" charset="0"/>
                    <a:ea typeface="Cambria Math" panose="02040503050406030204" pitchFamily="18" charset="0"/>
                  </a:rPr>
                  <a:t>  (2.1)</a:t>
                </a:r>
              </a:p>
            </p:txBody>
          </p:sp>
        </mc:Choice>
        <mc:Fallback xmlns="">
          <p:sp>
            <p:nvSpPr>
              <p:cNvPr id="34" name="CaixaDeTexto 33">
                <a:extLst>
                  <a:ext uri="{FF2B5EF4-FFF2-40B4-BE49-F238E27FC236}">
                    <a16:creationId xmlns:a16="http://schemas.microsoft.com/office/drawing/2014/main" id="{D7CB8F38-B799-7C41-48AD-6CFCC13A99B3}"/>
                  </a:ext>
                </a:extLst>
              </p:cNvPr>
              <p:cNvSpPr txBox="1">
                <a:spLocks noRot="1" noChangeAspect="1" noMove="1" noResize="1" noEditPoints="1" noAdjustHandles="1" noChangeArrowheads="1" noChangeShapeType="1" noTextEdit="1"/>
              </p:cNvSpPr>
              <p:nvPr/>
            </p:nvSpPr>
            <p:spPr>
              <a:xfrm>
                <a:off x="5093886" y="4609879"/>
                <a:ext cx="6737165" cy="793487"/>
              </a:xfrm>
              <a:prstGeom prst="rect">
                <a:avLst/>
              </a:prstGeom>
              <a:blipFill>
                <a:blip r:embed="rId13"/>
                <a:stretch>
                  <a:fillRect r="-2715" b="-8462"/>
                </a:stretch>
              </a:blipFill>
            </p:spPr>
            <p:txBody>
              <a:bodyPr/>
              <a:lstStyle/>
              <a:p>
                <a:r>
                  <a:rPr lang="pt-PT">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9F33215D-31B0-8C0A-2B06-856CD32BB4F9}"/>
                  </a:ext>
                </a:extLst>
              </p:cNvPr>
              <p:cNvSpPr txBox="1"/>
              <p:nvPr/>
            </p:nvSpPr>
            <p:spPr>
              <a:xfrm>
                <a:off x="5937541" y="5528098"/>
                <a:ext cx="4137608" cy="492443"/>
              </a:xfrm>
              <a:prstGeom prst="rect">
                <a:avLst/>
              </a:prstGeom>
              <a:noFill/>
            </p:spPr>
            <p:txBody>
              <a:bodyPr wrap="none" lIns="0" tIns="0" rIns="0" bIns="0" rtlCol="0">
                <a:spAutoFit/>
              </a:bodyPr>
              <a:lstStyle/>
              <a:p>
                <a14:m>
                  <m:oMath xmlns:m="http://schemas.openxmlformats.org/officeDocument/2006/math">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𝐸</m:t>
                        </m:r>
                      </m:e>
                      <m:sub>
                        <m:r>
                          <a:rPr lang="pt-BR" sz="3200" i="1">
                            <a:latin typeface="Cambria Math" panose="02040503050406030204" pitchFamily="18" charset="0"/>
                            <a:ea typeface="Cambria Math" panose="02040503050406030204" pitchFamily="18" charset="0"/>
                          </a:rPr>
                          <m:t>𝑏𝑎𝑡</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𝐶</m:t>
                        </m:r>
                      </m:e>
                      <m:sub>
                        <m:r>
                          <a:rPr lang="pt-BR" sz="3200" i="1">
                            <a:latin typeface="Cambria Math" panose="02040503050406030204" pitchFamily="18" charset="0"/>
                            <a:ea typeface="Cambria Math" panose="02040503050406030204" pitchFamily="18" charset="0"/>
                          </a:rPr>
                          <m:t>𝑏𝑎𝑡</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𝐼</m:t>
                        </m:r>
                      </m:e>
                      <m:sub>
                        <m:r>
                          <a:rPr lang="pt-BR" sz="3200" i="1">
                            <a:latin typeface="Cambria Math" panose="02040503050406030204" pitchFamily="18" charset="0"/>
                            <a:ea typeface="Cambria Math" panose="02040503050406030204" pitchFamily="18" charset="0"/>
                          </a:rPr>
                          <m:t>𝑏𝑎𝑡</m:t>
                        </m:r>
                      </m:sub>
                    </m:sSub>
                  </m:oMath>
                </a14:m>
                <a:r>
                  <a:rPr lang="pt-PT" sz="3200" dirty="0">
                    <a:latin typeface="Cambria Math" panose="02040503050406030204" pitchFamily="18" charset="0"/>
                    <a:ea typeface="Cambria Math" panose="02040503050406030204" pitchFamily="18" charset="0"/>
                  </a:rPr>
                  <a:t> (2.2)</a:t>
                </a:r>
              </a:p>
            </p:txBody>
          </p:sp>
        </mc:Choice>
        <mc:Fallback xmlns="">
          <p:sp>
            <p:nvSpPr>
              <p:cNvPr id="35" name="CaixaDeTexto 34">
                <a:extLst>
                  <a:ext uri="{FF2B5EF4-FFF2-40B4-BE49-F238E27FC236}">
                    <a16:creationId xmlns:a16="http://schemas.microsoft.com/office/drawing/2014/main" id="{9F33215D-31B0-8C0A-2B06-856CD32BB4F9}"/>
                  </a:ext>
                </a:extLst>
              </p:cNvPr>
              <p:cNvSpPr txBox="1">
                <a:spLocks noRot="1" noChangeAspect="1" noMove="1" noResize="1" noEditPoints="1" noAdjustHandles="1" noChangeArrowheads="1" noChangeShapeType="1" noTextEdit="1"/>
              </p:cNvSpPr>
              <p:nvPr/>
            </p:nvSpPr>
            <p:spPr>
              <a:xfrm>
                <a:off x="5937541" y="5528098"/>
                <a:ext cx="4137608" cy="492443"/>
              </a:xfrm>
              <a:prstGeom prst="rect">
                <a:avLst/>
              </a:prstGeom>
              <a:blipFill>
                <a:blip r:embed="rId14"/>
                <a:stretch>
                  <a:fillRect t="-25926" r="-5302" b="-48148"/>
                </a:stretch>
              </a:blipFill>
            </p:spPr>
            <p:txBody>
              <a:bodyPr/>
              <a:lstStyle/>
              <a:p>
                <a:r>
                  <a:rPr lang="pt-PT">
                    <a:noFill/>
                  </a:rPr>
                  <a:t> </a:t>
                </a:r>
              </a:p>
            </p:txBody>
          </p:sp>
        </mc:Fallback>
      </mc:AlternateContent>
      <mc:AlternateContent xmlns:mc="http://schemas.openxmlformats.org/markup-compatibility/2006" xmlns:a14="http://schemas.microsoft.com/office/drawing/2010/main">
        <mc:Choice Requires="a14">
          <p:sp>
            <p:nvSpPr>
              <p:cNvPr id="36" name="CaixaDeTexto 35">
                <a:extLst>
                  <a:ext uri="{FF2B5EF4-FFF2-40B4-BE49-F238E27FC236}">
                    <a16:creationId xmlns:a16="http://schemas.microsoft.com/office/drawing/2014/main" id="{1BBCCAD5-6517-CF88-E0D4-F06E5648D702}"/>
                  </a:ext>
                </a:extLst>
              </p:cNvPr>
              <p:cNvSpPr txBox="1"/>
              <p:nvPr/>
            </p:nvSpPr>
            <p:spPr>
              <a:xfrm>
                <a:off x="5900124" y="6286925"/>
                <a:ext cx="4386265" cy="492443"/>
              </a:xfrm>
              <a:prstGeom prst="rect">
                <a:avLst/>
              </a:prstGeom>
              <a:noFill/>
            </p:spPr>
            <p:txBody>
              <a:bodyPr wrap="none" lIns="0" tIns="0" rIns="0" bIns="0" rtlCol="0">
                <a:spAutoFit/>
              </a:bodyPr>
              <a:lstStyle/>
              <a:p>
                <a14:m>
                  <m:oMath xmlns:m="http://schemas.openxmlformats.org/officeDocument/2006/math">
                    <m:sSub>
                      <m:sSubPr>
                        <m:ctrlPr>
                          <a:rPr lang="pt-PT" sz="3200" i="1" smtClean="0">
                            <a:latin typeface="Cambria Math" panose="02040503050406030204" pitchFamily="18" charset="0"/>
                            <a:ea typeface="Cambria Math" panose="02040503050406030204" pitchFamily="18" charset="0"/>
                          </a:rPr>
                        </m:ctrlPr>
                      </m:sSubPr>
                      <m:e>
                        <m:r>
                          <a:rPr lang="pt-PT" sz="3200" b="0" i="1" smtClean="0">
                            <a:latin typeface="Cambria Math" panose="02040503050406030204" pitchFamily="18" charset="0"/>
                            <a:ea typeface="Cambria Math" panose="02040503050406030204" pitchFamily="18" charset="0"/>
                          </a:rPr>
                          <m:t>𝑃</m:t>
                        </m:r>
                      </m:e>
                      <m:sub>
                        <m:r>
                          <a:rPr lang="pt-PT" sz="3200" b="0" i="1" smtClean="0">
                            <a:latin typeface="Cambria Math" panose="02040503050406030204" pitchFamily="18" charset="0"/>
                            <a:ea typeface="Cambria Math" panose="02040503050406030204" pitchFamily="18" charset="0"/>
                          </a:rPr>
                          <m:t>𝑚𝑒𝑑</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𝐶</m:t>
                        </m:r>
                      </m:e>
                      <m:sub>
                        <m:r>
                          <a:rPr lang="pt-BR" sz="3200" i="1">
                            <a:latin typeface="Cambria Math" panose="02040503050406030204" pitchFamily="18" charset="0"/>
                            <a:ea typeface="Cambria Math" panose="02040503050406030204" pitchFamily="18" charset="0"/>
                          </a:rPr>
                          <m:t>𝑏𝑎𝑡</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𝐼</m:t>
                        </m:r>
                      </m:e>
                      <m:sub>
                        <m:r>
                          <a:rPr lang="pt-PT" sz="3200" b="0" i="1" smtClean="0">
                            <a:latin typeface="Cambria Math" panose="02040503050406030204" pitchFamily="18" charset="0"/>
                            <a:ea typeface="Cambria Math" panose="02040503050406030204" pitchFamily="18" charset="0"/>
                          </a:rPr>
                          <m:t>𝑚𝑒𝑑</m:t>
                        </m:r>
                      </m:sub>
                    </m:sSub>
                  </m:oMath>
                </a14:m>
                <a:r>
                  <a:rPr lang="pt-PT" sz="3200" dirty="0">
                    <a:latin typeface="Cambria Math" panose="02040503050406030204" pitchFamily="18" charset="0"/>
                    <a:ea typeface="Cambria Math" panose="02040503050406030204" pitchFamily="18" charset="0"/>
                  </a:rPr>
                  <a:t> (2.3)</a:t>
                </a:r>
              </a:p>
            </p:txBody>
          </p:sp>
        </mc:Choice>
        <mc:Fallback xmlns="">
          <p:sp>
            <p:nvSpPr>
              <p:cNvPr id="36" name="CaixaDeTexto 35">
                <a:extLst>
                  <a:ext uri="{FF2B5EF4-FFF2-40B4-BE49-F238E27FC236}">
                    <a16:creationId xmlns:a16="http://schemas.microsoft.com/office/drawing/2014/main" id="{1BBCCAD5-6517-CF88-E0D4-F06E5648D702}"/>
                  </a:ext>
                </a:extLst>
              </p:cNvPr>
              <p:cNvSpPr txBox="1">
                <a:spLocks noRot="1" noChangeAspect="1" noMove="1" noResize="1" noEditPoints="1" noAdjustHandles="1" noChangeArrowheads="1" noChangeShapeType="1" noTextEdit="1"/>
              </p:cNvSpPr>
              <p:nvPr/>
            </p:nvSpPr>
            <p:spPr>
              <a:xfrm>
                <a:off x="5900124" y="6286925"/>
                <a:ext cx="4386265" cy="492443"/>
              </a:xfrm>
              <a:prstGeom prst="rect">
                <a:avLst/>
              </a:prstGeom>
              <a:blipFill>
                <a:blip r:embed="rId15"/>
                <a:stretch>
                  <a:fillRect t="-24691" r="-4868" b="-49383"/>
                </a:stretch>
              </a:blipFill>
            </p:spPr>
            <p:txBody>
              <a:bodyPr/>
              <a:lstStyle/>
              <a:p>
                <a:r>
                  <a:rPr lang="pt-PT">
                    <a:noFill/>
                  </a:rPr>
                  <a:t> </a:t>
                </a:r>
              </a:p>
            </p:txBody>
          </p:sp>
        </mc:Fallback>
      </mc:AlternateContent>
      <mc:AlternateContent xmlns:mc="http://schemas.openxmlformats.org/markup-compatibility/2006" xmlns:a14="http://schemas.microsoft.com/office/drawing/2010/main">
        <mc:Choice Requires="a14">
          <p:sp>
            <p:nvSpPr>
              <p:cNvPr id="37" name="CaixaDeTexto 36">
                <a:extLst>
                  <a:ext uri="{FF2B5EF4-FFF2-40B4-BE49-F238E27FC236}">
                    <a16:creationId xmlns:a16="http://schemas.microsoft.com/office/drawing/2014/main" id="{3FE32394-F678-835C-A0E2-E5C915ED5C80}"/>
                  </a:ext>
                </a:extLst>
              </p:cNvPr>
              <p:cNvSpPr txBox="1"/>
              <p:nvPr/>
            </p:nvSpPr>
            <p:spPr>
              <a:xfrm>
                <a:off x="6263976" y="6869154"/>
                <a:ext cx="3325782" cy="761491"/>
              </a:xfrm>
              <a:prstGeom prst="rect">
                <a:avLst/>
              </a:prstGeom>
              <a:noFill/>
            </p:spPr>
            <p:txBody>
              <a:bodyPr wrap="none" lIns="0" tIns="0" rIns="0" bIns="0" rtlCol="0">
                <a:spAutoFit/>
              </a:bodyPr>
              <a:lstStyle/>
              <a:p>
                <a14:m>
                  <m:oMath xmlns:m="http://schemas.openxmlformats.org/officeDocument/2006/math">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𝑇</m:t>
                        </m:r>
                      </m:e>
                      <m:sub>
                        <m:r>
                          <a:rPr lang="pt-BR" sz="3200" i="1">
                            <a:latin typeface="Cambria Math" panose="02040503050406030204" pitchFamily="18" charset="0"/>
                            <a:ea typeface="Cambria Math" panose="02040503050406030204" pitchFamily="18" charset="0"/>
                          </a:rPr>
                          <m:t>𝑣𝑖𝑑𝑎</m:t>
                        </m:r>
                      </m:sub>
                    </m:sSub>
                    <m:r>
                      <a:rPr lang="pt-BR" sz="3200" i="1">
                        <a:latin typeface="Cambria Math" panose="02040503050406030204" pitchFamily="18" charset="0"/>
                        <a:ea typeface="Cambria Math" panose="02040503050406030204" pitchFamily="18" charset="0"/>
                      </a:rPr>
                      <m:t>= </m:t>
                    </m:r>
                    <m:f>
                      <m:fPr>
                        <m:ctrlPr>
                          <a:rPr lang="pt-PT" sz="3200" i="1">
                            <a:latin typeface="Cambria Math" panose="02040503050406030204" pitchFamily="18" charset="0"/>
                            <a:ea typeface="Cambria Math" panose="02040503050406030204" pitchFamily="18" charset="0"/>
                          </a:rPr>
                        </m:ctrlPr>
                      </m:fPr>
                      <m:num>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𝐸</m:t>
                            </m:r>
                          </m:e>
                          <m:sub>
                            <m:r>
                              <a:rPr lang="pt-BR" sz="3200" i="1">
                                <a:latin typeface="Cambria Math" panose="02040503050406030204" pitchFamily="18" charset="0"/>
                                <a:ea typeface="Cambria Math" panose="02040503050406030204" pitchFamily="18" charset="0"/>
                              </a:rPr>
                              <m:t>𝑏𝑎𝑡</m:t>
                            </m:r>
                          </m:sub>
                        </m:sSub>
                      </m:num>
                      <m:den>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𝑃</m:t>
                            </m:r>
                          </m:e>
                          <m:sub>
                            <m:r>
                              <a:rPr lang="pt-BR" sz="3200" i="1">
                                <a:latin typeface="Cambria Math" panose="02040503050406030204" pitchFamily="18" charset="0"/>
                                <a:ea typeface="Cambria Math" panose="02040503050406030204" pitchFamily="18" charset="0"/>
                              </a:rPr>
                              <m:t>𝑚𝑒𝑑</m:t>
                            </m:r>
                          </m:sub>
                        </m:sSub>
                      </m:den>
                    </m:f>
                  </m:oMath>
                </a14:m>
                <a:r>
                  <a:rPr lang="pt-PT" sz="3200" dirty="0">
                    <a:latin typeface="Cambria Math" panose="02040503050406030204" pitchFamily="18" charset="0"/>
                    <a:ea typeface="Cambria Math" panose="02040503050406030204" pitchFamily="18" charset="0"/>
                  </a:rPr>
                  <a:t>  (2.4)</a:t>
                </a:r>
              </a:p>
            </p:txBody>
          </p:sp>
        </mc:Choice>
        <mc:Fallback xmlns="">
          <p:sp>
            <p:nvSpPr>
              <p:cNvPr id="37" name="CaixaDeTexto 36">
                <a:extLst>
                  <a:ext uri="{FF2B5EF4-FFF2-40B4-BE49-F238E27FC236}">
                    <a16:creationId xmlns:a16="http://schemas.microsoft.com/office/drawing/2014/main" id="{3FE32394-F678-835C-A0E2-E5C915ED5C80}"/>
                  </a:ext>
                </a:extLst>
              </p:cNvPr>
              <p:cNvSpPr txBox="1">
                <a:spLocks noRot="1" noChangeAspect="1" noMove="1" noResize="1" noEditPoints="1" noAdjustHandles="1" noChangeArrowheads="1" noChangeShapeType="1" noTextEdit="1"/>
              </p:cNvSpPr>
              <p:nvPr/>
            </p:nvSpPr>
            <p:spPr>
              <a:xfrm>
                <a:off x="6263976" y="6869154"/>
                <a:ext cx="3325782" cy="761491"/>
              </a:xfrm>
              <a:prstGeom prst="rect">
                <a:avLst/>
              </a:prstGeom>
              <a:blipFill>
                <a:blip r:embed="rId16"/>
                <a:stretch>
                  <a:fillRect t="-4800" r="-6606" b="-8000"/>
                </a:stretch>
              </a:blipFill>
            </p:spPr>
            <p:txBody>
              <a:bodyPr/>
              <a:lstStyle/>
              <a:p>
                <a:r>
                  <a:rPr lang="pt-PT">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CD1ED097-AB58-4BC1-6FC5-95295F7974DD}"/>
                  </a:ext>
                </a:extLst>
              </p:cNvPr>
              <p:cNvSpPr txBox="1"/>
              <p:nvPr/>
            </p:nvSpPr>
            <p:spPr>
              <a:xfrm>
                <a:off x="5370885" y="7668618"/>
                <a:ext cx="6375913" cy="492443"/>
              </a:xfrm>
              <a:prstGeom prst="rect">
                <a:avLst/>
              </a:prstGeom>
              <a:noFill/>
            </p:spPr>
            <p:txBody>
              <a:bodyPr wrap="none" lIns="0" tIns="0" rIns="0" bIns="0" rtlCol="0">
                <a:spAutoFit/>
              </a:bodyPr>
              <a:lstStyle/>
              <a:p>
                <a14:m>
                  <m:oMath xmlns:m="http://schemas.openxmlformats.org/officeDocument/2006/math">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𝐸</m:t>
                        </m:r>
                      </m:e>
                      <m:sub>
                        <m:r>
                          <a:rPr lang="pt-BR" sz="3200" i="1">
                            <a:latin typeface="Cambria Math" panose="02040503050406030204" pitchFamily="18" charset="0"/>
                            <a:ea typeface="Cambria Math" panose="02040503050406030204" pitchFamily="18" charset="0"/>
                          </a:rPr>
                          <m:t>𝑠𝑜𝑙𝑎𝑟</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𝑉</m:t>
                        </m:r>
                      </m:e>
                      <m:sub>
                        <m:r>
                          <a:rPr lang="pt-BR" sz="3200" i="1">
                            <a:latin typeface="Cambria Math" panose="02040503050406030204" pitchFamily="18" charset="0"/>
                            <a:ea typeface="Cambria Math" panose="02040503050406030204" pitchFamily="18" charset="0"/>
                          </a:rPr>
                          <m:t>𝑠𝑜𝑙𝑎𝑟</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𝐼</m:t>
                        </m:r>
                      </m:e>
                      <m:sub>
                        <m:r>
                          <a:rPr lang="pt-BR" sz="3200" i="1">
                            <a:latin typeface="Cambria Math" panose="02040503050406030204" pitchFamily="18" charset="0"/>
                            <a:ea typeface="Cambria Math" panose="02040503050406030204" pitchFamily="18" charset="0"/>
                          </a:rPr>
                          <m:t>𝑠𝑜𝑙𝑎𝑟</m:t>
                        </m:r>
                      </m:sub>
                    </m:sSub>
                    <m:r>
                      <a:rPr lang="pt-BR" sz="3200" i="1">
                        <a:latin typeface="Cambria Math" panose="02040503050406030204" pitchFamily="18" charset="0"/>
                        <a:ea typeface="Cambria Math" panose="02040503050406030204" pitchFamily="18" charset="0"/>
                      </a:rPr>
                      <m:t>×</m:t>
                    </m:r>
                    <m:sSub>
                      <m:sSubPr>
                        <m:ctrlPr>
                          <a:rPr lang="pt-PT" sz="3200" i="1">
                            <a:latin typeface="Cambria Math" panose="02040503050406030204" pitchFamily="18" charset="0"/>
                            <a:ea typeface="Cambria Math" panose="02040503050406030204" pitchFamily="18" charset="0"/>
                          </a:rPr>
                        </m:ctrlPr>
                      </m:sSubPr>
                      <m:e>
                        <m:r>
                          <a:rPr lang="pt-BR" sz="3200" i="1">
                            <a:latin typeface="Cambria Math" panose="02040503050406030204" pitchFamily="18" charset="0"/>
                            <a:ea typeface="Cambria Math" panose="02040503050406030204" pitchFamily="18" charset="0"/>
                          </a:rPr>
                          <m:t>𝑡</m:t>
                        </m:r>
                      </m:e>
                      <m:sub>
                        <m:r>
                          <a:rPr lang="pt-BR" sz="3200" i="1">
                            <a:latin typeface="Cambria Math" panose="02040503050406030204" pitchFamily="18" charset="0"/>
                            <a:ea typeface="Cambria Math" panose="02040503050406030204" pitchFamily="18" charset="0"/>
                          </a:rPr>
                          <m:t>𝑠𝑜𝑙𝑎𝑟</m:t>
                        </m:r>
                      </m:sub>
                    </m:sSub>
                  </m:oMath>
                </a14:m>
                <a:r>
                  <a:rPr lang="pt-PT" sz="3200" dirty="0">
                    <a:latin typeface="Cambria Math" panose="02040503050406030204" pitchFamily="18" charset="0"/>
                    <a:ea typeface="Cambria Math" panose="02040503050406030204" pitchFamily="18" charset="0"/>
                  </a:rPr>
                  <a:t> (2.5)</a:t>
                </a:r>
              </a:p>
            </p:txBody>
          </p:sp>
        </mc:Choice>
        <mc:Fallback xmlns="">
          <p:sp>
            <p:nvSpPr>
              <p:cNvPr id="38" name="CaixaDeTexto 37">
                <a:extLst>
                  <a:ext uri="{FF2B5EF4-FFF2-40B4-BE49-F238E27FC236}">
                    <a16:creationId xmlns:a16="http://schemas.microsoft.com/office/drawing/2014/main" id="{CD1ED097-AB58-4BC1-6FC5-95295F7974DD}"/>
                  </a:ext>
                </a:extLst>
              </p:cNvPr>
              <p:cNvSpPr txBox="1">
                <a:spLocks noRot="1" noChangeAspect="1" noMove="1" noResize="1" noEditPoints="1" noAdjustHandles="1" noChangeArrowheads="1" noChangeShapeType="1" noTextEdit="1"/>
              </p:cNvSpPr>
              <p:nvPr/>
            </p:nvSpPr>
            <p:spPr>
              <a:xfrm>
                <a:off x="5370885" y="7668618"/>
                <a:ext cx="6375913" cy="492443"/>
              </a:xfrm>
              <a:prstGeom prst="rect">
                <a:avLst/>
              </a:prstGeom>
              <a:blipFill>
                <a:blip r:embed="rId17"/>
                <a:stretch>
                  <a:fillRect t="-25926" r="-3059" b="-48148"/>
                </a:stretch>
              </a:blipFill>
            </p:spPr>
            <p:txBody>
              <a:bodyPr/>
              <a:lstStyle/>
              <a:p>
                <a:r>
                  <a:rPr lang="pt-PT">
                    <a:noFill/>
                  </a:rPr>
                  <a:t> </a:t>
                </a:r>
              </a:p>
            </p:txBody>
          </p:sp>
        </mc:Fallback>
      </mc:AlternateContent>
      <p:pic>
        <p:nvPicPr>
          <p:cNvPr id="133" name="Imagem 132">
            <a:extLst>
              <a:ext uri="{FF2B5EF4-FFF2-40B4-BE49-F238E27FC236}">
                <a16:creationId xmlns:a16="http://schemas.microsoft.com/office/drawing/2014/main" id="{D23475D2-8502-8074-2203-DBB69E6B434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2034178" y="2745499"/>
            <a:ext cx="5806882" cy="49231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4713589" y="458791"/>
            <a:ext cx="9529820" cy="910457"/>
            <a:chOff x="0" y="0"/>
            <a:chExt cx="9529813" cy="910450"/>
          </a:xfrm>
        </p:grpSpPr>
        <p:sp>
          <p:nvSpPr>
            <p:cNvPr id="5" name="Freeform 5"/>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sp>
        <p:nvSpPr>
          <p:cNvPr id="8" name="Freeform 8"/>
          <p:cNvSpPr/>
          <p:nvPr/>
        </p:nvSpPr>
        <p:spPr>
          <a:xfrm>
            <a:off x="8696506" y="2469404"/>
            <a:ext cx="2609850" cy="2205172"/>
          </a:xfrm>
          <a:custGeom>
            <a:avLst/>
            <a:gdLst/>
            <a:ahLst/>
            <a:cxnLst/>
            <a:rect l="l" t="t" r="r" b="b"/>
            <a:pathLst>
              <a:path w="2609850" h="2505075">
                <a:moveTo>
                  <a:pt x="0" y="0"/>
                </a:moveTo>
                <a:lnTo>
                  <a:pt x="2609850" y="0"/>
                </a:lnTo>
                <a:lnTo>
                  <a:pt x="2609850" y="2505075"/>
                </a:lnTo>
                <a:lnTo>
                  <a:pt x="0" y="2505075"/>
                </a:lnTo>
                <a:lnTo>
                  <a:pt x="0" y="0"/>
                </a:lnTo>
                <a:close/>
              </a:path>
            </a:pathLst>
          </a:custGeom>
          <a:blipFill>
            <a:blip r:embed="rId7"/>
            <a:stretch>
              <a:fillRect/>
            </a:stretch>
          </a:blipFill>
        </p:spPr>
      </p:sp>
      <p:sp>
        <p:nvSpPr>
          <p:cNvPr id="9" name="Freeform 9"/>
          <p:cNvSpPr/>
          <p:nvPr/>
        </p:nvSpPr>
        <p:spPr>
          <a:xfrm>
            <a:off x="11305470" y="2469403"/>
            <a:ext cx="6715125" cy="2205172"/>
          </a:xfrm>
          <a:custGeom>
            <a:avLst/>
            <a:gdLst/>
            <a:ahLst/>
            <a:cxnLst/>
            <a:rect l="l" t="t" r="r" b="b"/>
            <a:pathLst>
              <a:path w="6715125" h="2505075">
                <a:moveTo>
                  <a:pt x="0" y="0"/>
                </a:moveTo>
                <a:lnTo>
                  <a:pt x="6715125" y="0"/>
                </a:lnTo>
                <a:lnTo>
                  <a:pt x="6715125" y="2505075"/>
                </a:lnTo>
                <a:lnTo>
                  <a:pt x="0" y="2505075"/>
                </a:lnTo>
                <a:lnTo>
                  <a:pt x="0" y="0"/>
                </a:lnTo>
                <a:close/>
              </a:path>
            </a:pathLst>
          </a:custGeom>
          <a:blipFill>
            <a:blip r:embed="rId8"/>
            <a:stretch>
              <a:fillRect/>
            </a:stretch>
          </a:blipFill>
        </p:spPr>
      </p:sp>
      <p:sp>
        <p:nvSpPr>
          <p:cNvPr id="10" name="Freeform 10"/>
          <p:cNvSpPr/>
          <p:nvPr/>
        </p:nvSpPr>
        <p:spPr>
          <a:xfrm>
            <a:off x="11305470" y="4674575"/>
            <a:ext cx="6715125" cy="2205172"/>
          </a:xfrm>
          <a:custGeom>
            <a:avLst/>
            <a:gdLst/>
            <a:ahLst/>
            <a:cxnLst/>
            <a:rect l="l" t="t" r="r" b="b"/>
            <a:pathLst>
              <a:path w="6715125" h="2495550">
                <a:moveTo>
                  <a:pt x="0" y="0"/>
                </a:moveTo>
                <a:lnTo>
                  <a:pt x="6715125" y="0"/>
                </a:lnTo>
                <a:lnTo>
                  <a:pt x="6715125" y="2495550"/>
                </a:lnTo>
                <a:lnTo>
                  <a:pt x="0" y="2495550"/>
                </a:lnTo>
                <a:lnTo>
                  <a:pt x="0" y="0"/>
                </a:lnTo>
                <a:close/>
              </a:path>
            </a:pathLst>
          </a:custGeom>
          <a:blipFill>
            <a:blip r:embed="rId9"/>
            <a:stretch>
              <a:fillRect b="-4198"/>
            </a:stretch>
          </a:blipFill>
        </p:spPr>
      </p:sp>
      <p:sp>
        <p:nvSpPr>
          <p:cNvPr id="11" name="Freeform 11"/>
          <p:cNvSpPr/>
          <p:nvPr/>
        </p:nvSpPr>
        <p:spPr>
          <a:xfrm>
            <a:off x="8678085" y="4768701"/>
            <a:ext cx="2628900" cy="2111046"/>
          </a:xfrm>
          <a:custGeom>
            <a:avLst/>
            <a:gdLst/>
            <a:ahLst/>
            <a:cxnLst/>
            <a:rect l="l" t="t" r="r" b="b"/>
            <a:pathLst>
              <a:path w="2628900" h="2495550">
                <a:moveTo>
                  <a:pt x="0" y="0"/>
                </a:moveTo>
                <a:lnTo>
                  <a:pt x="2628900" y="0"/>
                </a:lnTo>
                <a:lnTo>
                  <a:pt x="2628900" y="2495550"/>
                </a:lnTo>
                <a:lnTo>
                  <a:pt x="0" y="2495550"/>
                </a:lnTo>
                <a:lnTo>
                  <a:pt x="0" y="0"/>
                </a:lnTo>
                <a:close/>
              </a:path>
            </a:pathLst>
          </a:custGeom>
          <a:blipFill>
            <a:blip r:embed="rId10"/>
            <a:stretch>
              <a:fillRect/>
            </a:stretch>
          </a:blipFill>
        </p:spPr>
      </p:sp>
      <p:sp>
        <p:nvSpPr>
          <p:cNvPr id="12" name="Freeform 12"/>
          <p:cNvSpPr/>
          <p:nvPr/>
        </p:nvSpPr>
        <p:spPr>
          <a:xfrm>
            <a:off x="11305470" y="6973872"/>
            <a:ext cx="6715125" cy="2111046"/>
          </a:xfrm>
          <a:custGeom>
            <a:avLst/>
            <a:gdLst/>
            <a:ahLst/>
            <a:cxnLst/>
            <a:rect l="l" t="t" r="r" b="b"/>
            <a:pathLst>
              <a:path w="6715125" h="2476500">
                <a:moveTo>
                  <a:pt x="0" y="0"/>
                </a:moveTo>
                <a:lnTo>
                  <a:pt x="6715125" y="0"/>
                </a:lnTo>
                <a:lnTo>
                  <a:pt x="6715125" y="2476500"/>
                </a:lnTo>
                <a:lnTo>
                  <a:pt x="0" y="2476500"/>
                </a:lnTo>
                <a:lnTo>
                  <a:pt x="0" y="0"/>
                </a:lnTo>
                <a:close/>
              </a:path>
            </a:pathLst>
          </a:custGeom>
          <a:blipFill>
            <a:blip r:embed="rId11"/>
            <a:stretch>
              <a:fillRect/>
            </a:stretch>
          </a:blipFill>
        </p:spPr>
      </p:sp>
      <p:sp>
        <p:nvSpPr>
          <p:cNvPr id="13" name="Freeform 13"/>
          <p:cNvSpPr/>
          <p:nvPr/>
        </p:nvSpPr>
        <p:spPr>
          <a:xfrm>
            <a:off x="8696506" y="6973872"/>
            <a:ext cx="2657475" cy="2111046"/>
          </a:xfrm>
          <a:custGeom>
            <a:avLst/>
            <a:gdLst/>
            <a:ahLst/>
            <a:cxnLst/>
            <a:rect l="l" t="t" r="r" b="b"/>
            <a:pathLst>
              <a:path w="2657475" h="2419350">
                <a:moveTo>
                  <a:pt x="0" y="0"/>
                </a:moveTo>
                <a:lnTo>
                  <a:pt x="2657475" y="0"/>
                </a:lnTo>
                <a:lnTo>
                  <a:pt x="2657475" y="2419350"/>
                </a:lnTo>
                <a:lnTo>
                  <a:pt x="0" y="2419350"/>
                </a:lnTo>
                <a:lnTo>
                  <a:pt x="0" y="0"/>
                </a:lnTo>
                <a:close/>
              </a:path>
            </a:pathLst>
          </a:custGeom>
          <a:blipFill>
            <a:blip r:embed="rId12"/>
            <a:stretch>
              <a:fillRect/>
            </a:stretch>
          </a:blipFill>
        </p:spPr>
      </p:sp>
      <p:sp>
        <p:nvSpPr>
          <p:cNvPr id="14" name="Freeform 14"/>
          <p:cNvSpPr/>
          <p:nvPr/>
        </p:nvSpPr>
        <p:spPr>
          <a:xfrm>
            <a:off x="859384" y="2469403"/>
            <a:ext cx="7545686" cy="6384861"/>
          </a:xfrm>
          <a:custGeom>
            <a:avLst/>
            <a:gdLst/>
            <a:ahLst/>
            <a:cxnLst/>
            <a:rect l="l" t="t" r="r" b="b"/>
            <a:pathLst>
              <a:path w="8201025" h="3562350">
                <a:moveTo>
                  <a:pt x="0" y="0"/>
                </a:moveTo>
                <a:lnTo>
                  <a:pt x="8201025" y="0"/>
                </a:lnTo>
                <a:lnTo>
                  <a:pt x="8201025" y="3562350"/>
                </a:lnTo>
                <a:lnTo>
                  <a:pt x="0" y="3562350"/>
                </a:lnTo>
                <a:lnTo>
                  <a:pt x="0" y="0"/>
                </a:lnTo>
                <a:close/>
              </a:path>
            </a:pathLst>
          </a:custGeom>
          <a:blipFill>
            <a:blip r:embed="rId13"/>
            <a:stretch>
              <a:fillRect/>
            </a:stretch>
          </a:blipFill>
        </p:spPr>
      </p:sp>
      <p:grpSp>
        <p:nvGrpSpPr>
          <p:cNvPr id="15" name="Group 15"/>
          <p:cNvGrpSpPr>
            <a:grpSpLocks noChangeAspect="1"/>
          </p:cNvGrpSpPr>
          <p:nvPr/>
        </p:nvGrpSpPr>
        <p:grpSpPr>
          <a:xfrm>
            <a:off x="1309897" y="9258300"/>
            <a:ext cx="1877854" cy="1028700"/>
            <a:chOff x="0" y="0"/>
            <a:chExt cx="1877847" cy="1028700"/>
          </a:xfrm>
        </p:grpSpPr>
        <p:sp>
          <p:nvSpPr>
            <p:cNvPr id="16" name="Freeform 16"/>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7" name="Group 17"/>
          <p:cNvGrpSpPr>
            <a:grpSpLocks noChangeAspect="1"/>
          </p:cNvGrpSpPr>
          <p:nvPr/>
        </p:nvGrpSpPr>
        <p:grpSpPr>
          <a:xfrm>
            <a:off x="16320373" y="0"/>
            <a:ext cx="1877854" cy="1369247"/>
            <a:chOff x="0" y="0"/>
            <a:chExt cx="1877847" cy="1369250"/>
          </a:xfrm>
        </p:grpSpPr>
        <p:sp>
          <p:nvSpPr>
            <p:cNvPr id="18" name="Freeform 18"/>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9" name="TextBox 19"/>
          <p:cNvSpPr txBox="1"/>
          <p:nvPr/>
        </p:nvSpPr>
        <p:spPr>
          <a:xfrm>
            <a:off x="4762329" y="511080"/>
            <a:ext cx="9529833"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III : Discussão do Tema</a:t>
            </a:r>
          </a:p>
        </p:txBody>
      </p:sp>
      <p:sp>
        <p:nvSpPr>
          <p:cNvPr id="20" name="TextBox 20"/>
          <p:cNvSpPr txBox="1"/>
          <p:nvPr/>
        </p:nvSpPr>
        <p:spPr>
          <a:xfrm>
            <a:off x="859383" y="1622231"/>
            <a:ext cx="6123147" cy="611834"/>
          </a:xfrm>
          <a:prstGeom prst="rect">
            <a:avLst/>
          </a:prstGeom>
        </p:spPr>
        <p:txBody>
          <a:bodyPr wrap="square" lIns="0" tIns="0" rIns="0" bIns="0" rtlCol="0" anchor="t">
            <a:spAutoFit/>
          </a:bodyPr>
          <a:lstStyle/>
          <a:p>
            <a:pPr algn="l">
              <a:lnSpc>
                <a:spcPts val="4899"/>
              </a:lnSpc>
            </a:pPr>
            <a:r>
              <a:rPr lang="en-US" sz="4000" b="1" dirty="0">
                <a:solidFill>
                  <a:srgbClr val="000000"/>
                </a:solidFill>
                <a:latin typeface="Arial Bold"/>
                <a:ea typeface="Arial Bold"/>
                <a:cs typeface="Arial Bold"/>
                <a:sym typeface="Arial Bold"/>
              </a:rPr>
              <a:t>Visualização dos dados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80414-2A0A-04AB-949B-283DE67A371B}"/>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AFCCE303-B0E8-5B17-5865-CF4299B02929}"/>
              </a:ext>
            </a:extLst>
          </p:cNvPr>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a:extLst>
              <a:ext uri="{FF2B5EF4-FFF2-40B4-BE49-F238E27FC236}">
                <a16:creationId xmlns:a16="http://schemas.microsoft.com/office/drawing/2014/main" id="{9EB5D30E-08A1-817E-1836-B141F2BA46D4}"/>
              </a:ext>
            </a:extLst>
          </p:cNvPr>
          <p:cNvGrpSpPr>
            <a:grpSpLocks noChangeAspect="1"/>
          </p:cNvGrpSpPr>
          <p:nvPr/>
        </p:nvGrpSpPr>
        <p:grpSpPr>
          <a:xfrm>
            <a:off x="4713589" y="458791"/>
            <a:ext cx="9529820" cy="910457"/>
            <a:chOff x="0" y="0"/>
            <a:chExt cx="9529813" cy="910450"/>
          </a:xfrm>
        </p:grpSpPr>
        <p:sp>
          <p:nvSpPr>
            <p:cNvPr id="5" name="Freeform 5">
              <a:extLst>
                <a:ext uri="{FF2B5EF4-FFF2-40B4-BE49-F238E27FC236}">
                  <a16:creationId xmlns:a16="http://schemas.microsoft.com/office/drawing/2014/main" id="{CF55E9E8-0A2A-3D7A-8261-14A5C75BF27E}"/>
                </a:ext>
              </a:extLst>
            </p:cNvPr>
            <p:cNvSpPr/>
            <p:nvPr/>
          </p:nvSpPr>
          <p:spPr>
            <a:xfrm>
              <a:off x="0" y="0"/>
              <a:ext cx="9529826" cy="910463"/>
            </a:xfrm>
            <a:custGeom>
              <a:avLst/>
              <a:gdLst/>
              <a:ahLst/>
              <a:cxnLst/>
              <a:rect l="l" t="t" r="r" b="b"/>
              <a:pathLst>
                <a:path w="9529826" h="910463">
                  <a:moveTo>
                    <a:pt x="0" y="0"/>
                  </a:moveTo>
                  <a:lnTo>
                    <a:pt x="0" y="910463"/>
                  </a:lnTo>
                  <a:lnTo>
                    <a:pt x="9529826" y="910463"/>
                  </a:lnTo>
                  <a:lnTo>
                    <a:pt x="9529826" y="0"/>
                  </a:lnTo>
                  <a:close/>
                </a:path>
              </a:pathLst>
            </a:custGeom>
            <a:solidFill>
              <a:srgbClr val="E0C76E"/>
            </a:solidFill>
          </p:spPr>
        </p:sp>
      </p:grpSp>
      <p:sp>
        <p:nvSpPr>
          <p:cNvPr id="6" name="Freeform 6">
            <a:extLst>
              <a:ext uri="{FF2B5EF4-FFF2-40B4-BE49-F238E27FC236}">
                <a16:creationId xmlns:a16="http://schemas.microsoft.com/office/drawing/2014/main" id="{68C4B8D4-1B3E-4531-3FC0-FD8AC43B3F00}"/>
              </a:ext>
            </a:extLst>
          </p:cNvPr>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8819A744-8C28-D1A1-C99E-3653C6D09951}"/>
              </a:ext>
            </a:extLst>
          </p:cNvPr>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a:extLst>
              <a:ext uri="{FF2B5EF4-FFF2-40B4-BE49-F238E27FC236}">
                <a16:creationId xmlns:a16="http://schemas.microsoft.com/office/drawing/2014/main" id="{0CACCF01-47E2-03A1-50CC-8FA38DA17313}"/>
              </a:ext>
            </a:extLst>
          </p:cNvPr>
          <p:cNvGrpSpPr>
            <a:grpSpLocks noChangeAspect="1"/>
          </p:cNvGrpSpPr>
          <p:nvPr/>
        </p:nvGrpSpPr>
        <p:grpSpPr>
          <a:xfrm>
            <a:off x="1309897" y="9258300"/>
            <a:ext cx="1877854" cy="1028700"/>
            <a:chOff x="0" y="0"/>
            <a:chExt cx="1877847" cy="1028700"/>
          </a:xfrm>
        </p:grpSpPr>
        <p:sp>
          <p:nvSpPr>
            <p:cNvPr id="9" name="Freeform 9">
              <a:extLst>
                <a:ext uri="{FF2B5EF4-FFF2-40B4-BE49-F238E27FC236}">
                  <a16:creationId xmlns:a16="http://schemas.microsoft.com/office/drawing/2014/main" id="{09E4670D-D48C-F592-C92B-8515BDEF6076}"/>
                </a:ext>
              </a:extLst>
            </p:cNvPr>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1" name="Group 11">
            <a:extLst>
              <a:ext uri="{FF2B5EF4-FFF2-40B4-BE49-F238E27FC236}">
                <a16:creationId xmlns:a16="http://schemas.microsoft.com/office/drawing/2014/main" id="{F26270A3-D578-B85C-E92F-A3EAB0CF17C2}"/>
              </a:ext>
            </a:extLst>
          </p:cNvPr>
          <p:cNvGrpSpPr>
            <a:grpSpLocks noChangeAspect="1"/>
          </p:cNvGrpSpPr>
          <p:nvPr/>
        </p:nvGrpSpPr>
        <p:grpSpPr>
          <a:xfrm>
            <a:off x="16320373" y="0"/>
            <a:ext cx="1877854" cy="1369247"/>
            <a:chOff x="0" y="0"/>
            <a:chExt cx="1877847" cy="1369250"/>
          </a:xfrm>
        </p:grpSpPr>
        <p:sp>
          <p:nvSpPr>
            <p:cNvPr id="12" name="Freeform 12">
              <a:extLst>
                <a:ext uri="{FF2B5EF4-FFF2-40B4-BE49-F238E27FC236}">
                  <a16:creationId xmlns:a16="http://schemas.microsoft.com/office/drawing/2014/main" id="{79DC1A9C-7189-BD1E-828F-B3B5FC0EA933}"/>
                </a:ext>
              </a:extLst>
            </p:cNvPr>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3" name="TextBox 13">
            <a:extLst>
              <a:ext uri="{FF2B5EF4-FFF2-40B4-BE49-F238E27FC236}">
                <a16:creationId xmlns:a16="http://schemas.microsoft.com/office/drawing/2014/main" id="{848C968A-B248-CF07-2662-49CFD7808BB7}"/>
              </a:ext>
            </a:extLst>
          </p:cNvPr>
          <p:cNvSpPr txBox="1"/>
          <p:nvPr/>
        </p:nvSpPr>
        <p:spPr>
          <a:xfrm>
            <a:off x="4756307" y="500260"/>
            <a:ext cx="9487115" cy="764055"/>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Arial Bold"/>
                <a:ea typeface="Arial Bold"/>
                <a:cs typeface="Arial Bold"/>
                <a:sym typeface="Arial Bold"/>
              </a:rPr>
              <a:t>CAPÍTULO III : Discussão do Tema</a:t>
            </a:r>
          </a:p>
        </p:txBody>
      </p:sp>
      <p:sp>
        <p:nvSpPr>
          <p:cNvPr id="14" name="TextBox 14">
            <a:extLst>
              <a:ext uri="{FF2B5EF4-FFF2-40B4-BE49-F238E27FC236}">
                <a16:creationId xmlns:a16="http://schemas.microsoft.com/office/drawing/2014/main" id="{15478E0B-D0C9-F1FB-DC0E-47478CDC98DD}"/>
              </a:ext>
            </a:extLst>
          </p:cNvPr>
          <p:cNvSpPr txBox="1"/>
          <p:nvPr/>
        </p:nvSpPr>
        <p:spPr>
          <a:xfrm>
            <a:off x="1073252" y="2063617"/>
            <a:ext cx="6318147" cy="304058"/>
          </a:xfrm>
          <a:prstGeom prst="rect">
            <a:avLst/>
          </a:prstGeom>
        </p:spPr>
        <p:txBody>
          <a:bodyPr wrap="square" lIns="0" tIns="0" rIns="0" bIns="0" rtlCol="0" anchor="t">
            <a:spAutoFit/>
          </a:bodyPr>
          <a:lstStyle/>
          <a:p>
            <a:pPr algn="l">
              <a:lnSpc>
                <a:spcPts val="1749"/>
              </a:lnSpc>
            </a:pPr>
            <a:r>
              <a:rPr lang="en-US" sz="4000" b="1" dirty="0">
                <a:solidFill>
                  <a:srgbClr val="000000"/>
                </a:solidFill>
                <a:latin typeface="Arial Bold"/>
                <a:ea typeface="Arial Bold"/>
                <a:cs typeface="Arial Bold"/>
                <a:sym typeface="Arial Bold"/>
              </a:rPr>
              <a:t> </a:t>
            </a:r>
            <a:r>
              <a:rPr lang="en-US" sz="4000" b="1" dirty="0" err="1">
                <a:solidFill>
                  <a:srgbClr val="000000"/>
                </a:solidFill>
                <a:latin typeface="Arial Bold"/>
                <a:ea typeface="Arial Bold"/>
                <a:cs typeface="Arial Bold"/>
                <a:sym typeface="Arial Bold"/>
              </a:rPr>
              <a:t>Benefícios</a:t>
            </a:r>
            <a:r>
              <a:rPr lang="en-US" sz="4000" b="1" dirty="0">
                <a:solidFill>
                  <a:srgbClr val="000000"/>
                </a:solidFill>
                <a:latin typeface="Arial Bold"/>
                <a:ea typeface="Arial Bold"/>
                <a:cs typeface="Arial Bold"/>
                <a:sym typeface="Arial Bold"/>
              </a:rPr>
              <a:t> do </a:t>
            </a:r>
            <a:r>
              <a:rPr lang="en-US" sz="4000" b="1" dirty="0" err="1">
                <a:solidFill>
                  <a:srgbClr val="000000"/>
                </a:solidFill>
                <a:latin typeface="Arial Bold"/>
                <a:ea typeface="Arial Bold"/>
                <a:cs typeface="Arial Bold"/>
                <a:sym typeface="Arial Bold"/>
              </a:rPr>
              <a:t>Projecto</a:t>
            </a:r>
            <a:endParaRPr lang="en-US" sz="4000" b="1" dirty="0">
              <a:solidFill>
                <a:srgbClr val="000000"/>
              </a:solidFill>
              <a:latin typeface="Arial Bold"/>
              <a:ea typeface="Arial Bold"/>
              <a:cs typeface="Arial Bold"/>
              <a:sym typeface="Arial Bold"/>
            </a:endParaRPr>
          </a:p>
        </p:txBody>
      </p:sp>
      <p:sp>
        <p:nvSpPr>
          <p:cNvPr id="15" name="TextBox 15">
            <a:extLst>
              <a:ext uri="{FF2B5EF4-FFF2-40B4-BE49-F238E27FC236}">
                <a16:creationId xmlns:a16="http://schemas.microsoft.com/office/drawing/2014/main" id="{1E90EA0C-4DC7-5C6E-87DE-517694EE3CA5}"/>
              </a:ext>
            </a:extLst>
          </p:cNvPr>
          <p:cNvSpPr txBox="1"/>
          <p:nvPr/>
        </p:nvSpPr>
        <p:spPr>
          <a:xfrm>
            <a:off x="4810220" y="2292096"/>
            <a:ext cx="54016" cy="438150"/>
          </a:xfrm>
          <a:prstGeom prst="rect">
            <a:avLst/>
          </a:prstGeom>
        </p:spPr>
        <p:txBody>
          <a:bodyPr lIns="0" tIns="0" rIns="0" bIns="0" rtlCol="0" anchor="t">
            <a:spAutoFit/>
          </a:bodyPr>
          <a:lstStyle/>
          <a:p>
            <a:pPr algn="l">
              <a:lnSpc>
                <a:spcPts val="3750"/>
              </a:lnSpc>
            </a:pPr>
            <a:r>
              <a:rPr lang="en-US" sz="1500" b="1">
                <a:solidFill>
                  <a:srgbClr val="FFFFFF"/>
                </a:solidFill>
                <a:latin typeface="Arial Bold"/>
                <a:ea typeface="Arial Bold"/>
                <a:cs typeface="Arial Bold"/>
                <a:sym typeface="Arial Bold"/>
              </a:rPr>
              <a:t> </a:t>
            </a:r>
          </a:p>
        </p:txBody>
      </p:sp>
      <p:sp>
        <p:nvSpPr>
          <p:cNvPr id="54" name="TextBox 54">
            <a:extLst>
              <a:ext uri="{FF2B5EF4-FFF2-40B4-BE49-F238E27FC236}">
                <a16:creationId xmlns:a16="http://schemas.microsoft.com/office/drawing/2014/main" id="{99CF8CF7-08D0-711D-BBC8-0C106283F332}"/>
              </a:ext>
            </a:extLst>
          </p:cNvPr>
          <p:cNvSpPr txBox="1"/>
          <p:nvPr/>
        </p:nvSpPr>
        <p:spPr>
          <a:xfrm>
            <a:off x="6082084" y="2444496"/>
            <a:ext cx="1068705" cy="552450"/>
          </a:xfrm>
          <a:prstGeom prst="rect">
            <a:avLst/>
          </a:prstGeom>
        </p:spPr>
        <p:txBody>
          <a:bodyPr lIns="0" tIns="0" rIns="0" bIns="0" rtlCol="0" anchor="t">
            <a:spAutoFit/>
          </a:bodyPr>
          <a:lstStyle/>
          <a:p>
            <a:pPr algn="ctr">
              <a:lnSpc>
                <a:spcPts val="2100"/>
              </a:lnSpc>
            </a:pPr>
            <a:r>
              <a:rPr lang="en-US" sz="1500" b="1">
                <a:solidFill>
                  <a:srgbClr val="FFFFFF"/>
                </a:solidFill>
                <a:latin typeface="Arial Bold"/>
                <a:ea typeface="Arial Bold"/>
                <a:cs typeface="Arial Bold"/>
                <a:sym typeface="Arial Bold"/>
              </a:rPr>
              <a:t>Custo Total (USD)</a:t>
            </a:r>
          </a:p>
        </p:txBody>
      </p:sp>
      <p:sp>
        <p:nvSpPr>
          <p:cNvPr id="56" name="TextBox 56">
            <a:extLst>
              <a:ext uri="{FF2B5EF4-FFF2-40B4-BE49-F238E27FC236}">
                <a16:creationId xmlns:a16="http://schemas.microsoft.com/office/drawing/2014/main" id="{CCD7D3A5-E28D-25D1-9478-D7CAA25E8BCF}"/>
              </a:ext>
            </a:extLst>
          </p:cNvPr>
          <p:cNvSpPr txBox="1"/>
          <p:nvPr/>
        </p:nvSpPr>
        <p:spPr>
          <a:xfrm>
            <a:off x="1073252" y="2739889"/>
            <a:ext cx="16615643" cy="5102615"/>
          </a:xfrm>
          <a:prstGeom prst="rect">
            <a:avLst/>
          </a:prstGeom>
        </p:spPr>
        <p:txBody>
          <a:bodyPr wrap="square" lIns="0" tIns="0" rIns="0" bIns="0" rtlCol="0" anchor="t">
            <a:spAutoFit/>
          </a:bodyPr>
          <a:lstStyle/>
          <a:p>
            <a:pPr marL="285750" indent="-285750">
              <a:buFont typeface="Wingdings" panose="05000000000000000000" pitchFamily="2" charset="2"/>
              <a:buChar char="ü"/>
            </a:pPr>
            <a:r>
              <a:rPr lang="en-US" sz="3500" dirty="0" err="1">
                <a:solidFill>
                  <a:srgbClr val="000000"/>
                </a:solidFill>
                <a:latin typeface="Arial"/>
                <a:ea typeface="Arial"/>
                <a:cs typeface="Arial"/>
                <a:sym typeface="Arial"/>
              </a:rPr>
              <a:t>Reduz</a:t>
            </a:r>
            <a:r>
              <a:rPr lang="en-US" sz="3500" dirty="0">
                <a:solidFill>
                  <a:srgbClr val="000000"/>
                </a:solidFill>
                <a:latin typeface="Arial"/>
                <a:ea typeface="Arial"/>
                <a:cs typeface="Arial"/>
                <a:sym typeface="Arial"/>
              </a:rPr>
              <a:t> a </a:t>
            </a:r>
            <a:r>
              <a:rPr lang="en-US" sz="3500" dirty="0" err="1">
                <a:solidFill>
                  <a:srgbClr val="000000"/>
                </a:solidFill>
                <a:latin typeface="Arial"/>
                <a:ea typeface="Arial"/>
                <a:cs typeface="Arial"/>
                <a:sym typeface="Arial"/>
              </a:rPr>
              <a:t>necessidade</a:t>
            </a:r>
            <a:r>
              <a:rPr lang="en-US" sz="3500" dirty="0">
                <a:solidFill>
                  <a:srgbClr val="000000"/>
                </a:solidFill>
                <a:latin typeface="Arial"/>
                <a:ea typeface="Arial"/>
                <a:cs typeface="Arial"/>
                <a:sym typeface="Arial"/>
              </a:rPr>
              <a:t> de </a:t>
            </a:r>
            <a:r>
              <a:rPr lang="en-US" sz="3500" dirty="0" err="1">
                <a:solidFill>
                  <a:srgbClr val="000000"/>
                </a:solidFill>
                <a:latin typeface="Arial"/>
                <a:ea typeface="Arial"/>
                <a:cs typeface="Arial"/>
                <a:sym typeface="Arial"/>
              </a:rPr>
              <a:t>intervenção</a:t>
            </a:r>
            <a:r>
              <a:rPr lang="en-US" sz="3500" dirty="0">
                <a:solidFill>
                  <a:srgbClr val="000000"/>
                </a:solidFill>
                <a:latin typeface="Arial"/>
                <a:ea typeface="Arial"/>
                <a:cs typeface="Arial"/>
                <a:sym typeface="Arial"/>
              </a:rPr>
              <a:t> humana;</a:t>
            </a:r>
          </a:p>
          <a:p>
            <a:pPr marL="285750" indent="-285750">
              <a:buFont typeface="Wingdings" panose="05000000000000000000" pitchFamily="2" charset="2"/>
              <a:buChar char="ü"/>
            </a:pPr>
            <a:r>
              <a:rPr lang="en-US" sz="3500" dirty="0" err="1">
                <a:solidFill>
                  <a:srgbClr val="000000"/>
                </a:solidFill>
                <a:latin typeface="Arial"/>
                <a:ea typeface="Arial"/>
                <a:cs typeface="Arial"/>
                <a:sym typeface="Arial"/>
              </a:rPr>
              <a:t>Aumenta</a:t>
            </a:r>
            <a:r>
              <a:rPr lang="en-US" sz="3500" dirty="0">
                <a:solidFill>
                  <a:srgbClr val="000000"/>
                </a:solidFill>
                <a:latin typeface="Arial"/>
                <a:ea typeface="Arial"/>
                <a:cs typeface="Arial"/>
                <a:sym typeface="Arial"/>
              </a:rPr>
              <a:t> a </a:t>
            </a:r>
            <a:r>
              <a:rPr lang="en-US" sz="3500" dirty="0" err="1">
                <a:solidFill>
                  <a:srgbClr val="000000"/>
                </a:solidFill>
                <a:latin typeface="Arial"/>
                <a:ea typeface="Arial"/>
                <a:cs typeface="Arial"/>
                <a:sym typeface="Arial"/>
              </a:rPr>
              <a:t>eficiência</a:t>
            </a:r>
            <a:r>
              <a:rPr lang="en-US" sz="3500" dirty="0">
                <a:solidFill>
                  <a:srgbClr val="000000"/>
                </a:solidFill>
                <a:latin typeface="Arial"/>
                <a:ea typeface="Arial"/>
                <a:cs typeface="Arial"/>
                <a:sym typeface="Arial"/>
              </a:rPr>
              <a:t> do </a:t>
            </a:r>
            <a:r>
              <a:rPr lang="en-US" sz="3500" dirty="0" err="1">
                <a:solidFill>
                  <a:srgbClr val="000000"/>
                </a:solidFill>
                <a:latin typeface="Arial"/>
                <a:ea typeface="Arial"/>
                <a:cs typeface="Arial"/>
                <a:sym typeface="Arial"/>
              </a:rPr>
              <a:t>monitoramento</a:t>
            </a:r>
            <a:r>
              <a:rPr lang="en-US" sz="3500" dirty="0">
                <a:solidFill>
                  <a:srgbClr val="000000"/>
                </a:solidFill>
                <a:latin typeface="Arial"/>
                <a:ea typeface="Arial"/>
                <a:cs typeface="Arial"/>
                <a:sym typeface="Arial"/>
              </a:rPr>
              <a:t>. </a:t>
            </a:r>
          </a:p>
          <a:p>
            <a:pPr marL="285750" indent="-285750">
              <a:buFont typeface="Wingdings" panose="05000000000000000000" pitchFamily="2" charset="2"/>
              <a:buChar char="ü"/>
            </a:pPr>
            <a:r>
              <a:rPr lang="en-US" sz="3500" dirty="0">
                <a:solidFill>
                  <a:srgbClr val="000000"/>
                </a:solidFill>
                <a:latin typeface="Arial"/>
                <a:ea typeface="Arial"/>
                <a:cs typeface="Arial"/>
                <a:sym typeface="Arial"/>
              </a:rPr>
              <a:t>Protege </a:t>
            </a:r>
            <a:r>
              <a:rPr lang="en-US" sz="3500" dirty="0" err="1">
                <a:solidFill>
                  <a:srgbClr val="000000"/>
                </a:solidFill>
                <a:latin typeface="Arial"/>
                <a:ea typeface="Arial"/>
                <a:cs typeface="Arial"/>
                <a:sym typeface="Arial"/>
              </a:rPr>
              <a:t>direta</a:t>
            </a:r>
            <a:r>
              <a:rPr lang="en-US" sz="3500" dirty="0">
                <a:solidFill>
                  <a:srgbClr val="000000"/>
                </a:solidFill>
                <a:latin typeface="Arial"/>
                <a:ea typeface="Arial"/>
                <a:cs typeface="Arial"/>
                <a:sym typeface="Arial"/>
              </a:rPr>
              <a:t> à </a:t>
            </a:r>
            <a:r>
              <a:rPr lang="en-US" sz="3500" dirty="0" err="1">
                <a:solidFill>
                  <a:srgbClr val="000000"/>
                </a:solidFill>
                <a:latin typeface="Arial"/>
                <a:ea typeface="Arial"/>
                <a:cs typeface="Arial"/>
                <a:sym typeface="Arial"/>
              </a:rPr>
              <a:t>biodiversidade</a:t>
            </a:r>
            <a:r>
              <a:rPr lang="en-US" sz="3500" dirty="0">
                <a:solidFill>
                  <a:srgbClr val="000000"/>
                </a:solidFill>
                <a:latin typeface="Arial"/>
                <a:ea typeface="Arial"/>
                <a:cs typeface="Arial"/>
                <a:sym typeface="Arial"/>
              </a:rPr>
              <a:t> do Parque da </a:t>
            </a:r>
            <a:r>
              <a:rPr lang="en-US" sz="3500" dirty="0" err="1">
                <a:solidFill>
                  <a:srgbClr val="000000"/>
                </a:solidFill>
                <a:latin typeface="Arial"/>
                <a:ea typeface="Arial"/>
                <a:cs typeface="Arial"/>
                <a:sym typeface="Arial"/>
              </a:rPr>
              <a:t>Quiçama</a:t>
            </a:r>
            <a:endParaRPr lang="en-US" sz="3500" dirty="0">
              <a:solidFill>
                <a:srgbClr val="000000"/>
              </a:solidFill>
              <a:latin typeface="Arial"/>
              <a:ea typeface="Arial"/>
              <a:cs typeface="Arial"/>
              <a:sym typeface="Arial"/>
            </a:endParaRPr>
          </a:p>
          <a:p>
            <a:pPr marL="285750" indent="-285750">
              <a:buFont typeface="Wingdings" panose="05000000000000000000" pitchFamily="2" charset="2"/>
              <a:buChar char="ü"/>
            </a:pPr>
            <a:r>
              <a:rPr lang="en-US" sz="3500" dirty="0" err="1">
                <a:solidFill>
                  <a:srgbClr val="000000"/>
                </a:solidFill>
                <a:latin typeface="Arial"/>
                <a:ea typeface="Arial"/>
                <a:cs typeface="Arial"/>
                <a:sym typeface="Arial"/>
              </a:rPr>
              <a:t>Promove</a:t>
            </a:r>
            <a:r>
              <a:rPr lang="en-US" sz="3500" dirty="0">
                <a:solidFill>
                  <a:srgbClr val="000000"/>
                </a:solidFill>
                <a:latin typeface="Arial"/>
                <a:ea typeface="Arial"/>
                <a:cs typeface="Arial"/>
                <a:sym typeface="Arial"/>
              </a:rPr>
              <a:t> o </a:t>
            </a:r>
            <a:r>
              <a:rPr lang="en-US" sz="3500" dirty="0" err="1">
                <a:solidFill>
                  <a:srgbClr val="000000"/>
                </a:solidFill>
                <a:latin typeface="Arial"/>
                <a:ea typeface="Arial"/>
                <a:cs typeface="Arial"/>
                <a:sym typeface="Arial"/>
              </a:rPr>
              <a:t>desenvolvimento</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socioeconômico</a:t>
            </a:r>
            <a:r>
              <a:rPr lang="en-US" sz="3500" dirty="0">
                <a:solidFill>
                  <a:srgbClr val="000000"/>
                </a:solidFill>
                <a:latin typeface="Arial"/>
                <a:ea typeface="Arial"/>
                <a:cs typeface="Arial"/>
                <a:sym typeface="Arial"/>
              </a:rPr>
              <a:t> local </a:t>
            </a:r>
          </a:p>
          <a:p>
            <a:pPr marL="285750" indent="-285750">
              <a:buFont typeface="Wingdings" panose="05000000000000000000" pitchFamily="2" charset="2"/>
              <a:buChar char="ü"/>
            </a:pPr>
            <a:r>
              <a:rPr lang="en-US" sz="3500" dirty="0" err="1">
                <a:solidFill>
                  <a:srgbClr val="000000"/>
                </a:solidFill>
                <a:latin typeface="Arial"/>
                <a:ea typeface="Arial"/>
                <a:cs typeface="Arial"/>
                <a:sym typeface="Arial"/>
              </a:rPr>
              <a:t>Reforça</a:t>
            </a:r>
            <a:r>
              <a:rPr lang="en-US" sz="3500" dirty="0">
                <a:solidFill>
                  <a:srgbClr val="000000"/>
                </a:solidFill>
                <a:latin typeface="Arial"/>
                <a:ea typeface="Arial"/>
                <a:cs typeface="Arial"/>
                <a:sym typeface="Arial"/>
              </a:rPr>
              <a:t> o </a:t>
            </a:r>
            <a:r>
              <a:rPr lang="en-US" sz="3500" dirty="0" err="1">
                <a:solidFill>
                  <a:srgbClr val="000000"/>
                </a:solidFill>
                <a:latin typeface="Arial"/>
                <a:ea typeface="Arial"/>
                <a:cs typeface="Arial"/>
                <a:sym typeface="Arial"/>
              </a:rPr>
              <a:t>papel</a:t>
            </a:r>
            <a:r>
              <a:rPr lang="en-US" sz="3500" dirty="0">
                <a:solidFill>
                  <a:srgbClr val="000000"/>
                </a:solidFill>
                <a:latin typeface="Arial"/>
                <a:ea typeface="Arial"/>
                <a:cs typeface="Arial"/>
                <a:sym typeface="Arial"/>
              </a:rPr>
              <a:t> da </a:t>
            </a:r>
            <a:r>
              <a:rPr lang="en-US" sz="3500" dirty="0" err="1">
                <a:solidFill>
                  <a:srgbClr val="000000"/>
                </a:solidFill>
                <a:latin typeface="Arial"/>
                <a:ea typeface="Arial"/>
                <a:cs typeface="Arial"/>
                <a:sym typeface="Arial"/>
              </a:rPr>
              <a:t>conservação</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ambiental</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como</a:t>
            </a:r>
            <a:r>
              <a:rPr lang="en-US" sz="3500" dirty="0">
                <a:solidFill>
                  <a:srgbClr val="000000"/>
                </a:solidFill>
                <a:latin typeface="Arial"/>
                <a:ea typeface="Arial"/>
                <a:cs typeface="Arial"/>
                <a:sym typeface="Arial"/>
              </a:rPr>
              <a:t> pilar do </a:t>
            </a:r>
            <a:r>
              <a:rPr lang="en-US" sz="3500" dirty="0" err="1">
                <a:solidFill>
                  <a:srgbClr val="000000"/>
                </a:solidFill>
                <a:latin typeface="Arial"/>
                <a:ea typeface="Arial"/>
                <a:cs typeface="Arial"/>
                <a:sym typeface="Arial"/>
              </a:rPr>
              <a:t>desenvolvimento</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sustentável</a:t>
            </a:r>
            <a:endParaRPr lang="en-US" sz="3500" dirty="0">
              <a:solidFill>
                <a:srgbClr val="000000"/>
              </a:solidFill>
              <a:latin typeface="Arial"/>
              <a:ea typeface="Arial"/>
              <a:cs typeface="Arial"/>
              <a:sym typeface="Arial"/>
            </a:endParaRPr>
          </a:p>
          <a:p>
            <a:pPr marL="285750" indent="-285750">
              <a:buFont typeface="Wingdings" panose="05000000000000000000" pitchFamily="2" charset="2"/>
              <a:buChar char="ü"/>
            </a:pPr>
            <a:r>
              <a:rPr lang="en-US" sz="3500" dirty="0" err="1">
                <a:solidFill>
                  <a:srgbClr val="000000"/>
                </a:solidFill>
                <a:latin typeface="Arial"/>
                <a:ea typeface="Arial"/>
                <a:cs typeface="Arial"/>
                <a:sym typeface="Arial"/>
              </a:rPr>
              <a:t>Previne</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desastres</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naturais</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redução</a:t>
            </a:r>
            <a:r>
              <a:rPr lang="en-US" sz="3500" dirty="0">
                <a:solidFill>
                  <a:srgbClr val="000000"/>
                </a:solidFill>
                <a:latin typeface="Arial"/>
                <a:ea typeface="Arial"/>
                <a:cs typeface="Arial"/>
                <a:sym typeface="Arial"/>
              </a:rPr>
              <a:t> de </a:t>
            </a:r>
            <a:r>
              <a:rPr lang="en-US" sz="3500" dirty="0" err="1">
                <a:solidFill>
                  <a:srgbClr val="000000"/>
                </a:solidFill>
                <a:latin typeface="Arial"/>
                <a:ea typeface="Arial"/>
                <a:cs typeface="Arial"/>
                <a:sym typeface="Arial"/>
              </a:rPr>
              <a:t>perdas</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econômicas</a:t>
            </a:r>
            <a:r>
              <a:rPr lang="en-US" sz="3500" dirty="0">
                <a:solidFill>
                  <a:srgbClr val="000000"/>
                </a:solidFill>
                <a:latin typeface="Arial"/>
                <a:ea typeface="Arial"/>
                <a:cs typeface="Arial"/>
                <a:sym typeface="Arial"/>
              </a:rPr>
              <a:t>,</a:t>
            </a:r>
          </a:p>
          <a:p>
            <a:pPr marL="285750" indent="-285750">
              <a:buFont typeface="Wingdings" panose="05000000000000000000" pitchFamily="2" charset="2"/>
              <a:buChar char="ü"/>
            </a:pPr>
            <a:r>
              <a:rPr lang="en-US" sz="3500" dirty="0" err="1">
                <a:solidFill>
                  <a:srgbClr val="000000"/>
                </a:solidFill>
                <a:latin typeface="Arial"/>
                <a:ea typeface="Arial"/>
                <a:cs typeface="Arial"/>
                <a:sym typeface="Arial"/>
              </a:rPr>
              <a:t>Fortalece</a:t>
            </a:r>
            <a:r>
              <a:rPr lang="en-US" sz="3500" dirty="0">
                <a:solidFill>
                  <a:srgbClr val="000000"/>
                </a:solidFill>
                <a:latin typeface="Arial"/>
                <a:ea typeface="Arial"/>
                <a:cs typeface="Arial"/>
                <a:sym typeface="Arial"/>
              </a:rPr>
              <a:t> a </a:t>
            </a:r>
            <a:r>
              <a:rPr lang="en-US" sz="3500" dirty="0" err="1">
                <a:solidFill>
                  <a:srgbClr val="000000"/>
                </a:solidFill>
                <a:latin typeface="Arial"/>
                <a:ea typeface="Arial"/>
                <a:cs typeface="Arial"/>
                <a:sym typeface="Arial"/>
              </a:rPr>
              <a:t>gestão</a:t>
            </a:r>
            <a:r>
              <a:rPr lang="en-US" sz="3500" dirty="0">
                <a:solidFill>
                  <a:srgbClr val="000000"/>
                </a:solidFill>
                <a:latin typeface="Arial"/>
                <a:ea typeface="Arial"/>
                <a:cs typeface="Arial"/>
                <a:sym typeface="Arial"/>
              </a:rPr>
              <a:t> do </a:t>
            </a:r>
            <a:r>
              <a:rPr lang="en-US" sz="3500" dirty="0" err="1">
                <a:solidFill>
                  <a:srgbClr val="000000"/>
                </a:solidFill>
                <a:latin typeface="Arial"/>
                <a:ea typeface="Arial"/>
                <a:cs typeface="Arial"/>
                <a:sym typeface="Arial"/>
              </a:rPr>
              <a:t>parque</a:t>
            </a:r>
            <a:r>
              <a:rPr lang="en-US" sz="3500" dirty="0">
                <a:solidFill>
                  <a:srgbClr val="000000"/>
                </a:solidFill>
                <a:latin typeface="Arial"/>
                <a:ea typeface="Arial"/>
                <a:cs typeface="Arial"/>
                <a:sym typeface="Arial"/>
              </a:rPr>
              <a:t> e </a:t>
            </a:r>
            <a:r>
              <a:rPr lang="en-US" sz="3500" dirty="0" err="1">
                <a:solidFill>
                  <a:srgbClr val="000000"/>
                </a:solidFill>
                <a:latin typeface="Arial"/>
                <a:ea typeface="Arial"/>
                <a:cs typeface="Arial"/>
                <a:sym typeface="Arial"/>
              </a:rPr>
              <a:t>mitigação</a:t>
            </a:r>
            <a:r>
              <a:rPr lang="en-US" sz="3500" dirty="0">
                <a:solidFill>
                  <a:srgbClr val="000000"/>
                </a:solidFill>
                <a:latin typeface="Arial"/>
                <a:ea typeface="Arial"/>
                <a:cs typeface="Arial"/>
                <a:sym typeface="Arial"/>
              </a:rPr>
              <a:t> das </a:t>
            </a:r>
            <a:r>
              <a:rPr lang="en-US" sz="3500" dirty="0" err="1">
                <a:solidFill>
                  <a:srgbClr val="000000"/>
                </a:solidFill>
                <a:latin typeface="Arial"/>
                <a:ea typeface="Arial"/>
                <a:cs typeface="Arial"/>
                <a:sym typeface="Arial"/>
              </a:rPr>
              <a:t>emissões</a:t>
            </a:r>
            <a:r>
              <a:rPr lang="en-US" sz="3500" dirty="0">
                <a:solidFill>
                  <a:srgbClr val="000000"/>
                </a:solidFill>
                <a:latin typeface="Arial"/>
                <a:ea typeface="Arial"/>
                <a:cs typeface="Arial"/>
                <a:sym typeface="Arial"/>
              </a:rPr>
              <a:t> de gases de </a:t>
            </a:r>
            <a:r>
              <a:rPr lang="en-US" sz="3500" dirty="0" err="1">
                <a:solidFill>
                  <a:srgbClr val="000000"/>
                </a:solidFill>
                <a:latin typeface="Arial"/>
                <a:ea typeface="Arial"/>
                <a:cs typeface="Arial"/>
                <a:sym typeface="Arial"/>
              </a:rPr>
              <a:t>efeito</a:t>
            </a:r>
            <a:r>
              <a:rPr lang="en-US" sz="3500" dirty="0">
                <a:solidFill>
                  <a:srgbClr val="000000"/>
                </a:solidFill>
                <a:latin typeface="Arial"/>
                <a:ea typeface="Arial"/>
                <a:cs typeface="Arial"/>
                <a:sym typeface="Arial"/>
              </a:rPr>
              <a:t> estufa. </a:t>
            </a:r>
          </a:p>
          <a:p>
            <a:pPr algn="just"/>
            <a:endParaRPr lang="en-US" sz="1658"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7644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6400800" y="334166"/>
            <a:ext cx="5181600" cy="1187548"/>
            <a:chOff x="0" y="0"/>
            <a:chExt cx="6605740" cy="1187552"/>
          </a:xfrm>
        </p:grpSpPr>
        <p:sp>
          <p:nvSpPr>
            <p:cNvPr id="5" name="Freeform 5"/>
            <p:cNvSpPr/>
            <p:nvPr/>
          </p:nvSpPr>
          <p:spPr>
            <a:xfrm>
              <a:off x="0" y="0"/>
              <a:ext cx="6605778" cy="1187577"/>
            </a:xfrm>
            <a:custGeom>
              <a:avLst/>
              <a:gdLst/>
              <a:ahLst/>
              <a:cxnLst/>
              <a:rect l="l" t="t" r="r" b="b"/>
              <a:pathLst>
                <a:path w="6605778" h="1187577">
                  <a:moveTo>
                    <a:pt x="0" y="0"/>
                  </a:moveTo>
                  <a:lnTo>
                    <a:pt x="6605778" y="0"/>
                  </a:lnTo>
                  <a:lnTo>
                    <a:pt x="6605778" y="1187577"/>
                  </a:lnTo>
                  <a:lnTo>
                    <a:pt x="0" y="1187577"/>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p:cNvGrpSpPr>
            <a:grpSpLocks noChangeAspect="1"/>
          </p:cNvGrpSpPr>
          <p:nvPr/>
        </p:nvGrpSpPr>
        <p:grpSpPr>
          <a:xfrm>
            <a:off x="1309897" y="9258300"/>
            <a:ext cx="1877854" cy="1028700"/>
            <a:chOff x="0" y="0"/>
            <a:chExt cx="1877847" cy="1028700"/>
          </a:xfrm>
        </p:grpSpPr>
        <p:sp>
          <p:nvSpPr>
            <p:cNvPr id="9" name="Freeform 9"/>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0" name="Group 10"/>
          <p:cNvGrpSpPr>
            <a:grpSpLocks noChangeAspect="1"/>
          </p:cNvGrpSpPr>
          <p:nvPr/>
        </p:nvGrpSpPr>
        <p:grpSpPr>
          <a:xfrm>
            <a:off x="16320373" y="0"/>
            <a:ext cx="1877854" cy="1369247"/>
            <a:chOff x="0" y="0"/>
            <a:chExt cx="1877847" cy="1369250"/>
          </a:xfrm>
        </p:grpSpPr>
        <p:sp>
          <p:nvSpPr>
            <p:cNvPr id="11" name="Freeform 11"/>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2" name="TextBox 12"/>
          <p:cNvSpPr txBox="1"/>
          <p:nvPr/>
        </p:nvSpPr>
        <p:spPr>
          <a:xfrm>
            <a:off x="549778" y="1861176"/>
            <a:ext cx="17188444" cy="6498126"/>
          </a:xfrm>
          <a:prstGeom prst="rect">
            <a:avLst/>
          </a:prstGeom>
        </p:spPr>
        <p:txBody>
          <a:bodyPr lIns="0" tIns="0" rIns="0" bIns="0" rtlCol="0" anchor="t">
            <a:spAutoFit/>
          </a:bodyPr>
          <a:lstStyle/>
          <a:p>
            <a:pPr algn="just">
              <a:lnSpc>
                <a:spcPts val="5700"/>
              </a:lnSpc>
            </a:pPr>
            <a:r>
              <a:rPr lang="en-US" sz="3500" spc="2" dirty="0">
                <a:solidFill>
                  <a:srgbClr val="000000"/>
                </a:solidFill>
                <a:latin typeface="Arial"/>
                <a:ea typeface="Arial"/>
                <a:cs typeface="Arial"/>
                <a:sym typeface="Arial"/>
              </a:rPr>
              <a:t>Este </a:t>
            </a:r>
            <a:r>
              <a:rPr lang="en-US" sz="3500" spc="2" dirty="0" err="1">
                <a:solidFill>
                  <a:srgbClr val="000000"/>
                </a:solidFill>
                <a:latin typeface="Arial"/>
                <a:ea typeface="Arial"/>
                <a:cs typeface="Arial"/>
                <a:sym typeface="Arial"/>
              </a:rPr>
              <a:t>trabalho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comprovou</a:t>
            </a:r>
            <a:r>
              <a:rPr lang="en-US" sz="3500" spc="2" dirty="0">
                <a:solidFill>
                  <a:srgbClr val="000000"/>
                </a:solidFill>
                <a:latin typeface="Arial"/>
                <a:ea typeface="Arial"/>
                <a:cs typeface="Arial"/>
                <a:sym typeface="Arial"/>
              </a:rPr>
              <a:t> a </a:t>
            </a:r>
            <a:r>
              <a:rPr lang="en-US" sz="3500" spc="2" dirty="0" err="1">
                <a:solidFill>
                  <a:srgbClr val="000000"/>
                </a:solidFill>
                <a:latin typeface="Arial"/>
                <a:ea typeface="Arial"/>
                <a:cs typeface="Arial"/>
                <a:sym typeface="Arial"/>
              </a:rPr>
              <a:t>viabilidade</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técnica</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ambiental</a:t>
            </a:r>
            <a:r>
              <a:rPr lang="en-US" sz="3500" spc="2" dirty="0">
                <a:solidFill>
                  <a:srgbClr val="000000"/>
                </a:solidFill>
                <a:latin typeface="Arial"/>
                <a:ea typeface="Arial"/>
                <a:cs typeface="Arial"/>
                <a:sym typeface="Arial"/>
              </a:rPr>
              <a:t> da </a:t>
            </a:r>
            <a:r>
              <a:rPr lang="en-US" sz="3500" spc="2" dirty="0" err="1">
                <a:solidFill>
                  <a:srgbClr val="000000"/>
                </a:solidFill>
                <a:latin typeface="Arial"/>
                <a:ea typeface="Arial"/>
                <a:cs typeface="Arial"/>
                <a:sym typeface="Arial"/>
              </a:rPr>
              <a:t>utilização</a:t>
            </a:r>
            <a:r>
              <a:rPr lang="en-US" sz="3500" spc="2" dirty="0">
                <a:solidFill>
                  <a:srgbClr val="000000"/>
                </a:solidFill>
                <a:latin typeface="Arial"/>
                <a:ea typeface="Arial"/>
                <a:cs typeface="Arial"/>
                <a:sym typeface="Arial"/>
              </a:rPr>
              <a:t> de RSSF para o </a:t>
            </a:r>
            <a:r>
              <a:rPr lang="en-US" sz="3500" spc="2" dirty="0" err="1">
                <a:solidFill>
                  <a:srgbClr val="000000"/>
                </a:solidFill>
                <a:latin typeface="Arial"/>
                <a:ea typeface="Arial"/>
                <a:cs typeface="Arial"/>
                <a:sym typeface="Arial"/>
              </a:rPr>
              <a:t>monitoramento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ambiental</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detecção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precoce</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incêndios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florestais</a:t>
            </a:r>
            <a:r>
              <a:rPr lang="en-US" sz="3500" spc="2" dirty="0">
                <a:solidFill>
                  <a:srgbClr val="000000"/>
                </a:solidFill>
                <a:latin typeface="Arial"/>
                <a:ea typeface="Arial"/>
                <a:cs typeface="Arial"/>
                <a:sym typeface="Arial"/>
              </a:rPr>
              <a:t> no Parque da </a:t>
            </a:r>
            <a:r>
              <a:rPr lang="en-US" sz="3500" spc="2" dirty="0" err="1">
                <a:solidFill>
                  <a:srgbClr val="000000"/>
                </a:solidFill>
                <a:latin typeface="Arial"/>
                <a:ea typeface="Arial"/>
                <a:cs typeface="Arial"/>
                <a:sym typeface="Arial"/>
              </a:rPr>
              <a:t>Quiçama</a:t>
            </a:r>
            <a:r>
              <a:rPr lang="en-US" sz="3500" spc="2" dirty="0">
                <a:solidFill>
                  <a:srgbClr val="000000"/>
                </a:solidFill>
                <a:latin typeface="Arial"/>
                <a:ea typeface="Arial"/>
                <a:cs typeface="Arial"/>
                <a:sym typeface="Arial"/>
              </a:rPr>
              <a:t>. A proposta </a:t>
            </a:r>
            <a:r>
              <a:rPr lang="en-US" sz="3500" spc="2" dirty="0" err="1">
                <a:solidFill>
                  <a:srgbClr val="000000"/>
                </a:solidFill>
                <a:latin typeface="Arial"/>
                <a:ea typeface="Arial"/>
                <a:cs typeface="Arial"/>
                <a:sym typeface="Arial"/>
              </a:rPr>
              <a:t>contemplou</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uma</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arquitetura</a:t>
            </a:r>
            <a:r>
              <a:rPr lang="en-US" sz="3500" spc="2" dirty="0">
                <a:solidFill>
                  <a:srgbClr val="000000"/>
                </a:solidFill>
                <a:latin typeface="Arial"/>
                <a:ea typeface="Arial"/>
                <a:cs typeface="Arial"/>
                <a:sym typeface="Arial"/>
              </a:rPr>
              <a:t> de rede </a:t>
            </a:r>
            <a:r>
              <a:rPr lang="en-US" sz="3500" spc="2" dirty="0" err="1">
                <a:solidFill>
                  <a:srgbClr val="000000"/>
                </a:solidFill>
                <a:latin typeface="Arial"/>
                <a:ea typeface="Arial"/>
                <a:cs typeface="Arial"/>
                <a:sym typeface="Arial"/>
              </a:rPr>
              <a:t>adaptada</a:t>
            </a:r>
            <a:r>
              <a:rPr lang="en-US" sz="3500" spc="2" dirty="0">
                <a:solidFill>
                  <a:srgbClr val="000000"/>
                </a:solidFill>
                <a:latin typeface="Arial"/>
                <a:ea typeface="Arial"/>
                <a:cs typeface="Arial"/>
                <a:sym typeface="Arial"/>
              </a:rPr>
              <a:t> à </a:t>
            </a:r>
            <a:r>
              <a:rPr lang="en-US" sz="3500" spc="2" dirty="0" err="1">
                <a:solidFill>
                  <a:srgbClr val="000000"/>
                </a:solidFill>
                <a:latin typeface="Arial"/>
                <a:ea typeface="Arial"/>
                <a:cs typeface="Arial"/>
                <a:sym typeface="Arial"/>
              </a:rPr>
              <a:t>ausência</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infraestrutura</a:t>
            </a:r>
            <a:r>
              <a:rPr lang="en-US" sz="3500" spc="2" dirty="0">
                <a:solidFill>
                  <a:srgbClr val="000000"/>
                </a:solidFill>
                <a:latin typeface="Arial"/>
                <a:ea typeface="Arial"/>
                <a:cs typeface="Arial"/>
                <a:sym typeface="Arial"/>
              </a:rPr>
              <a:t> local, com </a:t>
            </a:r>
            <a:r>
              <a:rPr lang="en-US" sz="3500" spc="2" dirty="0" err="1">
                <a:solidFill>
                  <a:srgbClr val="000000"/>
                </a:solidFill>
                <a:latin typeface="Arial"/>
                <a:ea typeface="Arial"/>
                <a:cs typeface="Arial"/>
                <a:sym typeface="Arial"/>
              </a:rPr>
              <a:t>sensores</a:t>
            </a:r>
            <a:r>
              <a:rPr lang="en-US" sz="3500" spc="2" dirty="0">
                <a:solidFill>
                  <a:srgbClr val="000000"/>
                </a:solidFill>
                <a:latin typeface="Arial"/>
                <a:ea typeface="Arial"/>
                <a:cs typeface="Arial"/>
                <a:sym typeface="Arial"/>
              </a:rPr>
              <a:t> operando com </a:t>
            </a:r>
            <a:r>
              <a:rPr lang="en-US" sz="3500" spc="2" dirty="0" err="1">
                <a:solidFill>
                  <a:srgbClr val="000000"/>
                </a:solidFill>
                <a:latin typeface="Arial"/>
                <a:ea typeface="Arial"/>
                <a:cs typeface="Arial"/>
                <a:sym typeface="Arial"/>
              </a:rPr>
              <a:t>baixo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consumo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energético</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alimentados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por</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painéis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solares</a:t>
            </a:r>
            <a:r>
              <a:rPr lang="en-US" sz="3500" spc="2" dirty="0">
                <a:solidFill>
                  <a:srgbClr val="000000"/>
                </a:solidFill>
                <a:latin typeface="Arial"/>
                <a:ea typeface="Arial"/>
                <a:cs typeface="Arial"/>
                <a:sym typeface="Arial"/>
              </a:rPr>
              <a:t>.  A </a:t>
            </a:r>
            <a:r>
              <a:rPr lang="en-US" sz="3500" spc="2" dirty="0" err="1">
                <a:solidFill>
                  <a:srgbClr val="000000"/>
                </a:solidFill>
                <a:latin typeface="Arial"/>
                <a:ea typeface="Arial"/>
                <a:cs typeface="Arial"/>
                <a:sym typeface="Arial"/>
              </a:rPr>
              <a:t>topologia</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demonstrou</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eficiência</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autonomia</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capacidade</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expansão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mesmo</a:t>
            </a:r>
            <a:r>
              <a:rPr lang="en-US" sz="3500" spc="2" dirty="0">
                <a:solidFill>
                  <a:srgbClr val="000000"/>
                </a:solidFill>
                <a:latin typeface="Arial"/>
                <a:ea typeface="Arial"/>
                <a:cs typeface="Arial"/>
                <a:sym typeface="Arial"/>
              </a:rPr>
              <a:t> em </a:t>
            </a:r>
            <a:r>
              <a:rPr lang="en-US" sz="3500" spc="2" dirty="0" err="1">
                <a:solidFill>
                  <a:srgbClr val="000000"/>
                </a:solidFill>
                <a:latin typeface="Arial"/>
                <a:ea typeface="Arial"/>
                <a:cs typeface="Arial"/>
                <a:sym typeface="Arial"/>
              </a:rPr>
              <a:t>áreas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remotas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Apesar</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limitações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como</a:t>
            </a:r>
            <a:r>
              <a:rPr lang="en-US" sz="3500" spc="2" dirty="0">
                <a:solidFill>
                  <a:srgbClr val="000000"/>
                </a:solidFill>
                <a:latin typeface="Arial"/>
                <a:ea typeface="Arial"/>
                <a:cs typeface="Arial"/>
                <a:sym typeface="Arial"/>
              </a:rPr>
              <a:t> a </a:t>
            </a:r>
            <a:r>
              <a:rPr lang="en-US" sz="3500" spc="2" dirty="0" err="1">
                <a:solidFill>
                  <a:srgbClr val="000000"/>
                </a:solidFill>
                <a:latin typeface="Arial"/>
                <a:ea typeface="Arial"/>
                <a:cs typeface="Arial"/>
                <a:sym typeface="Arial"/>
              </a:rPr>
              <a:t>falta</a:t>
            </a:r>
            <a:r>
              <a:rPr lang="en-US" sz="3500" spc="2" dirty="0">
                <a:solidFill>
                  <a:srgbClr val="000000"/>
                </a:solidFill>
                <a:latin typeface="Arial"/>
                <a:ea typeface="Arial"/>
                <a:cs typeface="Arial"/>
                <a:sym typeface="Arial"/>
              </a:rPr>
              <a:t> de testes </a:t>
            </a:r>
            <a:r>
              <a:rPr lang="en-US" sz="3500" spc="2" dirty="0" err="1">
                <a:solidFill>
                  <a:srgbClr val="000000"/>
                </a:solidFill>
                <a:latin typeface="Arial"/>
                <a:ea typeface="Arial"/>
                <a:cs typeface="Arial"/>
                <a:sym typeface="Arial"/>
              </a:rPr>
              <a:t>em</a:t>
            </a:r>
            <a:r>
              <a:rPr lang="en-US" sz="3500" spc="2" dirty="0">
                <a:solidFill>
                  <a:srgbClr val="000000"/>
                </a:solidFill>
                <a:latin typeface="Arial"/>
                <a:ea typeface="Arial"/>
                <a:cs typeface="Arial"/>
                <a:sym typeface="Arial"/>
              </a:rPr>
              <a:t> campo, a </a:t>
            </a:r>
            <a:r>
              <a:rPr lang="en-US" sz="3500" spc="2" dirty="0" err="1">
                <a:solidFill>
                  <a:srgbClr val="000000"/>
                </a:solidFill>
                <a:latin typeface="Arial"/>
                <a:ea typeface="Arial"/>
                <a:cs typeface="Arial"/>
                <a:sym typeface="Arial"/>
              </a:rPr>
              <a:t>solução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apresentou</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bom</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equilíbrio</a:t>
            </a:r>
            <a:r>
              <a:rPr lang="en-US" sz="3500" spc="2" dirty="0">
                <a:solidFill>
                  <a:srgbClr val="000000"/>
                </a:solidFill>
                <a:latin typeface="Arial"/>
                <a:ea typeface="Arial"/>
                <a:cs typeface="Arial"/>
                <a:sym typeface="Arial"/>
              </a:rPr>
              <a:t> entre </a:t>
            </a:r>
            <a:r>
              <a:rPr lang="en-US" sz="3500" spc="2" dirty="0" err="1">
                <a:solidFill>
                  <a:srgbClr val="000000"/>
                </a:solidFill>
                <a:latin typeface="Arial"/>
                <a:ea typeface="Arial"/>
                <a:cs typeface="Arial"/>
                <a:sym typeface="Arial"/>
              </a:rPr>
              <a:t>custo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simplicidade</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confiabilidade</a:t>
            </a:r>
            <a:r>
              <a:rPr lang="en-US" sz="3500" spc="2" dirty="0">
                <a:solidFill>
                  <a:srgbClr val="000000"/>
                </a:solidFill>
                <a:latin typeface="Arial"/>
                <a:ea typeface="Arial"/>
                <a:cs typeface="Arial"/>
                <a:sym typeface="Arial"/>
              </a:rPr>
              <a:t>, com </a:t>
            </a:r>
            <a:r>
              <a:rPr lang="en-US" sz="3500" spc="2" dirty="0" err="1">
                <a:solidFill>
                  <a:srgbClr val="000000"/>
                </a:solidFill>
                <a:latin typeface="Arial"/>
                <a:ea typeface="Arial"/>
                <a:cs typeface="Arial"/>
                <a:sym typeface="Arial"/>
              </a:rPr>
              <a:t>grande</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potencial</a:t>
            </a:r>
            <a:r>
              <a:rPr lang="en-US" sz="3500" spc="2" dirty="0">
                <a:solidFill>
                  <a:srgbClr val="000000"/>
                </a:solidFill>
                <a:latin typeface="Arial"/>
                <a:ea typeface="Arial"/>
                <a:cs typeface="Arial"/>
                <a:sym typeface="Arial"/>
              </a:rPr>
              <a:t> para </a:t>
            </a:r>
            <a:r>
              <a:rPr lang="en-US" sz="3500" spc="2" dirty="0" err="1">
                <a:solidFill>
                  <a:srgbClr val="000000"/>
                </a:solidFill>
                <a:latin typeface="Arial"/>
                <a:ea typeface="Arial"/>
                <a:cs typeface="Arial"/>
                <a:sym typeface="Arial"/>
              </a:rPr>
              <a:t>apoiar</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ações</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conservação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ambiental</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orientar</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decisões</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gestores</a:t>
            </a:r>
            <a:r>
              <a:rPr lang="en-US" sz="3500" spc="2" dirty="0">
                <a:solidFill>
                  <a:srgbClr val="000000"/>
                </a:solidFill>
                <a:latin typeface="Arial"/>
                <a:ea typeface="Arial"/>
                <a:cs typeface="Arial"/>
                <a:sym typeface="Arial"/>
              </a:rPr>
              <a:t> e </a:t>
            </a:r>
            <a:r>
              <a:rPr lang="en-US" sz="3500" spc="2" dirty="0" err="1">
                <a:solidFill>
                  <a:srgbClr val="000000"/>
                </a:solidFill>
                <a:latin typeface="Arial"/>
                <a:ea typeface="Arial"/>
                <a:cs typeface="Arial"/>
                <a:sym typeface="Arial"/>
              </a:rPr>
              <a:t>pesquisadores</a:t>
            </a:r>
            <a:r>
              <a:rPr lang="en-US" sz="3500" spc="2" dirty="0">
                <a:solidFill>
                  <a:srgbClr val="000000"/>
                </a:solidFill>
                <a:latin typeface="Arial"/>
                <a:ea typeface="Arial"/>
                <a:cs typeface="Arial"/>
                <a:sym typeface="Arial"/>
              </a:rPr>
              <a:t>.</a:t>
            </a:r>
          </a:p>
        </p:txBody>
      </p:sp>
      <p:sp>
        <p:nvSpPr>
          <p:cNvPr id="13" name="TextBox 13"/>
          <p:cNvSpPr txBox="1"/>
          <p:nvPr/>
        </p:nvSpPr>
        <p:spPr>
          <a:xfrm>
            <a:off x="6826540" y="412198"/>
            <a:ext cx="4634920" cy="909801"/>
          </a:xfrm>
          <a:prstGeom prst="rect">
            <a:avLst/>
          </a:prstGeom>
        </p:spPr>
        <p:txBody>
          <a:bodyPr wrap="square" lIns="0" tIns="0" rIns="0" bIns="0" rtlCol="0" anchor="t">
            <a:spAutoFit/>
          </a:bodyPr>
          <a:lstStyle/>
          <a:p>
            <a:pPr algn="l">
              <a:lnSpc>
                <a:spcPts val="7508"/>
              </a:lnSpc>
            </a:pPr>
            <a:r>
              <a:rPr lang="en-US" sz="5363" b="1" dirty="0">
                <a:solidFill>
                  <a:srgbClr val="000000"/>
                </a:solidFill>
                <a:latin typeface="Arial Bold"/>
                <a:ea typeface="Arial Bold"/>
                <a:cs typeface="Arial Bold"/>
                <a:sym typeface="Arial Bold"/>
              </a:rPr>
              <a:t>CONCLUSÃO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083955" y="9194825"/>
            <a:ext cx="2164613" cy="1155678"/>
          </a:xfrm>
          <a:custGeom>
            <a:avLst/>
            <a:gdLst/>
            <a:ahLst/>
            <a:cxnLst/>
            <a:rect l="l" t="t" r="r" b="b"/>
            <a:pathLst>
              <a:path w="2164613" h="1155678">
                <a:moveTo>
                  <a:pt x="0" y="0"/>
                </a:moveTo>
                <a:lnTo>
                  <a:pt x="2164613" y="0"/>
                </a:lnTo>
                <a:lnTo>
                  <a:pt x="2164613" y="1155678"/>
                </a:lnTo>
                <a:lnTo>
                  <a:pt x="0" y="11556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a:grpSpLocks noChangeAspect="1"/>
          </p:cNvGrpSpPr>
          <p:nvPr/>
        </p:nvGrpSpPr>
        <p:grpSpPr>
          <a:xfrm>
            <a:off x="5683415" y="334166"/>
            <a:ext cx="6605740" cy="1187548"/>
            <a:chOff x="0" y="0"/>
            <a:chExt cx="6605740" cy="1187552"/>
          </a:xfrm>
        </p:grpSpPr>
        <p:sp>
          <p:nvSpPr>
            <p:cNvPr id="5" name="Freeform 5"/>
            <p:cNvSpPr/>
            <p:nvPr/>
          </p:nvSpPr>
          <p:spPr>
            <a:xfrm>
              <a:off x="0" y="0"/>
              <a:ext cx="6605778" cy="1187577"/>
            </a:xfrm>
            <a:custGeom>
              <a:avLst/>
              <a:gdLst/>
              <a:ahLst/>
              <a:cxnLst/>
              <a:rect l="l" t="t" r="r" b="b"/>
              <a:pathLst>
                <a:path w="6605778" h="1187577">
                  <a:moveTo>
                    <a:pt x="0" y="0"/>
                  </a:moveTo>
                  <a:lnTo>
                    <a:pt x="6605778" y="0"/>
                  </a:lnTo>
                  <a:lnTo>
                    <a:pt x="6605778" y="1187577"/>
                  </a:lnTo>
                  <a:lnTo>
                    <a:pt x="0" y="1187577"/>
                  </a:lnTo>
                  <a:close/>
                </a:path>
              </a:pathLst>
            </a:custGeom>
            <a:solidFill>
              <a:srgbClr val="E0C76E"/>
            </a:solidFill>
          </p:spPr>
        </p:sp>
      </p:grpSp>
      <p:sp>
        <p:nvSpPr>
          <p:cNvPr id="6" name="Freeform 6"/>
          <p:cNvSpPr/>
          <p:nvPr/>
        </p:nvSpPr>
        <p:spPr>
          <a:xfrm>
            <a:off x="16260747" y="-63503"/>
            <a:ext cx="2090680" cy="1861204"/>
          </a:xfrm>
          <a:custGeom>
            <a:avLst/>
            <a:gdLst/>
            <a:ahLst/>
            <a:cxnLst/>
            <a:rect l="l" t="t" r="r" b="b"/>
            <a:pathLst>
              <a:path w="2090680" h="1861204">
                <a:moveTo>
                  <a:pt x="0" y="0"/>
                </a:moveTo>
                <a:lnTo>
                  <a:pt x="2090680" y="0"/>
                </a:lnTo>
                <a:lnTo>
                  <a:pt x="2090680" y="1861204"/>
                </a:lnTo>
                <a:lnTo>
                  <a:pt x="0" y="186120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251765"/>
            <a:ext cx="3686175" cy="67627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6"/>
            <a:stretch>
              <a:fillRect t="-4438" b="-4012"/>
            </a:stretch>
          </a:blipFill>
        </p:spPr>
      </p:sp>
      <p:grpSp>
        <p:nvGrpSpPr>
          <p:cNvPr id="8" name="Group 8"/>
          <p:cNvGrpSpPr>
            <a:grpSpLocks noChangeAspect="1"/>
          </p:cNvGrpSpPr>
          <p:nvPr/>
        </p:nvGrpSpPr>
        <p:grpSpPr>
          <a:xfrm>
            <a:off x="1309897" y="9258300"/>
            <a:ext cx="1877854" cy="1028700"/>
            <a:chOff x="0" y="0"/>
            <a:chExt cx="1877847" cy="1028700"/>
          </a:xfrm>
        </p:grpSpPr>
        <p:sp>
          <p:nvSpPr>
            <p:cNvPr id="9" name="Freeform 9"/>
            <p:cNvSpPr/>
            <p:nvPr/>
          </p:nvSpPr>
          <p:spPr>
            <a:xfrm>
              <a:off x="0" y="0"/>
              <a:ext cx="1877822" cy="1028700"/>
            </a:xfrm>
            <a:custGeom>
              <a:avLst/>
              <a:gdLst/>
              <a:ahLst/>
              <a:cxnLst/>
              <a:rect l="l" t="t" r="r" b="b"/>
              <a:pathLst>
                <a:path w="1877822" h="1028700">
                  <a:moveTo>
                    <a:pt x="0" y="0"/>
                  </a:moveTo>
                  <a:lnTo>
                    <a:pt x="0" y="1028700"/>
                  </a:lnTo>
                  <a:lnTo>
                    <a:pt x="1877822" y="1028700"/>
                  </a:lnTo>
                  <a:lnTo>
                    <a:pt x="1877822" y="0"/>
                  </a:lnTo>
                  <a:close/>
                </a:path>
              </a:pathLst>
            </a:custGeom>
            <a:solidFill>
              <a:srgbClr val="000000">
                <a:alpha val="0"/>
              </a:srgbClr>
            </a:solidFill>
          </p:spPr>
        </p:sp>
      </p:grpSp>
      <p:grpSp>
        <p:nvGrpSpPr>
          <p:cNvPr id="10" name="Group 10"/>
          <p:cNvGrpSpPr>
            <a:grpSpLocks noChangeAspect="1"/>
          </p:cNvGrpSpPr>
          <p:nvPr/>
        </p:nvGrpSpPr>
        <p:grpSpPr>
          <a:xfrm>
            <a:off x="16320373" y="0"/>
            <a:ext cx="1877854" cy="1369247"/>
            <a:chOff x="0" y="0"/>
            <a:chExt cx="1877847" cy="1369250"/>
          </a:xfrm>
        </p:grpSpPr>
        <p:sp>
          <p:nvSpPr>
            <p:cNvPr id="11" name="Freeform 11"/>
            <p:cNvSpPr/>
            <p:nvPr/>
          </p:nvSpPr>
          <p:spPr>
            <a:xfrm>
              <a:off x="0" y="0"/>
              <a:ext cx="1877822" cy="1369187"/>
            </a:xfrm>
            <a:custGeom>
              <a:avLst/>
              <a:gdLst/>
              <a:ahLst/>
              <a:cxnLst/>
              <a:rect l="l" t="t" r="r" b="b"/>
              <a:pathLst>
                <a:path w="1877822" h="1369187">
                  <a:moveTo>
                    <a:pt x="0" y="0"/>
                  </a:moveTo>
                  <a:lnTo>
                    <a:pt x="0" y="1369187"/>
                  </a:lnTo>
                  <a:lnTo>
                    <a:pt x="1877822" y="1369187"/>
                  </a:lnTo>
                  <a:lnTo>
                    <a:pt x="1877822" y="0"/>
                  </a:lnTo>
                  <a:close/>
                </a:path>
              </a:pathLst>
            </a:custGeom>
            <a:solidFill>
              <a:srgbClr val="000000">
                <a:alpha val="0"/>
              </a:srgbClr>
            </a:solidFill>
          </p:spPr>
        </p:sp>
      </p:grpSp>
      <p:sp>
        <p:nvSpPr>
          <p:cNvPr id="12" name="TextBox 12"/>
          <p:cNvSpPr txBox="1"/>
          <p:nvPr/>
        </p:nvSpPr>
        <p:spPr>
          <a:xfrm>
            <a:off x="561604" y="2375227"/>
            <a:ext cx="17188358" cy="5873403"/>
          </a:xfrm>
          <a:prstGeom prst="rect">
            <a:avLst/>
          </a:prstGeom>
        </p:spPr>
        <p:txBody>
          <a:bodyPr lIns="0" tIns="0" rIns="0" bIns="0" rtlCol="0" anchor="t">
            <a:spAutoFit/>
          </a:bodyPr>
          <a:lstStyle/>
          <a:p>
            <a:pPr algn="just">
              <a:lnSpc>
                <a:spcPct val="150000"/>
              </a:lnSpc>
            </a:pPr>
            <a:r>
              <a:rPr lang="en-US" sz="3500" spc="2" dirty="0">
                <a:solidFill>
                  <a:srgbClr val="000000"/>
                </a:solidFill>
                <a:latin typeface="Arial"/>
                <a:ea typeface="Arial"/>
                <a:cs typeface="Arial"/>
                <a:sym typeface="Arial"/>
              </a:rPr>
              <a:t>Com vista a </a:t>
            </a:r>
            <a:r>
              <a:rPr lang="en-US" sz="3500" spc="2" dirty="0" err="1">
                <a:solidFill>
                  <a:srgbClr val="000000"/>
                </a:solidFill>
                <a:latin typeface="Arial"/>
                <a:ea typeface="Arial"/>
                <a:cs typeface="Arial"/>
                <a:sym typeface="Arial"/>
              </a:rPr>
              <a:t>maximizar</a:t>
            </a:r>
            <a:r>
              <a:rPr lang="en-US" sz="3500" spc="2" dirty="0">
                <a:solidFill>
                  <a:srgbClr val="000000"/>
                </a:solidFill>
                <a:latin typeface="Arial"/>
                <a:ea typeface="Arial"/>
                <a:cs typeface="Arial"/>
                <a:sym typeface="Arial"/>
              </a:rPr>
              <a:t> o </a:t>
            </a:r>
            <a:r>
              <a:rPr lang="en-US" sz="3500" spc="2" dirty="0" err="1">
                <a:solidFill>
                  <a:srgbClr val="000000"/>
                </a:solidFill>
                <a:latin typeface="Arial"/>
                <a:ea typeface="Arial"/>
                <a:cs typeface="Arial"/>
                <a:sym typeface="Arial"/>
              </a:rPr>
              <a:t>desempenho</a:t>
            </a:r>
            <a:r>
              <a:rPr lang="en-US" sz="3500" spc="2" dirty="0">
                <a:solidFill>
                  <a:srgbClr val="000000"/>
                </a:solidFill>
                <a:latin typeface="Arial"/>
                <a:ea typeface="Arial"/>
                <a:cs typeface="Arial"/>
                <a:sym typeface="Arial"/>
              </a:rPr>
              <a:t> do </a:t>
            </a:r>
            <a:r>
              <a:rPr lang="en-US" sz="3500" spc="2" dirty="0" err="1">
                <a:solidFill>
                  <a:srgbClr val="000000"/>
                </a:solidFill>
                <a:latin typeface="Arial"/>
                <a:ea typeface="Arial"/>
                <a:cs typeface="Arial"/>
                <a:sym typeface="Arial"/>
              </a:rPr>
              <a:t>sistema</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Monitoramento</a:t>
            </a:r>
            <a:r>
              <a:rPr lang="en-US" sz="3500" spc="2" dirty="0">
                <a:solidFill>
                  <a:srgbClr val="000000"/>
                </a:solidFill>
                <a:latin typeface="Arial"/>
                <a:ea typeface="Arial"/>
                <a:cs typeface="Arial"/>
                <a:sym typeface="Arial"/>
              </a:rPr>
              <a:t> Ambiental </a:t>
            </a:r>
            <a:r>
              <a:rPr lang="en-US" sz="3500" spc="2" dirty="0" err="1">
                <a:solidFill>
                  <a:srgbClr val="000000"/>
                </a:solidFill>
                <a:latin typeface="Arial"/>
                <a:ea typeface="Arial"/>
                <a:cs typeface="Arial"/>
                <a:sym typeface="Arial"/>
              </a:rPr>
              <a:t>baseado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em</a:t>
            </a:r>
            <a:r>
              <a:rPr lang="en-US" sz="3500" spc="2" dirty="0">
                <a:solidFill>
                  <a:srgbClr val="000000"/>
                </a:solidFill>
                <a:latin typeface="Arial"/>
                <a:ea typeface="Arial"/>
                <a:cs typeface="Arial"/>
                <a:sym typeface="Arial"/>
              </a:rPr>
              <a:t> RSSF, </a:t>
            </a:r>
            <a:r>
              <a:rPr lang="en-US" sz="3500" spc="2" dirty="0" err="1">
                <a:solidFill>
                  <a:srgbClr val="000000"/>
                </a:solidFill>
                <a:latin typeface="Arial"/>
                <a:ea typeface="Arial"/>
                <a:cs typeface="Arial"/>
                <a:sym typeface="Arial"/>
              </a:rPr>
              <a:t>são</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tecidas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algumas</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recomendações</a:t>
            </a:r>
            <a:r>
              <a:rPr lang="en-US" sz="3500" spc="2" dirty="0">
                <a:solidFill>
                  <a:srgbClr val="000000"/>
                </a:solidFill>
                <a:latin typeface="Arial"/>
                <a:ea typeface="Arial"/>
                <a:cs typeface="Arial"/>
                <a:sym typeface="Arial"/>
              </a:rPr>
              <a:t>, entre as </a:t>
            </a:r>
            <a:r>
              <a:rPr lang="en-US" sz="3500" spc="2" dirty="0" err="1">
                <a:solidFill>
                  <a:srgbClr val="000000"/>
                </a:solidFill>
                <a:latin typeface="Arial"/>
                <a:ea typeface="Arial"/>
                <a:cs typeface="Arial"/>
                <a:sym typeface="Arial"/>
              </a:rPr>
              <a:t>destacam</a:t>
            </a:r>
            <a:r>
              <a:rPr lang="en-US" sz="3500" spc="2" dirty="0">
                <a:solidFill>
                  <a:srgbClr val="000000"/>
                </a:solidFill>
                <a:latin typeface="Arial"/>
                <a:ea typeface="Arial"/>
                <a:cs typeface="Arial"/>
                <a:sym typeface="Arial"/>
              </a:rPr>
              <a:t>-se:</a:t>
            </a:r>
          </a:p>
          <a:p>
            <a:pPr algn="just">
              <a:lnSpc>
                <a:spcPct val="150000"/>
              </a:lnSpc>
            </a:pPr>
            <a:r>
              <a:rPr lang="en-US" sz="3500" dirty="0">
                <a:solidFill>
                  <a:srgbClr val="000000"/>
                </a:solidFill>
                <a:latin typeface="Arial"/>
                <a:ea typeface="Arial"/>
                <a:cs typeface="Arial"/>
                <a:sym typeface="Arial"/>
              </a:rPr>
              <a:t>	✓</a:t>
            </a:r>
            <a:r>
              <a:rPr lang="en-US" sz="3500" b="1" dirty="0">
                <a:solidFill>
                  <a:srgbClr val="000000"/>
                </a:solidFill>
                <a:latin typeface="Arial"/>
                <a:ea typeface="Arial"/>
                <a:cs typeface="Arial"/>
                <a:sym typeface="Arial"/>
              </a:rPr>
              <a:t> </a:t>
            </a:r>
            <a:r>
              <a:rPr lang="en-US" sz="3500" dirty="0">
                <a:solidFill>
                  <a:srgbClr val="000000"/>
                </a:solidFill>
                <a:latin typeface="Arial"/>
                <a:ea typeface="Arial"/>
                <a:cs typeface="Arial"/>
                <a:sym typeface="Arial"/>
              </a:rPr>
              <a:t>A </a:t>
            </a:r>
            <a:r>
              <a:rPr lang="en-US" sz="3500" dirty="0" err="1">
                <a:solidFill>
                  <a:srgbClr val="000000"/>
                </a:solidFill>
                <a:latin typeface="Arial"/>
                <a:ea typeface="Arial"/>
                <a:cs typeface="Arial"/>
                <a:sym typeface="Arial"/>
              </a:rPr>
              <a:t>implementação</a:t>
            </a:r>
            <a:r>
              <a:rPr lang="en-US" sz="3500" dirty="0">
                <a:solidFill>
                  <a:srgbClr val="000000"/>
                </a:solidFill>
                <a:latin typeface="Arial"/>
                <a:ea typeface="Arial"/>
                <a:cs typeface="Arial"/>
                <a:sym typeface="Arial"/>
              </a:rPr>
              <a:t> de um </a:t>
            </a:r>
            <a:r>
              <a:rPr lang="en-US" sz="3500" dirty="0" err="1">
                <a:solidFill>
                  <a:srgbClr val="000000"/>
                </a:solidFill>
                <a:latin typeface="Arial"/>
                <a:ea typeface="Arial"/>
                <a:cs typeface="Arial"/>
                <a:sym typeface="Arial"/>
              </a:rPr>
              <a:t>protótipo</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piloto</a:t>
            </a:r>
            <a:r>
              <a:rPr lang="en-US" sz="3500" dirty="0">
                <a:solidFill>
                  <a:srgbClr val="000000"/>
                </a:solidFill>
                <a:latin typeface="Arial"/>
                <a:ea typeface="Arial"/>
                <a:cs typeface="Arial"/>
                <a:sym typeface="Arial"/>
              </a:rPr>
              <a:t> no Parque da </a:t>
            </a:r>
            <a:r>
              <a:rPr lang="en-US" sz="3500" dirty="0" err="1">
                <a:solidFill>
                  <a:srgbClr val="000000"/>
                </a:solidFill>
                <a:latin typeface="Arial"/>
                <a:ea typeface="Arial"/>
                <a:cs typeface="Arial"/>
                <a:sym typeface="Arial"/>
              </a:rPr>
              <a:t>Quiçama</a:t>
            </a:r>
            <a:r>
              <a:rPr lang="en-US" sz="3500" dirty="0">
                <a:solidFill>
                  <a:srgbClr val="000000"/>
                </a:solidFill>
                <a:latin typeface="Arial"/>
                <a:ea typeface="Arial"/>
                <a:cs typeface="Arial"/>
                <a:sym typeface="Arial"/>
              </a:rPr>
              <a:t>; </a:t>
            </a:r>
          </a:p>
          <a:p>
            <a:pPr algn="just">
              <a:lnSpc>
                <a:spcPct val="150000"/>
              </a:lnSpc>
            </a:pPr>
            <a:r>
              <a:rPr lang="en-US" sz="3500" dirty="0">
                <a:solidFill>
                  <a:srgbClr val="000000"/>
                </a:solidFill>
                <a:latin typeface="Arial"/>
                <a:ea typeface="Arial"/>
                <a:cs typeface="Arial"/>
                <a:sym typeface="Arial"/>
              </a:rPr>
              <a:t>	✓A </a:t>
            </a:r>
            <a:r>
              <a:rPr lang="en-US" sz="3500" dirty="0" err="1">
                <a:solidFill>
                  <a:srgbClr val="000000"/>
                </a:solidFill>
                <a:latin typeface="Arial"/>
                <a:ea typeface="Arial"/>
                <a:cs typeface="Arial"/>
                <a:sym typeface="Arial"/>
              </a:rPr>
              <a:t>integração</a:t>
            </a:r>
            <a:r>
              <a:rPr lang="en-US" sz="3500" dirty="0">
                <a:solidFill>
                  <a:srgbClr val="000000"/>
                </a:solidFill>
                <a:latin typeface="Arial"/>
                <a:ea typeface="Arial"/>
                <a:cs typeface="Arial"/>
                <a:sym typeface="Arial"/>
              </a:rPr>
              <a:t> com </a:t>
            </a:r>
            <a:r>
              <a:rPr lang="en-US" sz="3500" dirty="0" err="1">
                <a:solidFill>
                  <a:srgbClr val="000000"/>
                </a:solidFill>
                <a:latin typeface="Arial"/>
                <a:ea typeface="Arial"/>
                <a:cs typeface="Arial"/>
                <a:sym typeface="Arial"/>
              </a:rPr>
              <a:t>sistemas</a:t>
            </a:r>
            <a:r>
              <a:rPr lang="en-US" sz="3500" dirty="0">
                <a:solidFill>
                  <a:srgbClr val="000000"/>
                </a:solidFill>
                <a:latin typeface="Arial"/>
                <a:ea typeface="Arial"/>
                <a:cs typeface="Arial"/>
                <a:sym typeface="Arial"/>
              </a:rPr>
              <a:t> de </a:t>
            </a:r>
            <a:r>
              <a:rPr lang="en-US" sz="3500" dirty="0" err="1">
                <a:solidFill>
                  <a:srgbClr val="000000"/>
                </a:solidFill>
                <a:latin typeface="Arial"/>
                <a:ea typeface="Arial"/>
                <a:cs typeface="Arial"/>
                <a:sym typeface="Arial"/>
              </a:rPr>
              <a:t>análise</a:t>
            </a:r>
            <a:r>
              <a:rPr lang="en-US" sz="3500" dirty="0">
                <a:solidFill>
                  <a:srgbClr val="000000"/>
                </a:solidFill>
                <a:latin typeface="Arial"/>
                <a:ea typeface="Arial"/>
                <a:cs typeface="Arial"/>
                <a:sym typeface="Arial"/>
              </a:rPr>
              <a:t> de dados </a:t>
            </a:r>
            <a:r>
              <a:rPr lang="en-US" sz="3500" dirty="0" err="1">
                <a:solidFill>
                  <a:srgbClr val="000000"/>
                </a:solidFill>
                <a:latin typeface="Arial"/>
                <a:ea typeface="Arial"/>
                <a:cs typeface="Arial"/>
                <a:sym typeface="Arial"/>
              </a:rPr>
              <a:t>baseados</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em</a:t>
            </a:r>
            <a:r>
              <a:rPr lang="en-US" sz="3500" dirty="0">
                <a:solidFill>
                  <a:srgbClr val="000000"/>
                </a:solidFill>
                <a:latin typeface="Arial"/>
                <a:ea typeface="Arial"/>
                <a:cs typeface="Arial"/>
                <a:sym typeface="Arial"/>
              </a:rPr>
              <a:t> IA;</a:t>
            </a:r>
          </a:p>
          <a:p>
            <a:pPr algn="just">
              <a:lnSpc>
                <a:spcPct val="150000"/>
              </a:lnSpc>
            </a:pPr>
            <a:r>
              <a:rPr lang="en-US" sz="3500" dirty="0">
                <a:solidFill>
                  <a:srgbClr val="000000"/>
                </a:solidFill>
                <a:latin typeface="Arial"/>
                <a:ea typeface="Arial"/>
                <a:cs typeface="Arial"/>
                <a:sym typeface="Arial"/>
              </a:rPr>
              <a:t>	✓ A </a:t>
            </a:r>
            <a:r>
              <a:rPr lang="en-US" sz="3500" dirty="0" err="1">
                <a:solidFill>
                  <a:srgbClr val="000000"/>
                </a:solidFill>
                <a:latin typeface="Arial"/>
                <a:ea typeface="Arial"/>
                <a:cs typeface="Arial"/>
                <a:sym typeface="Arial"/>
              </a:rPr>
              <a:t>ampliação</a:t>
            </a:r>
            <a:r>
              <a:rPr lang="en-US" sz="3500" dirty="0">
                <a:solidFill>
                  <a:srgbClr val="000000"/>
                </a:solidFill>
                <a:latin typeface="Arial"/>
                <a:ea typeface="Arial"/>
                <a:cs typeface="Arial"/>
                <a:sym typeface="Arial"/>
              </a:rPr>
              <a:t> do </a:t>
            </a:r>
            <a:r>
              <a:rPr lang="en-US" sz="3500" dirty="0" err="1">
                <a:solidFill>
                  <a:srgbClr val="000000"/>
                </a:solidFill>
                <a:latin typeface="Arial"/>
                <a:ea typeface="Arial"/>
                <a:cs typeface="Arial"/>
                <a:sym typeface="Arial"/>
              </a:rPr>
              <a:t>escopo</a:t>
            </a:r>
            <a:r>
              <a:rPr lang="en-US" sz="3500" dirty="0">
                <a:solidFill>
                  <a:srgbClr val="000000"/>
                </a:solidFill>
                <a:latin typeface="Arial"/>
                <a:ea typeface="Arial"/>
                <a:cs typeface="Arial"/>
                <a:sym typeface="Arial"/>
              </a:rPr>
              <a:t> de </a:t>
            </a:r>
            <a:r>
              <a:rPr lang="en-US" sz="3500" dirty="0" err="1">
                <a:solidFill>
                  <a:srgbClr val="000000"/>
                </a:solidFill>
                <a:latin typeface="Arial"/>
                <a:ea typeface="Arial"/>
                <a:cs typeface="Arial"/>
                <a:sym typeface="Arial"/>
              </a:rPr>
              <a:t>monitoramento</a:t>
            </a:r>
            <a:r>
              <a:rPr lang="en-US" sz="3500" dirty="0">
                <a:solidFill>
                  <a:srgbClr val="000000"/>
                </a:solidFill>
                <a:latin typeface="Arial"/>
                <a:ea typeface="Arial"/>
                <a:cs typeface="Arial"/>
                <a:sym typeface="Arial"/>
              </a:rPr>
              <a:t> com </a:t>
            </a:r>
            <a:r>
              <a:rPr lang="en-US" sz="3500" dirty="0" err="1">
                <a:solidFill>
                  <a:srgbClr val="000000"/>
                </a:solidFill>
                <a:latin typeface="Arial"/>
                <a:ea typeface="Arial"/>
                <a:cs typeface="Arial"/>
                <a:sym typeface="Arial"/>
              </a:rPr>
              <a:t>sensores</a:t>
            </a:r>
            <a:r>
              <a:rPr lang="en-US" sz="3500" dirty="0">
                <a:solidFill>
                  <a:srgbClr val="000000"/>
                </a:solidFill>
                <a:latin typeface="Arial"/>
                <a:ea typeface="Arial"/>
                <a:cs typeface="Arial"/>
                <a:sym typeface="Arial"/>
              </a:rPr>
              <a:t> </a:t>
            </a:r>
            <a:r>
              <a:rPr lang="en-US" sz="3500" dirty="0" err="1">
                <a:solidFill>
                  <a:srgbClr val="000000"/>
                </a:solidFill>
                <a:latin typeface="Arial"/>
                <a:ea typeface="Arial"/>
                <a:cs typeface="Arial"/>
                <a:sym typeface="Arial"/>
              </a:rPr>
              <a:t>adicionais</a:t>
            </a:r>
            <a:r>
              <a:rPr lang="en-US" sz="3500" dirty="0">
                <a:solidFill>
                  <a:srgbClr val="000000"/>
                </a:solidFill>
                <a:latin typeface="Arial"/>
                <a:ea typeface="Arial"/>
                <a:cs typeface="Arial"/>
                <a:sym typeface="Arial"/>
              </a:rPr>
              <a:t>;</a:t>
            </a:r>
          </a:p>
          <a:p>
            <a:pPr algn="just">
              <a:lnSpc>
                <a:spcPct val="150000"/>
              </a:lnSpc>
            </a:pPr>
            <a:r>
              <a:rPr lang="en-US" sz="3500" dirty="0">
                <a:solidFill>
                  <a:srgbClr val="000000"/>
                </a:solidFill>
                <a:latin typeface="Arial"/>
                <a:ea typeface="Arial"/>
                <a:cs typeface="Arial"/>
                <a:sym typeface="Arial"/>
              </a:rPr>
              <a:t> 	</a:t>
            </a:r>
            <a:r>
              <a:rPr lang="en-US" sz="3500" spc="2" dirty="0">
                <a:solidFill>
                  <a:srgbClr val="000000"/>
                </a:solidFill>
                <a:latin typeface="Arial"/>
                <a:ea typeface="Arial"/>
                <a:cs typeface="Arial"/>
                <a:sym typeface="Arial"/>
              </a:rPr>
              <a:t>✓ </a:t>
            </a:r>
            <a:r>
              <a:rPr lang="en-US" sz="3500" spc="2" dirty="0" err="1">
                <a:solidFill>
                  <a:srgbClr val="000000"/>
                </a:solidFill>
                <a:latin typeface="Arial"/>
                <a:ea typeface="Arial"/>
                <a:cs typeface="Arial"/>
                <a:sym typeface="Arial"/>
              </a:rPr>
              <a:t>Adoção</a:t>
            </a:r>
            <a:r>
              <a:rPr lang="en-US" sz="3500" spc="2" dirty="0">
                <a:solidFill>
                  <a:srgbClr val="000000"/>
                </a:solidFill>
                <a:latin typeface="Arial"/>
                <a:ea typeface="Arial"/>
                <a:cs typeface="Arial"/>
                <a:sym typeface="Arial"/>
              </a:rPr>
              <a:t> de </a:t>
            </a:r>
            <a:r>
              <a:rPr lang="en-US" sz="3500" spc="2" dirty="0" err="1">
                <a:solidFill>
                  <a:srgbClr val="000000"/>
                </a:solidFill>
                <a:latin typeface="Arial"/>
                <a:ea typeface="Arial"/>
                <a:cs typeface="Arial"/>
                <a:sym typeface="Arial"/>
              </a:rPr>
              <a:t>plataformas</a:t>
            </a:r>
            <a:r>
              <a:rPr lang="en-US" sz="3500" spc="2" dirty="0">
                <a:solidFill>
                  <a:srgbClr val="000000"/>
                </a:solidFill>
                <a:latin typeface="Arial"/>
                <a:ea typeface="Arial"/>
                <a:cs typeface="Arial"/>
                <a:sym typeface="Arial"/>
              </a:rPr>
              <a:t> em </a:t>
            </a:r>
            <a:r>
              <a:rPr lang="en-US" sz="3500" spc="2" dirty="0" err="1">
                <a:solidFill>
                  <a:srgbClr val="000000"/>
                </a:solidFill>
                <a:latin typeface="Arial"/>
                <a:ea typeface="Arial"/>
                <a:cs typeface="Arial"/>
                <a:sym typeface="Arial"/>
              </a:rPr>
              <a:t>nuvem</a:t>
            </a:r>
            <a:r>
              <a:rPr lang="en-US" sz="3500" spc="2" dirty="0">
                <a:solidFill>
                  <a:srgbClr val="000000"/>
                </a:solidFill>
                <a:latin typeface="Arial"/>
                <a:ea typeface="Arial"/>
                <a:cs typeface="Arial"/>
                <a:sym typeface="Arial"/>
              </a:rPr>
              <a:t> com banco de dados</a:t>
            </a:r>
            <a:r>
              <a:rPr lang="en-US" sz="3500" dirty="0">
                <a:solidFill>
                  <a:srgbClr val="000000"/>
                </a:solidFill>
                <a:latin typeface="Arial"/>
                <a:ea typeface="Arial"/>
                <a:cs typeface="Arial"/>
                <a:sym typeface="Arial"/>
              </a:rPr>
              <a:t>.</a:t>
            </a:r>
          </a:p>
          <a:p>
            <a:pPr algn="just">
              <a:lnSpc>
                <a:spcPts val="3975"/>
              </a:lnSpc>
            </a:pPr>
            <a:endParaRPr lang="en-US" sz="3500" dirty="0">
              <a:solidFill>
                <a:srgbClr val="000000"/>
              </a:solidFill>
              <a:latin typeface="Arial"/>
              <a:ea typeface="Arial"/>
              <a:cs typeface="Arial"/>
              <a:sym typeface="Arial"/>
            </a:endParaRPr>
          </a:p>
          <a:p>
            <a:pPr algn="just">
              <a:lnSpc>
                <a:spcPts val="3975"/>
              </a:lnSpc>
            </a:pPr>
            <a:r>
              <a:rPr lang="en-US" sz="3500" spc="2" dirty="0">
                <a:solidFill>
                  <a:srgbClr val="000000"/>
                </a:solidFill>
                <a:latin typeface="Arial"/>
                <a:ea typeface="Arial"/>
                <a:cs typeface="Arial"/>
                <a:sym typeface="Arial"/>
              </a:rPr>
              <a:t> </a:t>
            </a:r>
          </a:p>
        </p:txBody>
      </p:sp>
      <p:sp>
        <p:nvSpPr>
          <p:cNvPr id="16" name="TextBox 16"/>
          <p:cNvSpPr txBox="1"/>
          <p:nvPr/>
        </p:nvSpPr>
        <p:spPr>
          <a:xfrm>
            <a:off x="2594487" y="7989153"/>
            <a:ext cx="6561296" cy="1222001"/>
          </a:xfrm>
          <a:prstGeom prst="rect">
            <a:avLst/>
          </a:prstGeom>
        </p:spPr>
        <p:txBody>
          <a:bodyPr lIns="0" tIns="0" rIns="0" bIns="0" rtlCol="0" anchor="t">
            <a:spAutoFit/>
          </a:bodyPr>
          <a:lstStyle/>
          <a:p>
            <a:pPr algn="l">
              <a:lnSpc>
                <a:spcPts val="3975"/>
              </a:lnSpc>
            </a:pPr>
            <a:r>
              <a:rPr lang="en-US" sz="2874" dirty="0">
                <a:solidFill>
                  <a:srgbClr val="000000"/>
                </a:solidFill>
                <a:latin typeface="Arial"/>
                <a:ea typeface="Arial"/>
                <a:cs typeface="Arial"/>
                <a:sym typeface="Arial"/>
              </a:rPr>
              <a:t> 			</a:t>
            </a:r>
          </a:p>
          <a:p>
            <a:pPr algn="l">
              <a:lnSpc>
                <a:spcPts val="6511"/>
              </a:lnSpc>
            </a:pPr>
            <a:endParaRPr lang="en-US" sz="2874" dirty="0">
              <a:solidFill>
                <a:srgbClr val="000000"/>
              </a:solidFill>
              <a:latin typeface="Arial"/>
              <a:ea typeface="Arial"/>
              <a:cs typeface="Arial"/>
              <a:sym typeface="Arial"/>
            </a:endParaRPr>
          </a:p>
        </p:txBody>
      </p:sp>
      <p:sp>
        <p:nvSpPr>
          <p:cNvPr id="18" name="TextBox 18"/>
          <p:cNvSpPr txBox="1"/>
          <p:nvPr/>
        </p:nvSpPr>
        <p:spPr>
          <a:xfrm>
            <a:off x="5797469" y="380941"/>
            <a:ext cx="6573121" cy="909801"/>
          </a:xfrm>
          <a:prstGeom prst="rect">
            <a:avLst/>
          </a:prstGeom>
        </p:spPr>
        <p:txBody>
          <a:bodyPr wrap="square" lIns="0" tIns="0" rIns="0" bIns="0" rtlCol="0" anchor="t">
            <a:spAutoFit/>
          </a:bodyPr>
          <a:lstStyle/>
          <a:p>
            <a:pPr algn="l">
              <a:lnSpc>
                <a:spcPts val="7508"/>
              </a:lnSpc>
            </a:pPr>
            <a:r>
              <a:rPr lang="en-US" sz="5363" b="1" dirty="0">
                <a:solidFill>
                  <a:srgbClr val="000000"/>
                </a:solidFill>
                <a:latin typeface="Arial Bold"/>
                <a:ea typeface="Arial Bold"/>
                <a:cs typeface="Arial Bold"/>
                <a:sym typeface="Arial Bold"/>
              </a:rPr>
              <a:t>RECOMENDAÇÕES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
            <a:extLst>
              <a:ext uri="{FF2B5EF4-FFF2-40B4-BE49-F238E27FC236}">
                <a16:creationId xmlns:a16="http://schemas.microsoft.com/office/drawing/2014/main" id="{D19F4539-4C6B-9665-3B79-20DCB61B76DB}"/>
              </a:ext>
            </a:extLst>
          </p:cNvPr>
          <p:cNvSpPr/>
          <p:nvPr/>
        </p:nvSpPr>
        <p:spPr>
          <a:xfrm>
            <a:off x="-63499" y="-63499"/>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367804" y="4901991"/>
            <a:ext cx="9552390" cy="1469850"/>
          </a:xfrm>
          <a:prstGeom prst="rect">
            <a:avLst/>
          </a:prstGeom>
        </p:spPr>
        <p:txBody>
          <a:bodyPr wrap="square" lIns="0" tIns="0" rIns="0" bIns="0" rtlCol="0" anchor="t">
            <a:spAutoFit/>
          </a:bodyPr>
          <a:lstStyle/>
          <a:p>
            <a:pPr algn="ctr">
              <a:lnSpc>
                <a:spcPts val="5710"/>
              </a:lnSpc>
            </a:pPr>
            <a:r>
              <a:rPr lang="en-US" sz="5448" dirty="0" err="1">
                <a:solidFill>
                  <a:srgbClr val="FFFFFF"/>
                </a:solidFill>
                <a:latin typeface="Archivo Black"/>
                <a:ea typeface="Archivo Black"/>
                <a:cs typeface="Archivo Black"/>
                <a:sym typeface="Archivo Black"/>
              </a:rPr>
              <a:t>Muito</a:t>
            </a:r>
            <a:r>
              <a:rPr lang="en-US" sz="5448" dirty="0">
                <a:solidFill>
                  <a:srgbClr val="FFFFFF"/>
                </a:solidFill>
                <a:latin typeface="Archivo Black"/>
                <a:ea typeface="Archivo Black"/>
                <a:cs typeface="Archivo Black"/>
                <a:sym typeface="Archivo Black"/>
              </a:rPr>
              <a:t> </a:t>
            </a:r>
            <a:r>
              <a:rPr lang="en-US" sz="5448" dirty="0" err="1">
                <a:solidFill>
                  <a:srgbClr val="FFFFFF"/>
                </a:solidFill>
                <a:latin typeface="Archivo Black"/>
                <a:ea typeface="Archivo Black"/>
                <a:cs typeface="Archivo Black"/>
                <a:sym typeface="Archivo Black"/>
              </a:rPr>
              <a:t>Obrigado</a:t>
            </a:r>
            <a:r>
              <a:rPr lang="en-US" sz="5448" dirty="0">
                <a:solidFill>
                  <a:srgbClr val="FFFFFF"/>
                </a:solidFill>
                <a:latin typeface="Archivo Black"/>
                <a:ea typeface="Archivo Black"/>
                <a:cs typeface="Archivo Black"/>
                <a:sym typeface="Archivo Black"/>
              </a:rPr>
              <a:t> pela </a:t>
            </a:r>
            <a:r>
              <a:rPr lang="en-US" sz="5448" dirty="0" err="1">
                <a:solidFill>
                  <a:srgbClr val="FFFFFF"/>
                </a:solidFill>
                <a:latin typeface="Archivo Black"/>
                <a:ea typeface="Archivo Black"/>
                <a:cs typeface="Archivo Black"/>
                <a:sym typeface="Archivo Black"/>
              </a:rPr>
              <a:t>atenção</a:t>
            </a:r>
            <a:r>
              <a:rPr lang="en-US" sz="5448" dirty="0">
                <a:solidFill>
                  <a:srgbClr val="FFFFFF"/>
                </a:solidFill>
                <a:latin typeface="Archivo Black"/>
                <a:ea typeface="Archivo Black"/>
                <a:cs typeface="Archivo Black"/>
                <a:sym typeface="Archivo Black"/>
              </a:rPr>
              <a:t>!</a:t>
            </a:r>
          </a:p>
        </p:txBody>
      </p:sp>
      <p:sp>
        <p:nvSpPr>
          <p:cNvPr id="5" name="Freeform 7">
            <a:extLst>
              <a:ext uri="{FF2B5EF4-FFF2-40B4-BE49-F238E27FC236}">
                <a16:creationId xmlns:a16="http://schemas.microsoft.com/office/drawing/2014/main" id="{C202672C-9283-6444-B378-D704575A1806}"/>
              </a:ext>
            </a:extLst>
          </p:cNvPr>
          <p:cNvSpPr/>
          <p:nvPr/>
        </p:nvSpPr>
        <p:spPr>
          <a:xfrm>
            <a:off x="6629399" y="2095500"/>
            <a:ext cx="5029200" cy="1767535"/>
          </a:xfrm>
          <a:custGeom>
            <a:avLst/>
            <a:gdLst/>
            <a:ahLst/>
            <a:cxnLst/>
            <a:rect l="l" t="t" r="r" b="b"/>
            <a:pathLst>
              <a:path w="3686175" h="676275">
                <a:moveTo>
                  <a:pt x="0" y="0"/>
                </a:moveTo>
                <a:lnTo>
                  <a:pt x="3686175" y="0"/>
                </a:lnTo>
                <a:lnTo>
                  <a:pt x="3686175" y="676275"/>
                </a:lnTo>
                <a:lnTo>
                  <a:pt x="0" y="676275"/>
                </a:lnTo>
                <a:lnTo>
                  <a:pt x="0" y="0"/>
                </a:lnTo>
                <a:close/>
              </a:path>
            </a:pathLst>
          </a:custGeom>
          <a:blipFill>
            <a:blip r:embed="rId4"/>
            <a:stretch>
              <a:fillRect t="-4438" b="-4012"/>
            </a:stretch>
          </a:blipFill>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1460</TotalTime>
  <Words>1137</Words>
  <Application>Microsoft Office PowerPoint</Application>
  <PresentationFormat>Personalizar</PresentationFormat>
  <Paragraphs>163</Paragraphs>
  <Slides>20</Slides>
  <Notes>0</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20</vt:i4>
      </vt:variant>
    </vt:vector>
  </HeadingPairs>
  <TitlesOfParts>
    <vt:vector size="30" baseType="lpstr">
      <vt:lpstr>Wingdings</vt:lpstr>
      <vt:lpstr>Arial </vt:lpstr>
      <vt:lpstr>Archivo Black</vt:lpstr>
      <vt:lpstr>Arial</vt:lpstr>
      <vt:lpstr>Calibri</vt:lpstr>
      <vt:lpstr>Arial Bold</vt:lpstr>
      <vt:lpstr>Open Sans</vt:lpstr>
      <vt:lpstr>Bookman Old Style</vt:lpstr>
      <vt:lpstr>Cambria Math</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de trabalho de curso tcc moderno branco cinza.pdf</dc:title>
  <cp:lastModifiedBy>Girildo Catanha</cp:lastModifiedBy>
  <cp:revision>34</cp:revision>
  <dcterms:created xsi:type="dcterms:W3CDTF">2006-08-16T00:00:00Z</dcterms:created>
  <dcterms:modified xsi:type="dcterms:W3CDTF">2025-09-15T15:12:22Z</dcterms:modified>
  <dc:identifier>DAGtNOmJOrM</dc:identifier>
</cp:coreProperties>
</file>